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4"/>
  </p:notesMasterIdLst>
  <p:sldIdLst>
    <p:sldId id="256" r:id="rId2"/>
    <p:sldId id="260" r:id="rId3"/>
    <p:sldId id="261" r:id="rId4"/>
    <p:sldId id="262" r:id="rId5"/>
    <p:sldId id="259" r:id="rId6"/>
    <p:sldId id="258" r:id="rId7"/>
    <p:sldId id="264" r:id="rId8"/>
    <p:sldId id="265" r:id="rId9"/>
    <p:sldId id="263" r:id="rId10"/>
    <p:sldId id="266" r:id="rId11"/>
    <p:sldId id="268" r:id="rId12"/>
    <p:sldId id="269" r:id="rId13"/>
    <p:sldId id="270" r:id="rId14"/>
    <p:sldId id="271" r:id="rId15"/>
    <p:sldId id="267" r:id="rId16"/>
    <p:sldId id="272" r:id="rId17"/>
    <p:sldId id="276" r:id="rId18"/>
    <p:sldId id="273" r:id="rId19"/>
    <p:sldId id="274" r:id="rId20"/>
    <p:sldId id="275" r:id="rId21"/>
    <p:sldId id="277" r:id="rId22"/>
    <p:sldId id="27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p:cViewPr>
        <p:scale>
          <a:sx n="75" d="100"/>
          <a:sy n="75" d="100"/>
        </p:scale>
        <p:origin x="974" y="2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6E1550-8B0E-4361-A508-FD85ED21C13F}" type="datetimeFigureOut">
              <a:rPr lang="en-US" smtClean="0"/>
              <a:t>7/27/2026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0E117E-C71C-4D9E-A405-48FF1B16FBE4}" type="slidenum">
              <a:rPr lang="en-US" smtClean="0"/>
              <a:t>‹#›</a:t>
            </a:fld>
            <a:endParaRPr lang="en-US"/>
          </a:p>
        </p:txBody>
      </p:sp>
    </p:spTree>
    <p:extLst>
      <p:ext uri="{BB962C8B-B14F-4D97-AF65-F5344CB8AC3E}">
        <p14:creationId xmlns:p14="http://schemas.microsoft.com/office/powerpoint/2010/main" val="762847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Since matrix multiplication is used almost everywhere in modern computing, we'll use it as our example throughout today's session."</a:t>
            </a:r>
          </a:p>
        </p:txBody>
      </p:sp>
      <p:sp>
        <p:nvSpPr>
          <p:cNvPr id="4" name="Slide Number Placeholder 3"/>
          <p:cNvSpPr>
            <a:spLocks noGrp="1"/>
          </p:cNvSpPr>
          <p:nvPr>
            <p:ph type="sldNum" sz="quarter" idx="5"/>
          </p:nvPr>
        </p:nvSpPr>
        <p:spPr/>
        <p:txBody>
          <a:bodyPr/>
          <a:lstStyle/>
          <a:p>
            <a:fld id="{8A0E117E-C71C-4D9E-A405-48FF1B16FBE4}" type="slidenum">
              <a:rPr lang="en-US" smtClean="0"/>
              <a:t>1</a:t>
            </a:fld>
            <a:endParaRPr lang="en-US"/>
          </a:p>
        </p:txBody>
      </p:sp>
    </p:spTree>
    <p:extLst>
      <p:ext uri="{BB962C8B-B14F-4D97-AF65-F5344CB8AC3E}">
        <p14:creationId xmlns:p14="http://schemas.microsoft.com/office/powerpoint/2010/main" val="10838438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t>What does it check?</a:t>
            </a:r>
          </a:p>
          <a:p>
            <a:r>
              <a:rPr lang="en-US" dirty="0"/>
              <a:t>Syntax errors </a:t>
            </a:r>
          </a:p>
          <a:p>
            <a:r>
              <a:rPr lang="en-US" dirty="0"/>
              <a:t>Unused signals </a:t>
            </a:r>
          </a:p>
          <a:p>
            <a:r>
              <a:rPr lang="en-US" dirty="0"/>
              <a:t>Width mismatches </a:t>
            </a:r>
          </a:p>
          <a:p>
            <a:r>
              <a:rPr lang="en-US" dirty="0"/>
              <a:t>Missing </a:t>
            </a:r>
            <a:r>
              <a:rPr lang="en-US" sz="1200" kern="1200" dirty="0">
                <a:solidFill>
                  <a:schemeClr val="tx1"/>
                </a:solidFill>
                <a:latin typeface="+mn-lt"/>
                <a:ea typeface="+mn-ea"/>
                <a:cs typeface="+mn-cs"/>
              </a:rPr>
              <a:t>default</a:t>
            </a:r>
            <a:r>
              <a:rPr lang="en-US" dirty="0"/>
              <a:t> cases </a:t>
            </a:r>
          </a:p>
          <a:p>
            <a:r>
              <a:rPr lang="en-US" dirty="0"/>
              <a:t>Latch inference </a:t>
            </a:r>
          </a:p>
          <a:p>
            <a:r>
              <a:rPr lang="en-US" dirty="0"/>
              <a:t>Multiple drivers </a:t>
            </a:r>
          </a:p>
          <a:p>
            <a:r>
              <a:rPr lang="en-US" dirty="0"/>
              <a:t>Bad coding practices </a:t>
            </a:r>
          </a:p>
          <a:p>
            <a:r>
              <a:rPr lang="en-US" b="1" dirty="0"/>
              <a:t>One-line explanation</a:t>
            </a:r>
          </a:p>
          <a:p>
            <a:r>
              <a:rPr lang="en-US" b="1" dirty="0"/>
              <a:t>Linting is like a grammar checker for Verilog—it checks whether your code follows good design practices before moving to the next stage.</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A0E117E-C71C-4D9E-A405-48FF1B16FBE4}" type="slidenum">
              <a:rPr lang="en-US" smtClean="0"/>
              <a:t>8</a:t>
            </a:fld>
            <a:endParaRPr lang="en-US"/>
          </a:p>
        </p:txBody>
      </p:sp>
    </p:spTree>
    <p:extLst>
      <p:ext uri="{BB962C8B-B14F-4D97-AF65-F5344CB8AC3E}">
        <p14:creationId xmlns:p14="http://schemas.microsoft.com/office/powerpoint/2010/main" val="3046346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Elaborated Design shows the logical architecture of our design (RTL). It tells us what modules exist and how they are connected, but it does not show how they will be implemented inside the FPGA. That happens during Synthesis.</a:t>
            </a:r>
          </a:p>
          <a:p>
            <a:r>
              <a:rPr lang="en-US" b="1" dirty="0"/>
              <a:t>Why do we open the Elaborated Design?</a:t>
            </a:r>
          </a:p>
          <a:p>
            <a:r>
              <a:rPr lang="en-US" dirty="0"/>
              <a:t>It helps us verify that:</a:t>
            </a:r>
          </a:p>
          <a:p>
            <a:r>
              <a:rPr lang="en-US" dirty="0"/>
              <a:t>All modules are connected correctly. </a:t>
            </a:r>
          </a:p>
          <a:p>
            <a:r>
              <a:rPr lang="en-US" dirty="0"/>
              <a:t>The hierarchy of the design is correct. </a:t>
            </a:r>
          </a:p>
          <a:p>
            <a:r>
              <a:rPr lang="en-US" dirty="0"/>
              <a:t>Inputs and outputs are connected as expected. </a:t>
            </a:r>
          </a:p>
          <a:p>
            <a:r>
              <a:rPr lang="en-US" dirty="0"/>
              <a:t>Data flows through the design correctly. </a:t>
            </a:r>
          </a:p>
          <a:p>
            <a:r>
              <a:rPr lang="en-US" dirty="0"/>
              <a:t>No module is missing or disconnected. </a:t>
            </a:r>
          </a:p>
          <a:p>
            <a:endParaRPr lang="en-US" dirty="0"/>
          </a:p>
        </p:txBody>
      </p:sp>
      <p:sp>
        <p:nvSpPr>
          <p:cNvPr id="4" name="Slide Number Placeholder 3"/>
          <p:cNvSpPr>
            <a:spLocks noGrp="1"/>
          </p:cNvSpPr>
          <p:nvPr>
            <p:ph type="sldNum" sz="quarter" idx="5"/>
          </p:nvPr>
        </p:nvSpPr>
        <p:spPr/>
        <p:txBody>
          <a:bodyPr/>
          <a:lstStyle/>
          <a:p>
            <a:fld id="{8A0E117E-C71C-4D9E-A405-48FF1B16FBE4}" type="slidenum">
              <a:rPr lang="en-US" smtClean="0"/>
              <a:t>9</a:t>
            </a:fld>
            <a:endParaRPr lang="en-US"/>
          </a:p>
        </p:txBody>
      </p:sp>
    </p:spTree>
    <p:extLst>
      <p:ext uri="{BB962C8B-B14F-4D97-AF65-F5344CB8AC3E}">
        <p14:creationId xmlns:p14="http://schemas.microsoft.com/office/powerpoint/2010/main" val="29647436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D14DD7C-DFB6-4BE3-87A6-CF3FE9DBAFAC}" type="datetimeFigureOut">
              <a:rPr lang="en-US" smtClean="0"/>
              <a:t>7/27/2026</a:t>
            </a:fld>
            <a:endParaRPr lang="en-US"/>
          </a:p>
        </p:txBody>
      </p:sp>
      <p:sp>
        <p:nvSpPr>
          <p:cNvPr id="5" name="Footer Placeholder 4"/>
          <p:cNvSpPr>
            <a:spLocks noGrp="1"/>
          </p:cNvSpPr>
          <p:nvPr>
            <p:ph type="ftr" sz="quarter" idx="11"/>
          </p:nvPr>
        </p:nvSpPr>
        <p:spPr/>
        <p:txBody>
          <a:bodyPr/>
          <a:lstStyle/>
          <a:p>
            <a:r>
              <a:rPr lang="en-US"/>
              <a:t>FPGA &amp; DPR WORKSHOP</a:t>
            </a:r>
            <a:endParaRPr lang="en-US" dirty="0"/>
          </a:p>
        </p:txBody>
      </p:sp>
      <p:sp>
        <p:nvSpPr>
          <p:cNvPr id="6" name="Slide Number Placeholder 5"/>
          <p:cNvSpPr>
            <a:spLocks noGrp="1"/>
          </p:cNvSpPr>
          <p:nvPr>
            <p:ph type="sldNum" sz="quarter" idx="12"/>
          </p:nvPr>
        </p:nvSpPr>
        <p:spPr/>
        <p:txBody>
          <a:bodyPr rIns="45720"/>
          <a:lstStyle/>
          <a:p>
            <a:fld id="{31B907D1-6511-46E9-93EC-09C72412B2C6}" type="slidenum">
              <a:rPr lang="en-US" smtClean="0"/>
              <a:t>‹#›</a:t>
            </a:fld>
            <a:endParaRPr lang="en-US"/>
          </a:p>
        </p:txBody>
      </p:sp>
      <p:sp>
        <p:nvSpPr>
          <p:cNvPr id="9" name="Rectangle 8">
            <a:extLst>
              <a:ext uri="{FF2B5EF4-FFF2-40B4-BE49-F238E27FC236}">
                <a16:creationId xmlns:a16="http://schemas.microsoft.com/office/drawing/2014/main" id="{6256E316-ED79-F637-5200-0FBBD7CC9A27}"/>
              </a:ext>
            </a:extLst>
          </p:cNvPr>
          <p:cNvSpPr/>
          <p:nvPr userDrawn="1"/>
        </p:nvSpPr>
        <p:spPr>
          <a:xfrm>
            <a:off x="60385" y="77638"/>
            <a:ext cx="12051102" cy="6711351"/>
          </a:xfrm>
          <a:prstGeom prst="rect">
            <a:avLst/>
          </a:prstGeom>
          <a:noFill/>
          <a:ln w="101600" cmpd="thickThi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New Logo-01.png">
            <a:extLst>
              <a:ext uri="{FF2B5EF4-FFF2-40B4-BE49-F238E27FC236}">
                <a16:creationId xmlns:a16="http://schemas.microsoft.com/office/drawing/2014/main" id="{49D09AA2-EDB9-C684-DAF3-62A51A508356}"/>
              </a:ext>
            </a:extLst>
          </p:cNvPr>
          <p:cNvPicPr>
            <a:picLocks noChangeAspect="1"/>
          </p:cNvPicPr>
          <p:nvPr userDrawn="1"/>
        </p:nvPicPr>
        <p:blipFill>
          <a:blip r:embed="rId2"/>
          <a:stretch>
            <a:fillRect/>
          </a:stretch>
        </p:blipFill>
        <p:spPr>
          <a:xfrm>
            <a:off x="11147020" y="147210"/>
            <a:ext cx="886573" cy="865337"/>
          </a:xfrm>
          <a:prstGeom prst="rect">
            <a:avLst/>
          </a:prstGeom>
        </p:spPr>
      </p:pic>
    </p:spTree>
    <p:extLst>
      <p:ext uri="{BB962C8B-B14F-4D97-AF65-F5344CB8AC3E}">
        <p14:creationId xmlns:p14="http://schemas.microsoft.com/office/powerpoint/2010/main" val="531447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14DD7C-DFB6-4BE3-87A6-CF3FE9DBAFAC}"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B907D1-6511-46E9-93EC-09C72412B2C6}" type="slidenum">
              <a:rPr lang="en-US" smtClean="0"/>
              <a:t>‹#›</a:t>
            </a:fld>
            <a:endParaRPr lang="en-US"/>
          </a:p>
        </p:txBody>
      </p:sp>
      <p:sp>
        <p:nvSpPr>
          <p:cNvPr id="7" name="TextBox 6"/>
          <p:cNvSpPr txBox="1"/>
          <p:nvPr userDrawn="1"/>
        </p:nvSpPr>
        <p:spPr>
          <a:xfrm>
            <a:off x="2194943" y="641225"/>
            <a:ext cx="415636" cy="246221"/>
          </a:xfrm>
          <a:prstGeom prst="rect">
            <a:avLst/>
          </a:prstGeom>
          <a:noFill/>
        </p:spPr>
        <p:txBody>
          <a:bodyPr wrap="square" rtlCol="0">
            <a:spAutoFit/>
          </a:bodyPr>
          <a:lstStyle/>
          <a:p>
            <a:pPr algn="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277825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14DD7C-DFB6-4BE3-87A6-CF3FE9DBAFAC}"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B907D1-6511-46E9-93EC-09C72412B2C6}" type="slidenum">
              <a:rPr lang="en-US" smtClean="0"/>
              <a:t>‹#›</a:t>
            </a:fld>
            <a:endParaRPr lang="en-US"/>
          </a:p>
        </p:txBody>
      </p:sp>
    </p:spTree>
    <p:extLst>
      <p:ext uri="{BB962C8B-B14F-4D97-AF65-F5344CB8AC3E}">
        <p14:creationId xmlns:p14="http://schemas.microsoft.com/office/powerpoint/2010/main" val="2175025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D14DD7C-DFB6-4BE3-87A6-CF3FE9DBAFAC}"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B907D1-6511-46E9-93EC-09C72412B2C6}" type="slidenum">
              <a:rPr lang="en-US" smtClean="0"/>
              <a:t>‹#›</a:t>
            </a:fld>
            <a:endParaRPr lang="en-US"/>
          </a:p>
        </p:txBody>
      </p:sp>
    </p:spTree>
    <p:extLst>
      <p:ext uri="{BB962C8B-B14F-4D97-AF65-F5344CB8AC3E}">
        <p14:creationId xmlns:p14="http://schemas.microsoft.com/office/powerpoint/2010/main" val="3043860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D14DD7C-DFB6-4BE3-87A6-CF3FE9DBAFAC}" type="datetimeFigureOut">
              <a:rPr lang="en-US" smtClean="0"/>
              <a:t>7/27/2026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1B907D1-6511-46E9-93EC-09C72412B2C6}" type="slidenum">
              <a:rPr lang="en-US" smtClean="0"/>
              <a:t>‹#›</a:t>
            </a:fld>
            <a:endParaRPr lang="en-US"/>
          </a:p>
        </p:txBody>
      </p:sp>
    </p:spTree>
    <p:extLst>
      <p:ext uri="{BB962C8B-B14F-4D97-AF65-F5344CB8AC3E}">
        <p14:creationId xmlns:p14="http://schemas.microsoft.com/office/powerpoint/2010/main" val="1365227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D14DD7C-DFB6-4BE3-87A6-CF3FE9DBAFAC}" type="datetimeFigureOut">
              <a:rPr lang="en-US" smtClean="0"/>
              <a:t>7/27/2026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1B907D1-6511-46E9-93EC-09C72412B2C6}" type="slidenum">
              <a:rPr lang="en-US" smtClean="0"/>
              <a:t>‹#›</a:t>
            </a:fld>
            <a:endParaRPr lang="en-US"/>
          </a:p>
        </p:txBody>
      </p:sp>
    </p:spTree>
    <p:extLst>
      <p:ext uri="{BB962C8B-B14F-4D97-AF65-F5344CB8AC3E}">
        <p14:creationId xmlns:p14="http://schemas.microsoft.com/office/powerpoint/2010/main" val="1528936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p:cNvSpPr>
            <a:spLocks noGrp="1"/>
          </p:cNvSpPr>
          <p:nvPr>
            <p:ph type="dt" sz="half" idx="10"/>
          </p:nvPr>
        </p:nvSpPr>
        <p:spPr/>
        <p:txBody>
          <a:bodyPr/>
          <a:lstStyle/>
          <a:p>
            <a:fld id="{AD14DD7C-DFB6-4BE3-87A6-CF3FE9DBAFAC}" type="datetimeFigureOut">
              <a:rPr lang="en-US" smtClean="0"/>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1B907D1-6511-46E9-93EC-09C72412B2C6}" type="slidenum">
              <a:rPr lang="en-US" smtClean="0"/>
              <a:t>‹#›</a:t>
            </a:fld>
            <a:endParaRPr lang="en-US"/>
          </a:p>
        </p:txBody>
      </p:sp>
    </p:spTree>
    <p:extLst>
      <p:ext uri="{BB962C8B-B14F-4D97-AF65-F5344CB8AC3E}">
        <p14:creationId xmlns:p14="http://schemas.microsoft.com/office/powerpoint/2010/main" val="329311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14DD7C-DFB6-4BE3-87A6-CF3FE9DBAFAC}"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B907D1-6511-46E9-93EC-09C72412B2C6}" type="slidenum">
              <a:rPr lang="en-US" smtClean="0"/>
              <a:t>‹#›</a:t>
            </a:fld>
            <a:endParaRPr lang="en-US"/>
          </a:p>
        </p:txBody>
      </p:sp>
    </p:spTree>
    <p:extLst>
      <p:ext uri="{BB962C8B-B14F-4D97-AF65-F5344CB8AC3E}">
        <p14:creationId xmlns:p14="http://schemas.microsoft.com/office/powerpoint/2010/main" val="3115175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14DD7C-DFB6-4BE3-87A6-CF3FE9DBAFAC}"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B907D1-6511-46E9-93EC-09C72412B2C6}" type="slidenum">
              <a:rPr lang="en-US" smtClean="0"/>
              <a:t>‹#›</a:t>
            </a:fld>
            <a:endParaRPr lang="en-US"/>
          </a:p>
        </p:txBody>
      </p:sp>
    </p:spTree>
    <p:extLst>
      <p:ext uri="{BB962C8B-B14F-4D97-AF65-F5344CB8AC3E}">
        <p14:creationId xmlns:p14="http://schemas.microsoft.com/office/powerpoint/2010/main" val="2972944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14DD7C-DFB6-4BE3-87A6-CF3FE9DBAFAC}"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B907D1-6511-46E9-93EC-09C72412B2C6}" type="slidenum">
              <a:rPr lang="en-US" smtClean="0"/>
              <a:t>‹#›</a:t>
            </a:fld>
            <a:endParaRPr lang="en-US"/>
          </a:p>
        </p:txBody>
      </p:sp>
    </p:spTree>
    <p:extLst>
      <p:ext uri="{BB962C8B-B14F-4D97-AF65-F5344CB8AC3E}">
        <p14:creationId xmlns:p14="http://schemas.microsoft.com/office/powerpoint/2010/main" val="913995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14DD7C-DFB6-4BE3-87A6-CF3FE9DBAFAC}"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B907D1-6511-46E9-93EC-09C72412B2C6}" type="slidenum">
              <a:rPr lang="en-US" smtClean="0"/>
              <a:t>‹#›</a:t>
            </a:fld>
            <a:endParaRPr lang="en-US"/>
          </a:p>
        </p:txBody>
      </p:sp>
    </p:spTree>
    <p:extLst>
      <p:ext uri="{BB962C8B-B14F-4D97-AF65-F5344CB8AC3E}">
        <p14:creationId xmlns:p14="http://schemas.microsoft.com/office/powerpoint/2010/main" val="3023930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3BFD9-A5CD-2BE2-CA79-9035BDDEA8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84379D-EF88-1CC5-1313-2E9462B0AB44}"/>
              </a:ext>
            </a:extLst>
          </p:cNvPr>
          <p:cNvSpPr>
            <a:spLocks noGrp="1"/>
          </p:cNvSpPr>
          <p:nvPr>
            <p:ph type="dt" sz="half" idx="10"/>
          </p:nvPr>
        </p:nvSpPr>
        <p:spPr/>
        <p:txBody>
          <a:bodyPr/>
          <a:lstStyle/>
          <a:p>
            <a:fld id="{AD14DD7C-DFB6-4BE3-87A6-CF3FE9DBAFAC}" type="datetimeFigureOut">
              <a:rPr lang="en-US" smtClean="0"/>
              <a:t>7/27/2026</a:t>
            </a:fld>
            <a:endParaRPr lang="en-US"/>
          </a:p>
        </p:txBody>
      </p:sp>
      <p:sp>
        <p:nvSpPr>
          <p:cNvPr id="4" name="Footer Placeholder 3">
            <a:extLst>
              <a:ext uri="{FF2B5EF4-FFF2-40B4-BE49-F238E27FC236}">
                <a16:creationId xmlns:a16="http://schemas.microsoft.com/office/drawing/2014/main" id="{B03A9645-DC5E-4774-16B4-D0760D95CA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CCC5AC-1477-561A-216C-899E99D65DEB}"/>
              </a:ext>
            </a:extLst>
          </p:cNvPr>
          <p:cNvSpPr>
            <a:spLocks noGrp="1"/>
          </p:cNvSpPr>
          <p:nvPr>
            <p:ph type="sldNum" sz="quarter" idx="12"/>
          </p:nvPr>
        </p:nvSpPr>
        <p:spPr/>
        <p:txBody>
          <a:bodyPr/>
          <a:lstStyle/>
          <a:p>
            <a:fld id="{31B907D1-6511-46E9-93EC-09C72412B2C6}" type="slidenum">
              <a:rPr lang="en-US" smtClean="0"/>
              <a:t>‹#›</a:t>
            </a:fld>
            <a:endParaRPr lang="en-US"/>
          </a:p>
        </p:txBody>
      </p:sp>
    </p:spTree>
    <p:extLst>
      <p:ext uri="{BB962C8B-B14F-4D97-AF65-F5344CB8AC3E}">
        <p14:creationId xmlns:p14="http://schemas.microsoft.com/office/powerpoint/2010/main" val="1977318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0" y="0"/>
            <a:ext cx="12189867" cy="6858000"/>
          </a:xfrm>
          <a:prstGeom prst="rect">
            <a:avLst/>
          </a:prstGeom>
          <a:solidFill>
            <a:schemeClr val="tx2"/>
          </a:solidFill>
          <a:effectLst>
            <a:outerShdw blurRad="50800" dist="50800" dir="5400000" algn="ctr" rotWithShape="0">
              <a:schemeClr val="tx1"/>
            </a:outerShdw>
          </a:effectLst>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AD14DD7C-DFB6-4BE3-87A6-CF3FE9DBAFAC}" type="datetimeFigureOut">
              <a:rPr lang="en-US" smtClean="0"/>
              <a:t>7/27/2026</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a:t>FPGA &amp; DPR WORKSHOP</a:t>
            </a:r>
            <a:endParaRPr lang="en-US" dirty="0"/>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31B907D1-6511-46E9-93EC-09C72412B2C6}" type="slidenum">
              <a:rPr lang="en-US" smtClean="0"/>
              <a:t>‹#›</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Rectangle 6">
            <a:extLst>
              <a:ext uri="{FF2B5EF4-FFF2-40B4-BE49-F238E27FC236}">
                <a16:creationId xmlns:a16="http://schemas.microsoft.com/office/drawing/2014/main" id="{01C80BF5-A321-C8FE-7161-6A0927339FE8}"/>
              </a:ext>
            </a:extLst>
          </p:cNvPr>
          <p:cNvSpPr/>
          <p:nvPr userDrawn="1"/>
        </p:nvSpPr>
        <p:spPr>
          <a:xfrm>
            <a:off x="85725" y="76200"/>
            <a:ext cx="12020550" cy="6715125"/>
          </a:xfrm>
          <a:prstGeom prst="rect">
            <a:avLst/>
          </a:prstGeom>
          <a:noFill/>
          <a:ln w="107950" cmpd="thickThi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New Logo-01.png">
            <a:extLst>
              <a:ext uri="{FF2B5EF4-FFF2-40B4-BE49-F238E27FC236}">
                <a16:creationId xmlns:a16="http://schemas.microsoft.com/office/drawing/2014/main" id="{868E5CD5-9D3C-591A-3AE5-C8E43E61D996}"/>
              </a:ext>
            </a:extLst>
          </p:cNvPr>
          <p:cNvPicPr>
            <a:picLocks noChangeAspect="1"/>
          </p:cNvPicPr>
          <p:nvPr userDrawn="1"/>
        </p:nvPicPr>
        <p:blipFill>
          <a:blip r:embed="rId16"/>
          <a:stretch>
            <a:fillRect/>
          </a:stretch>
        </p:blipFill>
        <p:spPr>
          <a:xfrm>
            <a:off x="11359506" y="147059"/>
            <a:ext cx="677218" cy="660997"/>
          </a:xfrm>
          <a:prstGeom prst="rect">
            <a:avLst/>
          </a:prstGeom>
        </p:spPr>
      </p:pic>
    </p:spTree>
    <p:extLst>
      <p:ext uri="{BB962C8B-B14F-4D97-AF65-F5344CB8AC3E}">
        <p14:creationId xmlns:p14="http://schemas.microsoft.com/office/powerpoint/2010/main" val="840836738"/>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60" r:id="rId12"/>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8F4B5-F291-1698-3FDB-B40617516FC2}"/>
              </a:ext>
            </a:extLst>
          </p:cNvPr>
          <p:cNvSpPr>
            <a:spLocks noGrp="1"/>
          </p:cNvSpPr>
          <p:nvPr>
            <p:ph type="ctrTitle"/>
          </p:nvPr>
        </p:nvSpPr>
        <p:spPr>
          <a:xfrm>
            <a:off x="1219200" y="1625600"/>
            <a:ext cx="7385304" cy="2387600"/>
          </a:xfrm>
        </p:spPr>
        <p:txBody>
          <a:bodyPr>
            <a:normAutofit fontScale="90000"/>
          </a:bodyPr>
          <a:lstStyle/>
          <a:p>
            <a:pPr algn="l"/>
            <a:r>
              <a:rPr lang="en-US" sz="8800" dirty="0">
                <a:latin typeface="Bell MT" panose="02020503060305020303" pitchFamily="18" charset="0"/>
                <a:cs typeface="Aharoni" panose="02010803020104030203" pitchFamily="2" charset="-79"/>
              </a:rPr>
              <a:t>FPGA DESIGN</a:t>
            </a:r>
            <a:br>
              <a:rPr lang="en-US" sz="8800" dirty="0">
                <a:latin typeface="Bell MT" panose="02020503060305020303" pitchFamily="18" charset="0"/>
                <a:cs typeface="Aharoni" panose="02010803020104030203" pitchFamily="2" charset="-79"/>
              </a:rPr>
            </a:br>
            <a:r>
              <a:rPr lang="en-US" sz="8800" dirty="0">
                <a:latin typeface="Bell MT" panose="02020503060305020303" pitchFamily="18" charset="0"/>
                <a:cs typeface="Aharoni" panose="02010803020104030203" pitchFamily="2" charset="-79"/>
              </a:rPr>
              <a:t>FLOW</a:t>
            </a:r>
          </a:p>
        </p:txBody>
      </p:sp>
      <p:sp>
        <p:nvSpPr>
          <p:cNvPr id="3" name="TextBox 2">
            <a:extLst>
              <a:ext uri="{FF2B5EF4-FFF2-40B4-BE49-F238E27FC236}">
                <a16:creationId xmlns:a16="http://schemas.microsoft.com/office/drawing/2014/main" id="{99954117-C2FC-A10E-7308-F8C17F82D226}"/>
              </a:ext>
            </a:extLst>
          </p:cNvPr>
          <p:cNvSpPr txBox="1"/>
          <p:nvPr/>
        </p:nvSpPr>
        <p:spPr>
          <a:xfrm>
            <a:off x="1219200" y="3922776"/>
            <a:ext cx="7104888" cy="461665"/>
          </a:xfrm>
          <a:prstGeom prst="rect">
            <a:avLst/>
          </a:prstGeom>
          <a:noFill/>
        </p:spPr>
        <p:txBody>
          <a:bodyPr wrap="square" rtlCol="0">
            <a:spAutoFit/>
          </a:bodyPr>
          <a:lstStyle/>
          <a:p>
            <a:r>
              <a:rPr lang="en-US" sz="2400" dirty="0">
                <a:latin typeface="Bell MT" panose="02020503060305020303" pitchFamily="18" charset="0"/>
              </a:rPr>
              <a:t>Using a 2×2 Matrix Multiplier</a:t>
            </a:r>
          </a:p>
        </p:txBody>
      </p:sp>
    </p:spTree>
    <p:extLst>
      <p:ext uri="{BB962C8B-B14F-4D97-AF65-F5344CB8AC3E}">
        <p14:creationId xmlns:p14="http://schemas.microsoft.com/office/powerpoint/2010/main" val="1242050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B398A-3433-23F6-B32A-4EB0F16B82A4}"/>
              </a:ext>
            </a:extLst>
          </p:cNvPr>
          <p:cNvSpPr>
            <a:spLocks noGrp="1"/>
          </p:cNvSpPr>
          <p:nvPr>
            <p:ph type="title"/>
          </p:nvPr>
        </p:nvSpPr>
        <p:spPr>
          <a:xfrm>
            <a:off x="1057328" y="314280"/>
            <a:ext cx="8991928" cy="1212768"/>
          </a:xfrm>
        </p:spPr>
        <p:txBody>
          <a:bodyPr>
            <a:normAutofit fontScale="90000"/>
          </a:bodyPr>
          <a:lstStyle/>
          <a:p>
            <a:pPr algn="l"/>
            <a:r>
              <a:rPr lang="en-US" sz="3600" dirty="0">
                <a:latin typeface="Bell MT" panose="02020503060305020303" pitchFamily="18" charset="0"/>
              </a:rPr>
              <a:t>What do ,ChatGPT, Instagram filters, Image processing  and Netflix, YouTube recommendations have in common?</a:t>
            </a:r>
          </a:p>
        </p:txBody>
      </p:sp>
      <p:pic>
        <p:nvPicPr>
          <p:cNvPr id="4" name="Picture 3" descr="YouTube Viewers - YouTube">
            <a:extLst>
              <a:ext uri="{FF2B5EF4-FFF2-40B4-BE49-F238E27FC236}">
                <a16:creationId xmlns:a16="http://schemas.microsoft.com/office/drawing/2014/main" id="{C89F7D61-94FA-8F5F-E9EA-6681CA85A741}"/>
              </a:ext>
            </a:extLst>
          </p:cNvPr>
          <p:cNvPicPr>
            <a:picLocks noChangeAspect="1"/>
          </p:cNvPicPr>
          <p:nvPr/>
        </p:nvPicPr>
        <p:blipFill>
          <a:blip r:embed="rId2"/>
          <a:stretch>
            <a:fillRect/>
          </a:stretch>
        </p:blipFill>
        <p:spPr>
          <a:xfrm>
            <a:off x="1057328" y="1737360"/>
            <a:ext cx="2773489" cy="2773489"/>
          </a:xfrm>
          <a:prstGeom prst="rect">
            <a:avLst/>
          </a:prstGeom>
        </p:spPr>
      </p:pic>
      <p:pic>
        <p:nvPicPr>
          <p:cNvPr id="7" name="Picture 6" descr="What is ChatGPT? What parents need to know | Internet Matters">
            <a:extLst>
              <a:ext uri="{FF2B5EF4-FFF2-40B4-BE49-F238E27FC236}">
                <a16:creationId xmlns:a16="http://schemas.microsoft.com/office/drawing/2014/main" id="{266AB2EC-3B6C-B072-BDF8-4C1D61BD0122}"/>
              </a:ext>
            </a:extLst>
          </p:cNvPr>
          <p:cNvPicPr>
            <a:picLocks noChangeAspect="1"/>
          </p:cNvPicPr>
          <p:nvPr/>
        </p:nvPicPr>
        <p:blipFill>
          <a:blip r:embed="rId3"/>
          <a:stretch>
            <a:fillRect/>
          </a:stretch>
        </p:blipFill>
        <p:spPr>
          <a:xfrm>
            <a:off x="6783271" y="1737360"/>
            <a:ext cx="4351401" cy="2281832"/>
          </a:xfrm>
          <a:prstGeom prst="rect">
            <a:avLst/>
          </a:prstGeom>
        </p:spPr>
      </p:pic>
      <p:pic>
        <p:nvPicPr>
          <p:cNvPr id="9" name="Picture 8" descr="Camera - Free shapes icons">
            <a:extLst>
              <a:ext uri="{FF2B5EF4-FFF2-40B4-BE49-F238E27FC236}">
                <a16:creationId xmlns:a16="http://schemas.microsoft.com/office/drawing/2014/main" id="{60F35719-AC68-AAF1-A241-8B3C7D4D0835}"/>
              </a:ext>
            </a:extLst>
          </p:cNvPr>
          <p:cNvPicPr>
            <a:picLocks noChangeAspect="1"/>
          </p:cNvPicPr>
          <p:nvPr/>
        </p:nvPicPr>
        <p:blipFill>
          <a:blip r:embed="rId4"/>
          <a:stretch>
            <a:fillRect/>
          </a:stretch>
        </p:blipFill>
        <p:spPr>
          <a:xfrm>
            <a:off x="4069487" y="1737360"/>
            <a:ext cx="2499170" cy="2499170"/>
          </a:xfrm>
          <a:prstGeom prst="rect">
            <a:avLst/>
          </a:prstGeom>
        </p:spPr>
      </p:pic>
      <p:pic>
        <p:nvPicPr>
          <p:cNvPr id="11" name="Picture 10" descr="Netflix logo transparent background 42165794 PNG">
            <a:extLst>
              <a:ext uri="{FF2B5EF4-FFF2-40B4-BE49-F238E27FC236}">
                <a16:creationId xmlns:a16="http://schemas.microsoft.com/office/drawing/2014/main" id="{D452864A-A7C6-BA85-C38F-755571BDC6DE}"/>
              </a:ext>
            </a:extLst>
          </p:cNvPr>
          <p:cNvPicPr>
            <a:picLocks noChangeAspect="1"/>
          </p:cNvPicPr>
          <p:nvPr/>
        </p:nvPicPr>
        <p:blipFill>
          <a:blip r:embed="rId5"/>
          <a:stretch>
            <a:fillRect/>
          </a:stretch>
        </p:blipFill>
        <p:spPr>
          <a:xfrm>
            <a:off x="4139946" y="4019192"/>
            <a:ext cx="3033522" cy="3033522"/>
          </a:xfrm>
          <a:prstGeom prst="rect">
            <a:avLst/>
          </a:prstGeom>
        </p:spPr>
      </p:pic>
    </p:spTree>
    <p:extLst>
      <p:ext uri="{BB962C8B-B14F-4D97-AF65-F5344CB8AC3E}">
        <p14:creationId xmlns:p14="http://schemas.microsoft.com/office/powerpoint/2010/main" val="939793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A471-53A7-1CB6-8788-973154897D18}"/>
              </a:ext>
            </a:extLst>
          </p:cNvPr>
          <p:cNvSpPr>
            <a:spLocks noGrp="1"/>
          </p:cNvSpPr>
          <p:nvPr>
            <p:ph type="title"/>
          </p:nvPr>
        </p:nvSpPr>
        <p:spPr>
          <a:xfrm>
            <a:off x="1560248" y="2351771"/>
            <a:ext cx="9092512" cy="2229373"/>
          </a:xfrm>
        </p:spPr>
        <p:txBody>
          <a:bodyPr>
            <a:normAutofit/>
          </a:bodyPr>
          <a:lstStyle/>
          <a:p>
            <a:pPr algn="ctr"/>
            <a:r>
              <a:rPr lang="en-US" sz="6600" dirty="0">
                <a:latin typeface="Bell MT" panose="02020503060305020303" pitchFamily="18" charset="0"/>
              </a:rPr>
              <a:t>MATRIX MULTIPLICATION </a:t>
            </a:r>
          </a:p>
        </p:txBody>
      </p:sp>
    </p:spTree>
    <p:extLst>
      <p:ext uri="{BB962C8B-B14F-4D97-AF65-F5344CB8AC3E}">
        <p14:creationId xmlns:p14="http://schemas.microsoft.com/office/powerpoint/2010/main" val="3431994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7B4CAAFC-07CA-FECD-1303-86FDE7B95C60}"/>
              </a:ext>
            </a:extLst>
          </p:cNvPr>
          <p:cNvSpPr/>
          <p:nvPr/>
        </p:nvSpPr>
        <p:spPr>
          <a:xfrm>
            <a:off x="6518148" y="3855720"/>
            <a:ext cx="2989072" cy="1610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Bell MT" panose="02020503060305020303" pitchFamily="18" charset="0"/>
              </a:rPr>
              <a:t>Program</a:t>
            </a:r>
            <a:r>
              <a:rPr lang="en-US" dirty="0"/>
              <a:t> </a:t>
            </a:r>
            <a:r>
              <a:rPr lang="en-US" sz="2800" dirty="0">
                <a:latin typeface="Bell MT" panose="02020503060305020303" pitchFamily="18" charset="0"/>
              </a:rPr>
              <a:t>the FPGA</a:t>
            </a:r>
          </a:p>
        </p:txBody>
      </p:sp>
      <p:sp>
        <p:nvSpPr>
          <p:cNvPr id="14" name="Rectangle: Rounded Corners 13">
            <a:extLst>
              <a:ext uri="{FF2B5EF4-FFF2-40B4-BE49-F238E27FC236}">
                <a16:creationId xmlns:a16="http://schemas.microsoft.com/office/drawing/2014/main" id="{725EE152-9B93-DA6B-2348-E04A02FEFE9C}"/>
              </a:ext>
            </a:extLst>
          </p:cNvPr>
          <p:cNvSpPr/>
          <p:nvPr/>
        </p:nvSpPr>
        <p:spPr>
          <a:xfrm>
            <a:off x="2608580" y="3855720"/>
            <a:ext cx="2989072" cy="1610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Bell MT" panose="02020503060305020303" pitchFamily="18" charset="0"/>
              </a:rPr>
              <a:t>Implement</a:t>
            </a:r>
          </a:p>
        </p:txBody>
      </p:sp>
      <p:sp>
        <p:nvSpPr>
          <p:cNvPr id="16" name="Rectangle: Rounded Corners 15">
            <a:extLst>
              <a:ext uri="{FF2B5EF4-FFF2-40B4-BE49-F238E27FC236}">
                <a16:creationId xmlns:a16="http://schemas.microsoft.com/office/drawing/2014/main" id="{FBAB87CC-ED9C-F328-C49F-D186F9F190DC}"/>
              </a:ext>
            </a:extLst>
          </p:cNvPr>
          <p:cNvSpPr/>
          <p:nvPr/>
        </p:nvSpPr>
        <p:spPr>
          <a:xfrm>
            <a:off x="8187944" y="1242568"/>
            <a:ext cx="2989072" cy="1610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Bell MT" panose="02020503060305020303" pitchFamily="18" charset="0"/>
              </a:rPr>
              <a:t>Synthesize</a:t>
            </a:r>
          </a:p>
        </p:txBody>
      </p:sp>
      <p:sp>
        <p:nvSpPr>
          <p:cNvPr id="18" name="Rectangle: Rounded Corners 17">
            <a:extLst>
              <a:ext uri="{FF2B5EF4-FFF2-40B4-BE49-F238E27FC236}">
                <a16:creationId xmlns:a16="http://schemas.microsoft.com/office/drawing/2014/main" id="{8F166709-E556-2227-F9FC-6F9D23045072}"/>
              </a:ext>
            </a:extLst>
          </p:cNvPr>
          <p:cNvSpPr/>
          <p:nvPr/>
        </p:nvSpPr>
        <p:spPr>
          <a:xfrm>
            <a:off x="4681728" y="1242568"/>
            <a:ext cx="2989072" cy="1610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Bell MT" panose="02020503060305020303" pitchFamily="18" charset="0"/>
              </a:rPr>
              <a:t>Simulate</a:t>
            </a:r>
            <a:endParaRPr lang="en-US" sz="2400" dirty="0">
              <a:latin typeface="Bell MT" panose="02020503060305020303" pitchFamily="18" charset="0"/>
            </a:endParaRPr>
          </a:p>
        </p:txBody>
      </p:sp>
      <p:sp>
        <p:nvSpPr>
          <p:cNvPr id="20" name="Rectangle: Rounded Corners 19">
            <a:extLst>
              <a:ext uri="{FF2B5EF4-FFF2-40B4-BE49-F238E27FC236}">
                <a16:creationId xmlns:a16="http://schemas.microsoft.com/office/drawing/2014/main" id="{C4B592A2-28C8-6961-0A87-5EB67288A80E}"/>
              </a:ext>
            </a:extLst>
          </p:cNvPr>
          <p:cNvSpPr/>
          <p:nvPr/>
        </p:nvSpPr>
        <p:spPr>
          <a:xfrm>
            <a:off x="1175512" y="1242568"/>
            <a:ext cx="2989072" cy="1610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Bell MT" panose="02020503060305020303" pitchFamily="18" charset="0"/>
              </a:rPr>
              <a:t>DESIGN</a:t>
            </a:r>
          </a:p>
        </p:txBody>
      </p:sp>
      <p:cxnSp>
        <p:nvCxnSpPr>
          <p:cNvPr id="22" name="Straight Arrow Connector 21">
            <a:extLst>
              <a:ext uri="{FF2B5EF4-FFF2-40B4-BE49-F238E27FC236}">
                <a16:creationId xmlns:a16="http://schemas.microsoft.com/office/drawing/2014/main" id="{94BFB376-CD45-B11F-59F7-597F6EB09637}"/>
              </a:ext>
            </a:extLst>
          </p:cNvPr>
          <p:cNvCxnSpPr>
            <a:cxnSpLocks/>
            <a:stCxn id="20" idx="3"/>
          </p:cNvCxnSpPr>
          <p:nvPr/>
        </p:nvCxnSpPr>
        <p:spPr>
          <a:xfrm>
            <a:off x="4164584" y="2047748"/>
            <a:ext cx="5415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2E81902-F43F-DD56-7521-BF343F1188C8}"/>
              </a:ext>
            </a:extLst>
          </p:cNvPr>
          <p:cNvCxnSpPr>
            <a:cxnSpLocks/>
          </p:cNvCxnSpPr>
          <p:nvPr/>
        </p:nvCxnSpPr>
        <p:spPr>
          <a:xfrm>
            <a:off x="7646416" y="2047748"/>
            <a:ext cx="5415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B68D89C-F963-E1C0-D90F-5EA59ABFA29C}"/>
              </a:ext>
            </a:extLst>
          </p:cNvPr>
          <p:cNvCxnSpPr>
            <a:cxnSpLocks/>
            <a:endCxn id="12" idx="1"/>
          </p:cNvCxnSpPr>
          <p:nvPr/>
        </p:nvCxnSpPr>
        <p:spPr>
          <a:xfrm>
            <a:off x="5577840" y="4660900"/>
            <a:ext cx="9403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4DA46CEA-C377-7EE0-B42B-4B79FA3F6426}"/>
              </a:ext>
            </a:extLst>
          </p:cNvPr>
          <p:cNvSpPr txBox="1"/>
          <p:nvPr/>
        </p:nvSpPr>
        <p:spPr>
          <a:xfrm>
            <a:off x="1259840" y="355600"/>
            <a:ext cx="8595360" cy="523220"/>
          </a:xfrm>
          <a:prstGeom prst="rect">
            <a:avLst/>
          </a:prstGeom>
          <a:noFill/>
        </p:spPr>
        <p:txBody>
          <a:bodyPr wrap="square" rtlCol="0">
            <a:spAutoFit/>
          </a:bodyPr>
          <a:lstStyle/>
          <a:p>
            <a:r>
              <a:rPr lang="en-US" sz="2800" dirty="0">
                <a:latin typeface="Bell MT" panose="02020503060305020303" pitchFamily="18" charset="0"/>
              </a:rPr>
              <a:t>FLOW : - </a:t>
            </a:r>
          </a:p>
        </p:txBody>
      </p:sp>
    </p:spTree>
    <p:extLst>
      <p:ext uri="{BB962C8B-B14F-4D97-AF65-F5344CB8AC3E}">
        <p14:creationId xmlns:p14="http://schemas.microsoft.com/office/powerpoint/2010/main" val="1829864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F17A7-4838-02C9-8132-9CD1D7952C2B}"/>
              </a:ext>
            </a:extLst>
          </p:cNvPr>
          <p:cNvSpPr>
            <a:spLocks noGrp="1"/>
          </p:cNvSpPr>
          <p:nvPr>
            <p:ph type="title"/>
          </p:nvPr>
        </p:nvSpPr>
        <p:spPr>
          <a:xfrm>
            <a:off x="1097280" y="323424"/>
            <a:ext cx="7973243" cy="1093896"/>
          </a:xfrm>
        </p:spPr>
        <p:txBody>
          <a:bodyPr>
            <a:noAutofit/>
          </a:bodyPr>
          <a:lstStyle/>
          <a:p>
            <a:pPr algn="l"/>
            <a:br>
              <a:rPr lang="en-US" sz="2000" dirty="0"/>
            </a:br>
            <a:endParaRPr lang="en-US" sz="2000" dirty="0"/>
          </a:p>
        </p:txBody>
      </p:sp>
      <p:pic>
        <p:nvPicPr>
          <p:cNvPr id="6" name="Picture 5">
            <a:extLst>
              <a:ext uri="{FF2B5EF4-FFF2-40B4-BE49-F238E27FC236}">
                <a16:creationId xmlns:a16="http://schemas.microsoft.com/office/drawing/2014/main" id="{6A7314E8-9BFA-0226-C039-395A9AEDEFD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979756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C2EFCC-7718-EBEE-8FCE-796272453C7E}"/>
              </a:ext>
            </a:extLst>
          </p:cNvPr>
          <p:cNvPicPr>
            <a:picLocks noChangeAspect="1"/>
          </p:cNvPicPr>
          <p:nvPr/>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5CC76343-7642-36C1-AD70-7B2E1AB583F3}"/>
              </a:ext>
            </a:extLst>
          </p:cNvPr>
          <p:cNvSpPr txBox="1"/>
          <p:nvPr/>
        </p:nvSpPr>
        <p:spPr>
          <a:xfrm>
            <a:off x="6291072" y="1362456"/>
            <a:ext cx="4837176" cy="1446550"/>
          </a:xfrm>
          <a:prstGeom prst="rect">
            <a:avLst/>
          </a:prstGeom>
          <a:noFill/>
        </p:spPr>
        <p:txBody>
          <a:bodyPr wrap="square" rtlCol="0">
            <a:spAutoFit/>
          </a:bodyPr>
          <a:lstStyle/>
          <a:p>
            <a:r>
              <a:rPr lang="en-US" sz="4400" dirty="0">
                <a:solidFill>
                  <a:schemeClr val="bg1"/>
                </a:solidFill>
                <a:latin typeface="Bell MT" panose="02020503060305020303" pitchFamily="18" charset="0"/>
              </a:rPr>
              <a:t>Create a project and add all the Files</a:t>
            </a:r>
          </a:p>
        </p:txBody>
      </p:sp>
    </p:spTree>
    <p:extLst>
      <p:ext uri="{BB962C8B-B14F-4D97-AF65-F5344CB8AC3E}">
        <p14:creationId xmlns:p14="http://schemas.microsoft.com/office/powerpoint/2010/main" val="1740641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8BAB2-5C2F-6981-1E8C-9BACBB7B337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1C09E7E-BF47-5A7B-46C5-DBE999B1754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084B5A6-60AD-8416-1D6F-18388869FC70}"/>
              </a:ext>
            </a:extLst>
          </p:cNvPr>
          <p:cNvPicPr>
            <a:picLocks noChangeAspect="1"/>
          </p:cNvPicPr>
          <p:nvPr/>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4BE25B65-CFDE-163D-8566-47B5B57A36BB}"/>
              </a:ext>
            </a:extLst>
          </p:cNvPr>
          <p:cNvSpPr txBox="1"/>
          <p:nvPr/>
        </p:nvSpPr>
        <p:spPr>
          <a:xfrm>
            <a:off x="3813048" y="2951946"/>
            <a:ext cx="5422392" cy="954107"/>
          </a:xfrm>
          <a:prstGeom prst="rect">
            <a:avLst/>
          </a:prstGeom>
          <a:noFill/>
        </p:spPr>
        <p:txBody>
          <a:bodyPr wrap="square" rtlCol="0">
            <a:spAutoFit/>
          </a:bodyPr>
          <a:lstStyle/>
          <a:p>
            <a:r>
              <a:rPr lang="en-US" sz="2800" dirty="0">
                <a:latin typeface="Bell MT" panose="02020503060305020303" pitchFamily="18" charset="0"/>
              </a:rPr>
              <a:t>This is what you will get after u press run simulation</a:t>
            </a:r>
          </a:p>
        </p:txBody>
      </p:sp>
    </p:spTree>
    <p:extLst>
      <p:ext uri="{BB962C8B-B14F-4D97-AF65-F5344CB8AC3E}">
        <p14:creationId xmlns:p14="http://schemas.microsoft.com/office/powerpoint/2010/main" val="2295407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4A8A9-F69C-A578-B8D3-DCFFB370CE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1AFE37-288A-71CE-AC01-6C2006DFF019}"/>
              </a:ext>
            </a:extLst>
          </p:cNvPr>
          <p:cNvSpPr>
            <a:spLocks noGrp="1"/>
          </p:cNvSpPr>
          <p:nvPr>
            <p:ph idx="1"/>
          </p:nvPr>
        </p:nvSpPr>
        <p:spPr>
          <a:xfrm>
            <a:off x="1056559" y="4265294"/>
            <a:ext cx="7796540" cy="1906569"/>
          </a:xfrm>
        </p:spPr>
        <p:txBody>
          <a:bodyPr>
            <a:normAutofit fontScale="77500" lnSpcReduction="20000"/>
          </a:bodyPr>
          <a:lstStyle/>
          <a:p>
            <a:r>
              <a:rPr lang="en-US" sz="2600" b="1" dirty="0">
                <a:latin typeface="Bell MT" panose="02020503060305020303" pitchFamily="18" charset="0"/>
              </a:rPr>
              <a:t>Linting is the process of checking your Verilog code for coding mistakes, bad design practices, and potential bugs before creating the hardware.</a:t>
            </a:r>
            <a:endParaRPr lang="en-US" sz="2600" dirty="0">
              <a:latin typeface="Bell MT" panose="02020503060305020303" pitchFamily="18" charset="0"/>
            </a:endParaRPr>
          </a:p>
          <a:p>
            <a:r>
              <a:rPr lang="en-US" sz="2600" dirty="0">
                <a:latin typeface="Bell MT" panose="02020503060305020303" pitchFamily="18" charset="0"/>
              </a:rPr>
              <a:t>It </a:t>
            </a:r>
            <a:r>
              <a:rPr lang="en-US" sz="2600" b="1" dirty="0">
                <a:latin typeface="Bell MT" panose="02020503060305020303" pitchFamily="18" charset="0"/>
              </a:rPr>
              <a:t>does not create hardware</a:t>
            </a:r>
            <a:r>
              <a:rPr lang="en-US" sz="2600" dirty="0">
                <a:latin typeface="Bell MT" panose="02020503060305020303" pitchFamily="18" charset="0"/>
              </a:rPr>
              <a:t> and </a:t>
            </a:r>
            <a:r>
              <a:rPr lang="en-US" sz="2600" b="1" dirty="0">
                <a:latin typeface="Bell MT" panose="02020503060305020303" pitchFamily="18" charset="0"/>
              </a:rPr>
              <a:t>does not modify your code</a:t>
            </a:r>
            <a:r>
              <a:rPr lang="en-US" sz="2600" dirty="0">
                <a:latin typeface="Bell MT" panose="02020503060305020303" pitchFamily="18" charset="0"/>
              </a:rPr>
              <a:t>. It only reports warnings and errors.</a:t>
            </a:r>
          </a:p>
          <a:p>
            <a:endParaRPr lang="en-US" dirty="0">
              <a:latin typeface="Bell MT" panose="02020503060305020303" pitchFamily="18" charset="0"/>
            </a:endParaRPr>
          </a:p>
        </p:txBody>
      </p:sp>
      <p:pic>
        <p:nvPicPr>
          <p:cNvPr id="5" name="Picture 4">
            <a:extLst>
              <a:ext uri="{FF2B5EF4-FFF2-40B4-BE49-F238E27FC236}">
                <a16:creationId xmlns:a16="http://schemas.microsoft.com/office/drawing/2014/main" id="{1AA42ED3-241D-B973-FF69-AAB704B81DBE}"/>
              </a:ext>
            </a:extLst>
          </p:cNvPr>
          <p:cNvPicPr>
            <a:picLocks noChangeAspect="1"/>
          </p:cNvPicPr>
          <p:nvPr/>
        </p:nvPicPr>
        <p:blipFill>
          <a:blip r:embed="rId3"/>
          <a:stretch>
            <a:fillRect/>
          </a:stretch>
        </p:blipFill>
        <p:spPr>
          <a:xfrm>
            <a:off x="0" y="61974"/>
            <a:ext cx="12192000" cy="3980284"/>
          </a:xfrm>
          <a:prstGeom prst="rect">
            <a:avLst/>
          </a:prstGeom>
        </p:spPr>
      </p:pic>
    </p:spTree>
    <p:extLst>
      <p:ext uri="{BB962C8B-B14F-4D97-AF65-F5344CB8AC3E}">
        <p14:creationId xmlns:p14="http://schemas.microsoft.com/office/powerpoint/2010/main" val="3474829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2E892-1176-70F1-1C33-DFBFCC34924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7BD1E6C-7E41-3B28-512B-9E3161222D1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4CFF4E6-4680-6C3F-2A4A-0B8A0B2624A9}"/>
              </a:ext>
            </a:extLst>
          </p:cNvPr>
          <p:cNvPicPr>
            <a:picLocks noChangeAspect="1"/>
          </p:cNvPicPr>
          <p:nvPr/>
        </p:nvPicPr>
        <p:blipFill>
          <a:blip r:embed="rId3"/>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67D60A78-952C-443F-44B4-3246559B9C0D}"/>
              </a:ext>
            </a:extLst>
          </p:cNvPr>
          <p:cNvSpPr txBox="1"/>
          <p:nvPr/>
        </p:nvSpPr>
        <p:spPr>
          <a:xfrm>
            <a:off x="2304288" y="1472184"/>
            <a:ext cx="6199632" cy="523220"/>
          </a:xfrm>
          <a:prstGeom prst="rect">
            <a:avLst/>
          </a:prstGeom>
          <a:noFill/>
        </p:spPr>
        <p:txBody>
          <a:bodyPr wrap="square" rtlCol="0">
            <a:spAutoFit/>
          </a:bodyPr>
          <a:lstStyle/>
          <a:p>
            <a:r>
              <a:rPr lang="en-US" sz="2800" dirty="0">
                <a:solidFill>
                  <a:schemeClr val="bg1"/>
                </a:solidFill>
                <a:latin typeface="Bell MT" panose="02020503060305020303" pitchFamily="18" charset="0"/>
              </a:rPr>
              <a:t>This is the elaborated design </a:t>
            </a:r>
          </a:p>
        </p:txBody>
      </p:sp>
      <p:sp>
        <p:nvSpPr>
          <p:cNvPr id="8" name="TextBox 7">
            <a:extLst>
              <a:ext uri="{FF2B5EF4-FFF2-40B4-BE49-F238E27FC236}">
                <a16:creationId xmlns:a16="http://schemas.microsoft.com/office/drawing/2014/main" id="{FE735C6C-185A-540E-687C-438AE1C911D9}"/>
              </a:ext>
            </a:extLst>
          </p:cNvPr>
          <p:cNvSpPr txBox="1"/>
          <p:nvPr/>
        </p:nvSpPr>
        <p:spPr>
          <a:xfrm>
            <a:off x="2331720" y="1810749"/>
            <a:ext cx="6172200" cy="1477328"/>
          </a:xfrm>
          <a:prstGeom prst="rect">
            <a:avLst/>
          </a:prstGeom>
          <a:noFill/>
        </p:spPr>
        <p:txBody>
          <a:bodyPr wrap="square">
            <a:spAutoFit/>
          </a:bodyPr>
          <a:lstStyle/>
          <a:p>
            <a:r>
              <a:rPr lang="en-US" dirty="0">
                <a:solidFill>
                  <a:schemeClr val="bg1"/>
                </a:solidFill>
              </a:rPr>
              <a:t>ROM A</a:t>
            </a:r>
          </a:p>
          <a:p>
            <a:r>
              <a:rPr lang="en-US" dirty="0">
                <a:solidFill>
                  <a:schemeClr val="bg1"/>
                </a:solidFill>
              </a:rPr>
              <a:t>    \</a:t>
            </a:r>
          </a:p>
          <a:p>
            <a:r>
              <a:rPr lang="en-US" dirty="0">
                <a:solidFill>
                  <a:schemeClr val="bg1"/>
                </a:solidFill>
              </a:rPr>
              <a:t>     → Multiplier → Accumulator → Result</a:t>
            </a:r>
          </a:p>
          <a:p>
            <a:r>
              <a:rPr lang="en-US" dirty="0">
                <a:solidFill>
                  <a:schemeClr val="bg1"/>
                </a:solidFill>
              </a:rPr>
              <a:t>    /</a:t>
            </a:r>
          </a:p>
          <a:p>
            <a:r>
              <a:rPr lang="en-US" dirty="0">
                <a:solidFill>
                  <a:schemeClr val="bg1"/>
                </a:solidFill>
              </a:rPr>
              <a:t>ROM B</a:t>
            </a:r>
          </a:p>
        </p:txBody>
      </p:sp>
    </p:spTree>
    <p:extLst>
      <p:ext uri="{BB962C8B-B14F-4D97-AF65-F5344CB8AC3E}">
        <p14:creationId xmlns:p14="http://schemas.microsoft.com/office/powerpoint/2010/main" val="1421759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91310-6FAB-BA47-9C25-F23A5819B4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7F438B-8B2C-FA2E-B9B4-5AE5C9A7F24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4FB67C1-6152-4522-2515-5E5B1538CB0F}"/>
              </a:ext>
            </a:extLst>
          </p:cNvPr>
          <p:cNvPicPr>
            <a:picLocks noChangeAspect="1"/>
          </p:cNvPicPr>
          <p:nvPr/>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D562DC66-7626-4FC4-890E-CD2E7C11AD38}"/>
              </a:ext>
            </a:extLst>
          </p:cNvPr>
          <p:cNvSpPr txBox="1"/>
          <p:nvPr/>
        </p:nvSpPr>
        <p:spPr>
          <a:xfrm>
            <a:off x="8337176" y="2052116"/>
            <a:ext cx="3263153" cy="2554545"/>
          </a:xfrm>
          <a:prstGeom prst="rect">
            <a:avLst/>
          </a:prstGeom>
          <a:noFill/>
        </p:spPr>
        <p:txBody>
          <a:bodyPr wrap="square" rtlCol="0">
            <a:spAutoFit/>
          </a:bodyPr>
          <a:lstStyle/>
          <a:p>
            <a:r>
              <a:rPr lang="en-US" sz="3200" dirty="0">
                <a:solidFill>
                  <a:schemeClr val="bg1"/>
                </a:solidFill>
                <a:latin typeface="Bell MT" panose="02020503060305020303" pitchFamily="18" charset="0"/>
              </a:rPr>
              <a:t>Before synthesis update your constraint file according to your code </a:t>
            </a:r>
          </a:p>
        </p:txBody>
      </p:sp>
    </p:spTree>
    <p:extLst>
      <p:ext uri="{BB962C8B-B14F-4D97-AF65-F5344CB8AC3E}">
        <p14:creationId xmlns:p14="http://schemas.microsoft.com/office/powerpoint/2010/main" val="3923612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CCABD-6E32-194E-39D4-EDF7A7A292F5}"/>
              </a:ext>
            </a:extLst>
          </p:cNvPr>
          <p:cNvSpPr>
            <a:spLocks noGrp="1"/>
          </p:cNvSpPr>
          <p:nvPr>
            <p:ph type="title"/>
          </p:nvPr>
        </p:nvSpPr>
        <p:spPr>
          <a:xfrm>
            <a:off x="1123667" y="269441"/>
            <a:ext cx="7958331" cy="1077229"/>
          </a:xfrm>
        </p:spPr>
        <p:txBody>
          <a:bodyPr>
            <a:normAutofit/>
          </a:bodyPr>
          <a:lstStyle/>
          <a:p>
            <a:pPr algn="l"/>
            <a:r>
              <a:rPr lang="en-US" sz="5400" dirty="0">
                <a:latin typeface="Bell MT" panose="02020503060305020303" pitchFamily="18" charset="0"/>
              </a:rPr>
              <a:t>What is synthesis?</a:t>
            </a:r>
          </a:p>
        </p:txBody>
      </p:sp>
      <p:sp>
        <p:nvSpPr>
          <p:cNvPr id="3" name="Content Placeholder 2">
            <a:extLst>
              <a:ext uri="{FF2B5EF4-FFF2-40B4-BE49-F238E27FC236}">
                <a16:creationId xmlns:a16="http://schemas.microsoft.com/office/drawing/2014/main" id="{1C741AFD-FD74-FBB9-F75E-6EAE1E6D3EA6}"/>
              </a:ext>
            </a:extLst>
          </p:cNvPr>
          <p:cNvSpPr>
            <a:spLocks noGrp="1"/>
          </p:cNvSpPr>
          <p:nvPr>
            <p:ph idx="1"/>
          </p:nvPr>
        </p:nvSpPr>
        <p:spPr>
          <a:xfrm>
            <a:off x="1204562" y="1346670"/>
            <a:ext cx="7186403" cy="1459284"/>
          </a:xfrm>
        </p:spPr>
        <p:txBody>
          <a:bodyPr>
            <a:normAutofit fontScale="77500" lnSpcReduction="20000"/>
          </a:bodyPr>
          <a:lstStyle/>
          <a:p>
            <a:pPr marL="0" indent="0">
              <a:buNone/>
            </a:pPr>
            <a:r>
              <a:rPr lang="en-US" sz="2800" dirty="0">
                <a:latin typeface="Bell MT" panose="02020503060305020303" pitchFamily="18" charset="0"/>
              </a:rPr>
              <a:t>Synthesis is the process of converting the Verilog RTL code into actual FPGA hardware components such as LUTs, Flip-Flops, DSPs, BRAMs, Multiplexers, and Carry Chains.</a:t>
            </a:r>
          </a:p>
        </p:txBody>
      </p:sp>
      <p:sp>
        <p:nvSpPr>
          <p:cNvPr id="5" name="TextBox 4">
            <a:extLst>
              <a:ext uri="{FF2B5EF4-FFF2-40B4-BE49-F238E27FC236}">
                <a16:creationId xmlns:a16="http://schemas.microsoft.com/office/drawing/2014/main" id="{4EDD0C42-09D8-4F59-41D8-E842482414BB}"/>
              </a:ext>
            </a:extLst>
          </p:cNvPr>
          <p:cNvSpPr txBox="1"/>
          <p:nvPr/>
        </p:nvSpPr>
        <p:spPr>
          <a:xfrm>
            <a:off x="1204562" y="2897885"/>
            <a:ext cx="6149788" cy="2862322"/>
          </a:xfrm>
          <a:prstGeom prst="rect">
            <a:avLst/>
          </a:prstGeom>
          <a:noFill/>
        </p:spPr>
        <p:txBody>
          <a:bodyPr wrap="square">
            <a:spAutoFit/>
          </a:bodyPr>
          <a:lstStyle/>
          <a:p>
            <a:pPr>
              <a:buNone/>
            </a:pPr>
            <a:r>
              <a:rPr lang="en-US" sz="2000" b="1" dirty="0">
                <a:latin typeface="Bell MT" panose="02020503060305020303" pitchFamily="18" charset="0"/>
              </a:rPr>
              <a:t>What happens during synthesis?</a:t>
            </a:r>
          </a:p>
          <a:p>
            <a:pPr>
              <a:buNone/>
            </a:pPr>
            <a:endParaRPr lang="en-US" sz="2000" b="1" dirty="0">
              <a:latin typeface="Bell MT" panose="02020503060305020303" pitchFamily="18" charset="0"/>
            </a:endParaRPr>
          </a:p>
          <a:p>
            <a:pPr>
              <a:buNone/>
            </a:pPr>
            <a:r>
              <a:rPr lang="en-US" sz="2000" dirty="0">
                <a:latin typeface="Bell MT" panose="02020503060305020303" pitchFamily="18" charset="0"/>
              </a:rPr>
              <a:t>Vivado performs several tasks:</a:t>
            </a:r>
          </a:p>
          <a:p>
            <a:pPr marL="342900" indent="-342900">
              <a:buFont typeface="Arial" panose="020B0604020202020204" pitchFamily="34" charset="0"/>
              <a:buChar char="•"/>
            </a:pPr>
            <a:r>
              <a:rPr lang="en-US" sz="2000" dirty="0">
                <a:latin typeface="Bell MT" panose="02020503060305020303" pitchFamily="18" charset="0"/>
              </a:rPr>
              <a:t>Reads all Verilog modules. </a:t>
            </a:r>
          </a:p>
          <a:p>
            <a:pPr marL="342900" indent="-342900">
              <a:buFont typeface="Arial" panose="020B0604020202020204" pitchFamily="34" charset="0"/>
              <a:buChar char="•"/>
            </a:pPr>
            <a:r>
              <a:rPr lang="en-US" sz="2000" dirty="0">
                <a:latin typeface="Bell MT" panose="02020503060305020303" pitchFamily="18" charset="0"/>
              </a:rPr>
              <a:t>Optimizes the logic. </a:t>
            </a:r>
          </a:p>
          <a:p>
            <a:pPr marL="342900" indent="-342900">
              <a:buFont typeface="Arial" panose="020B0604020202020204" pitchFamily="34" charset="0"/>
              <a:buChar char="•"/>
            </a:pPr>
            <a:r>
              <a:rPr lang="en-US" sz="2000" dirty="0">
                <a:latin typeface="Bell MT" panose="02020503060305020303" pitchFamily="18" charset="0"/>
              </a:rPr>
              <a:t>Removes unused hardware. </a:t>
            </a:r>
          </a:p>
          <a:p>
            <a:pPr marL="342900" indent="-342900">
              <a:buFont typeface="Arial" panose="020B0604020202020204" pitchFamily="34" charset="0"/>
              <a:buChar char="•"/>
            </a:pPr>
            <a:r>
              <a:rPr lang="en-US" sz="2000" dirty="0">
                <a:latin typeface="Bell MT" panose="02020503060305020303" pitchFamily="18" charset="0"/>
              </a:rPr>
              <a:t>Simplifies Boolean expressions. </a:t>
            </a:r>
          </a:p>
          <a:p>
            <a:pPr marL="342900" indent="-342900">
              <a:buFont typeface="Arial" panose="020B0604020202020204" pitchFamily="34" charset="0"/>
              <a:buChar char="•"/>
            </a:pPr>
            <a:r>
              <a:rPr lang="en-US" sz="2000" dirty="0">
                <a:latin typeface="Bell MT" panose="02020503060305020303" pitchFamily="18" charset="0"/>
              </a:rPr>
              <a:t>Infers FPGA resources (LUTs, FFs, DSPs, BRAMs). </a:t>
            </a:r>
          </a:p>
          <a:p>
            <a:pPr marL="342900" indent="-342900">
              <a:buFont typeface="Arial" panose="020B0604020202020204" pitchFamily="34" charset="0"/>
              <a:buChar char="•"/>
            </a:pPr>
            <a:r>
              <a:rPr lang="en-US" sz="2000" dirty="0">
                <a:latin typeface="Bell MT" panose="02020503060305020303" pitchFamily="18" charset="0"/>
              </a:rPr>
              <a:t>Generates a technology-specific netlist.</a:t>
            </a:r>
          </a:p>
        </p:txBody>
      </p:sp>
    </p:spTree>
    <p:extLst>
      <p:ext uri="{BB962C8B-B14F-4D97-AF65-F5344CB8AC3E}">
        <p14:creationId xmlns:p14="http://schemas.microsoft.com/office/powerpoint/2010/main" val="700800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34534-E3E1-7199-1346-14E266797F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C55A1D-C6B6-9D7A-461C-6CE25E631A0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F52E49A-89CB-147A-1EFE-3CA9AE1166B2}"/>
              </a:ext>
            </a:extLst>
          </p:cNvPr>
          <p:cNvPicPr>
            <a:picLocks noChangeAspect="1"/>
          </p:cNvPicPr>
          <p:nvPr/>
        </p:nvPicPr>
        <p:blipFill>
          <a:blip r:embed="rId2"/>
          <a:stretch>
            <a:fillRect/>
          </a:stretch>
        </p:blipFill>
        <p:spPr>
          <a:xfrm>
            <a:off x="0" y="33370"/>
            <a:ext cx="12192000" cy="6791259"/>
          </a:xfrm>
          <a:prstGeom prst="rect">
            <a:avLst/>
          </a:prstGeom>
        </p:spPr>
      </p:pic>
    </p:spTree>
    <p:extLst>
      <p:ext uri="{BB962C8B-B14F-4D97-AF65-F5344CB8AC3E}">
        <p14:creationId xmlns:p14="http://schemas.microsoft.com/office/powerpoint/2010/main" val="733670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0976C-D528-6E09-400F-E88B60152C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1D4F2AA-9748-32CC-7E24-C9ED8C44DD9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27EF981-25D2-1608-D842-3C7833B5732E}"/>
              </a:ext>
            </a:extLst>
          </p:cNvPr>
          <p:cNvPicPr>
            <a:picLocks noChangeAspect="1"/>
          </p:cNvPicPr>
          <p:nvPr/>
        </p:nvPicPr>
        <p:blipFill>
          <a:blip r:embed="rId2"/>
          <a:stretch>
            <a:fillRect/>
          </a:stretch>
        </p:blipFill>
        <p:spPr>
          <a:xfrm>
            <a:off x="0" y="30345"/>
            <a:ext cx="12192000" cy="6797310"/>
          </a:xfrm>
          <a:prstGeom prst="rect">
            <a:avLst/>
          </a:prstGeom>
        </p:spPr>
      </p:pic>
    </p:spTree>
    <p:extLst>
      <p:ext uri="{BB962C8B-B14F-4D97-AF65-F5344CB8AC3E}">
        <p14:creationId xmlns:p14="http://schemas.microsoft.com/office/powerpoint/2010/main" val="1966045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B0687-967D-16CB-D77A-35CF7BACB5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2232E5-DC66-56CD-CED8-0441C38EEF5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A83E113-4275-185C-B4F9-0D3C4DA970FB}"/>
              </a:ext>
            </a:extLst>
          </p:cNvPr>
          <p:cNvPicPr>
            <a:picLocks noChangeAspect="1"/>
          </p:cNvPicPr>
          <p:nvPr/>
        </p:nvPicPr>
        <p:blipFill>
          <a:blip r:embed="rId2"/>
          <a:stretch>
            <a:fillRect/>
          </a:stretch>
        </p:blipFill>
        <p:spPr>
          <a:xfrm>
            <a:off x="0" y="21847"/>
            <a:ext cx="12192000" cy="6814306"/>
          </a:xfrm>
          <a:prstGeom prst="rect">
            <a:avLst/>
          </a:prstGeom>
        </p:spPr>
      </p:pic>
    </p:spTree>
    <p:extLst>
      <p:ext uri="{BB962C8B-B14F-4D97-AF65-F5344CB8AC3E}">
        <p14:creationId xmlns:p14="http://schemas.microsoft.com/office/powerpoint/2010/main" val="1944684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9580F-2294-A05E-2F5B-724470C16CE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2183B3A-C65B-8A2C-1662-F79084B45C7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5FD39C9-30AE-52AC-7907-01CD87EF0CA7}"/>
              </a:ext>
            </a:extLst>
          </p:cNvPr>
          <p:cNvPicPr>
            <a:picLocks noChangeAspect="1"/>
          </p:cNvPicPr>
          <p:nvPr/>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EDD6829D-B744-843C-80E1-ABF3C9F74B25}"/>
              </a:ext>
            </a:extLst>
          </p:cNvPr>
          <p:cNvSpPr txBox="1"/>
          <p:nvPr/>
        </p:nvSpPr>
        <p:spPr>
          <a:xfrm>
            <a:off x="2611808" y="1885285"/>
            <a:ext cx="2551863" cy="954107"/>
          </a:xfrm>
          <a:prstGeom prst="rect">
            <a:avLst/>
          </a:prstGeom>
          <a:noFill/>
        </p:spPr>
        <p:txBody>
          <a:bodyPr wrap="square" rtlCol="0">
            <a:spAutoFit/>
          </a:bodyPr>
          <a:lstStyle/>
          <a:p>
            <a:r>
              <a:rPr lang="en-US" sz="2800" dirty="0">
                <a:latin typeface="Bell MT" panose="02020503060305020303" pitchFamily="18" charset="0"/>
              </a:rPr>
              <a:t>Device view of FPGA chip</a:t>
            </a:r>
          </a:p>
        </p:txBody>
      </p:sp>
    </p:spTree>
    <p:extLst>
      <p:ext uri="{BB962C8B-B14F-4D97-AF65-F5344CB8AC3E}">
        <p14:creationId xmlns:p14="http://schemas.microsoft.com/office/powerpoint/2010/main" val="2143209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4C98C-D6AE-3934-84DD-2F01D05961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B4B27C-6E76-067B-C993-BF07F6F27B4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240FC4C-9305-0D87-196C-2A925194AD3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713973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8A031-3376-A6DD-ACF6-6571D9C983C1}"/>
              </a:ext>
            </a:extLst>
          </p:cNvPr>
          <p:cNvSpPr>
            <a:spLocks noGrp="1"/>
          </p:cNvSpPr>
          <p:nvPr>
            <p:ph type="title"/>
          </p:nvPr>
        </p:nvSpPr>
        <p:spPr>
          <a:xfrm>
            <a:off x="1717728" y="2351771"/>
            <a:ext cx="8950272" cy="1844309"/>
          </a:xfrm>
        </p:spPr>
        <p:txBody>
          <a:bodyPr>
            <a:normAutofit/>
          </a:bodyPr>
          <a:lstStyle/>
          <a:p>
            <a:pPr algn="ctr"/>
            <a:r>
              <a:rPr lang="en-US" sz="6000" dirty="0">
                <a:latin typeface="Bell MT" panose="02020503060305020303" pitchFamily="18" charset="0"/>
              </a:rPr>
              <a:t>NOW LET’S RUN IMPLEMENTATION</a:t>
            </a:r>
          </a:p>
        </p:txBody>
      </p:sp>
    </p:spTree>
    <p:extLst>
      <p:ext uri="{BB962C8B-B14F-4D97-AF65-F5344CB8AC3E}">
        <p14:creationId xmlns:p14="http://schemas.microsoft.com/office/powerpoint/2010/main" val="2243096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A2DD0-CF81-4884-AAEE-BC357585D8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1FC9FA9-98BE-B608-8A3E-17DD22E41AD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750D77C-986A-B466-26CD-34BC92497EDC}"/>
              </a:ext>
            </a:extLst>
          </p:cNvPr>
          <p:cNvPicPr>
            <a:picLocks noChangeAspect="1"/>
          </p:cNvPicPr>
          <p:nvPr/>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5C9CFB45-5983-7B87-06A2-C7ACBC1747BD}"/>
              </a:ext>
            </a:extLst>
          </p:cNvPr>
          <p:cNvSpPr txBox="1"/>
          <p:nvPr/>
        </p:nvSpPr>
        <p:spPr>
          <a:xfrm>
            <a:off x="2316480" y="1727200"/>
            <a:ext cx="3210560" cy="1569660"/>
          </a:xfrm>
          <a:prstGeom prst="rect">
            <a:avLst/>
          </a:prstGeom>
          <a:noFill/>
        </p:spPr>
        <p:txBody>
          <a:bodyPr wrap="square" rtlCol="0">
            <a:spAutoFit/>
          </a:bodyPr>
          <a:lstStyle/>
          <a:p>
            <a:r>
              <a:rPr lang="en-US" sz="3200" dirty="0">
                <a:latin typeface="Bell MT" panose="02020503060305020303" pitchFamily="18" charset="0"/>
              </a:rPr>
              <a:t>Device view of FPGA after Implementation </a:t>
            </a:r>
          </a:p>
        </p:txBody>
      </p:sp>
    </p:spTree>
    <p:extLst>
      <p:ext uri="{BB962C8B-B14F-4D97-AF65-F5344CB8AC3E}">
        <p14:creationId xmlns:p14="http://schemas.microsoft.com/office/powerpoint/2010/main" val="1180021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3A52-2872-DF57-85BF-3A5CEA863E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47075A-75B1-664C-3EB6-B1F462EF7BB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83CE764-B55B-A915-7AB7-FB4B912825BC}"/>
              </a:ext>
            </a:extLst>
          </p:cNvPr>
          <p:cNvPicPr>
            <a:picLocks noChangeAspect="1"/>
          </p:cNvPicPr>
          <p:nvPr/>
        </p:nvPicPr>
        <p:blipFill>
          <a:blip r:embed="rId2"/>
          <a:stretch>
            <a:fillRect/>
          </a:stretch>
        </p:blipFill>
        <p:spPr>
          <a:xfrm>
            <a:off x="0" y="35073"/>
            <a:ext cx="12192000" cy="6787854"/>
          </a:xfrm>
          <a:prstGeom prst="rect">
            <a:avLst/>
          </a:prstGeom>
        </p:spPr>
      </p:pic>
      <p:sp>
        <p:nvSpPr>
          <p:cNvPr id="6" name="TextBox 5">
            <a:extLst>
              <a:ext uri="{FF2B5EF4-FFF2-40B4-BE49-F238E27FC236}">
                <a16:creationId xmlns:a16="http://schemas.microsoft.com/office/drawing/2014/main" id="{5DC8D1DE-DC06-1C26-D55A-9140F31B7F25}"/>
              </a:ext>
            </a:extLst>
          </p:cNvPr>
          <p:cNvSpPr txBox="1"/>
          <p:nvPr/>
        </p:nvSpPr>
        <p:spPr>
          <a:xfrm>
            <a:off x="843280" y="808056"/>
            <a:ext cx="3119120" cy="1569660"/>
          </a:xfrm>
          <a:prstGeom prst="rect">
            <a:avLst/>
          </a:prstGeom>
          <a:noFill/>
        </p:spPr>
        <p:txBody>
          <a:bodyPr wrap="square" rtlCol="0">
            <a:spAutoFit/>
          </a:bodyPr>
          <a:lstStyle/>
          <a:p>
            <a:r>
              <a:rPr lang="en-US" sz="3200" dirty="0">
                <a:solidFill>
                  <a:schemeClr val="bg1"/>
                </a:solidFill>
                <a:latin typeface="Bell MT" panose="02020503060305020303" pitchFamily="18" charset="0"/>
              </a:rPr>
              <a:t>Data flow design after Implementation </a:t>
            </a:r>
          </a:p>
        </p:txBody>
      </p:sp>
    </p:spTree>
    <p:extLst>
      <p:ext uri="{BB962C8B-B14F-4D97-AF65-F5344CB8AC3E}">
        <p14:creationId xmlns:p14="http://schemas.microsoft.com/office/powerpoint/2010/main" val="3951193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18B3A-8E3E-C75F-871A-7BD9F713938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7BFB62-BDCE-FE75-35CD-5C7CA7EA9CB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4ED9286-6402-7E82-D945-2049CA8A7DCE}"/>
              </a:ext>
            </a:extLst>
          </p:cNvPr>
          <p:cNvPicPr>
            <a:picLocks noChangeAspect="1"/>
          </p:cNvPicPr>
          <p:nvPr/>
        </p:nvPicPr>
        <p:blipFill>
          <a:blip r:embed="rId2"/>
          <a:stretch>
            <a:fillRect/>
          </a:stretch>
        </p:blipFill>
        <p:spPr>
          <a:xfrm>
            <a:off x="119743" y="0"/>
            <a:ext cx="11952514" cy="6858000"/>
          </a:xfrm>
          <a:prstGeom prst="rect">
            <a:avLst/>
          </a:prstGeom>
        </p:spPr>
      </p:pic>
      <p:sp>
        <p:nvSpPr>
          <p:cNvPr id="6" name="TextBox 5">
            <a:extLst>
              <a:ext uri="{FF2B5EF4-FFF2-40B4-BE49-F238E27FC236}">
                <a16:creationId xmlns:a16="http://schemas.microsoft.com/office/drawing/2014/main" id="{D74990B6-B4D2-DA30-90C3-20A3309C21F8}"/>
              </a:ext>
            </a:extLst>
          </p:cNvPr>
          <p:cNvSpPr txBox="1"/>
          <p:nvPr/>
        </p:nvSpPr>
        <p:spPr>
          <a:xfrm>
            <a:off x="2519680" y="2372024"/>
            <a:ext cx="7233920" cy="369332"/>
          </a:xfrm>
          <a:prstGeom prst="rect">
            <a:avLst/>
          </a:prstGeom>
          <a:noFill/>
        </p:spPr>
        <p:txBody>
          <a:bodyPr wrap="square" rtlCol="0">
            <a:spAutoFit/>
          </a:bodyPr>
          <a:lstStyle/>
          <a:p>
            <a:r>
              <a:rPr lang="en-US" dirty="0">
                <a:solidFill>
                  <a:schemeClr val="bg1"/>
                </a:solidFill>
              </a:rPr>
              <a:t>Timing summary after implementation </a:t>
            </a:r>
          </a:p>
        </p:txBody>
      </p:sp>
    </p:spTree>
    <p:extLst>
      <p:ext uri="{BB962C8B-B14F-4D97-AF65-F5344CB8AC3E}">
        <p14:creationId xmlns:p14="http://schemas.microsoft.com/office/powerpoint/2010/main" val="2659023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3B932-339A-014A-2BFD-0CE8D456DF09}"/>
              </a:ext>
            </a:extLst>
          </p:cNvPr>
          <p:cNvSpPr>
            <a:spLocks noGrp="1"/>
          </p:cNvSpPr>
          <p:nvPr>
            <p:ph type="title"/>
          </p:nvPr>
        </p:nvSpPr>
        <p:spPr>
          <a:xfrm>
            <a:off x="1341808" y="706456"/>
            <a:ext cx="7958331" cy="1077229"/>
          </a:xfrm>
        </p:spPr>
        <p:txBody>
          <a:bodyPr/>
          <a:lstStyle/>
          <a:p>
            <a:pPr algn="ctr"/>
            <a:r>
              <a:rPr lang="en-US" dirty="0">
                <a:latin typeface="Bell MT" panose="02020503060305020303" pitchFamily="18" charset="0"/>
              </a:rPr>
              <a:t>Difference between Synthesis and Implementation</a:t>
            </a:r>
          </a:p>
        </p:txBody>
      </p:sp>
      <p:graphicFrame>
        <p:nvGraphicFramePr>
          <p:cNvPr id="4" name="Content Placeholder 3">
            <a:extLst>
              <a:ext uri="{FF2B5EF4-FFF2-40B4-BE49-F238E27FC236}">
                <a16:creationId xmlns:a16="http://schemas.microsoft.com/office/drawing/2014/main" id="{2AF0FE98-B087-B692-8679-537FD266DE9C}"/>
              </a:ext>
            </a:extLst>
          </p:cNvPr>
          <p:cNvGraphicFramePr>
            <a:graphicFrameLocks noGrp="1"/>
          </p:cNvGraphicFramePr>
          <p:nvPr>
            <p:ph idx="1"/>
            <p:extLst>
              <p:ext uri="{D42A27DB-BD31-4B8C-83A1-F6EECF244321}">
                <p14:modId xmlns:p14="http://schemas.microsoft.com/office/powerpoint/2010/main" val="3874060670"/>
              </p:ext>
            </p:extLst>
          </p:nvPr>
        </p:nvGraphicFramePr>
        <p:xfrm>
          <a:off x="1476251" y="1894236"/>
          <a:ext cx="8270240" cy="4135388"/>
        </p:xfrm>
        <a:graphic>
          <a:graphicData uri="http://schemas.openxmlformats.org/drawingml/2006/table">
            <a:tbl>
              <a:tblPr firstRow="1">
                <a:tableStyleId>{69C7853C-536D-4A76-A0AE-DD22124D55A5}</a:tableStyleId>
              </a:tblPr>
              <a:tblGrid>
                <a:gridCol w="3885880">
                  <a:extLst>
                    <a:ext uri="{9D8B030D-6E8A-4147-A177-3AD203B41FA5}">
                      <a16:colId xmlns:a16="http://schemas.microsoft.com/office/drawing/2014/main" val="2404696784"/>
                    </a:ext>
                  </a:extLst>
                </a:gridCol>
                <a:gridCol w="4384360">
                  <a:extLst>
                    <a:ext uri="{9D8B030D-6E8A-4147-A177-3AD203B41FA5}">
                      <a16:colId xmlns:a16="http://schemas.microsoft.com/office/drawing/2014/main" val="2157632910"/>
                    </a:ext>
                  </a:extLst>
                </a:gridCol>
              </a:tblGrid>
              <a:tr h="551385">
                <a:tc>
                  <a:txBody>
                    <a:bodyPr/>
                    <a:lstStyle/>
                    <a:p>
                      <a:pPr>
                        <a:buNone/>
                      </a:pPr>
                      <a:r>
                        <a:rPr lang="en-US" dirty="0"/>
                        <a:t>Synthesis</a:t>
                      </a:r>
                    </a:p>
                  </a:txBody>
                  <a:tcPr anchor="ctr"/>
                </a:tc>
                <a:tc>
                  <a:txBody>
                    <a:bodyPr/>
                    <a:lstStyle/>
                    <a:p>
                      <a:pPr>
                        <a:buNone/>
                      </a:pPr>
                      <a:r>
                        <a:rPr lang="en-US"/>
                        <a:t>Implementation</a:t>
                      </a:r>
                    </a:p>
                  </a:txBody>
                  <a:tcPr anchor="ctr"/>
                </a:tc>
                <a:extLst>
                  <a:ext uri="{0D108BD9-81ED-4DB2-BD59-A6C34878D82A}">
                    <a16:rowId xmlns:a16="http://schemas.microsoft.com/office/drawing/2014/main" val="219822918"/>
                  </a:ext>
                </a:extLst>
              </a:tr>
              <a:tr h="964924">
                <a:tc>
                  <a:txBody>
                    <a:bodyPr/>
                    <a:lstStyle/>
                    <a:p>
                      <a:pPr>
                        <a:buNone/>
                      </a:pPr>
                      <a:r>
                        <a:rPr lang="en-US" dirty="0"/>
                        <a:t>Converts Verilog into FPGA resources</a:t>
                      </a:r>
                    </a:p>
                  </a:txBody>
                  <a:tcPr anchor="ctr"/>
                </a:tc>
                <a:tc>
                  <a:txBody>
                    <a:bodyPr/>
                    <a:lstStyle/>
                    <a:p>
                      <a:pPr>
                        <a:buNone/>
                      </a:pPr>
                      <a:r>
                        <a:rPr lang="en-US"/>
                        <a:t>Places those resources on the FPGA</a:t>
                      </a:r>
                    </a:p>
                  </a:txBody>
                  <a:tcPr anchor="ctr"/>
                </a:tc>
                <a:extLst>
                  <a:ext uri="{0D108BD9-81ED-4DB2-BD59-A6C34878D82A}">
                    <a16:rowId xmlns:a16="http://schemas.microsoft.com/office/drawing/2014/main" val="2908355792"/>
                  </a:ext>
                </a:extLst>
              </a:tr>
              <a:tr h="551385">
                <a:tc>
                  <a:txBody>
                    <a:bodyPr/>
                    <a:lstStyle/>
                    <a:p>
                      <a:pPr>
                        <a:buNone/>
                      </a:pPr>
                      <a:r>
                        <a:rPr lang="en-US"/>
                        <a:t>Creates netlist</a:t>
                      </a:r>
                    </a:p>
                  </a:txBody>
                  <a:tcPr anchor="ctr"/>
                </a:tc>
                <a:tc>
                  <a:txBody>
                    <a:bodyPr/>
                    <a:lstStyle/>
                    <a:p>
                      <a:pPr>
                        <a:buNone/>
                      </a:pPr>
                      <a:r>
                        <a:rPr lang="en-US"/>
                        <a:t>Creates physical layout</a:t>
                      </a:r>
                    </a:p>
                  </a:txBody>
                  <a:tcPr anchor="ctr"/>
                </a:tc>
                <a:extLst>
                  <a:ext uri="{0D108BD9-81ED-4DB2-BD59-A6C34878D82A}">
                    <a16:rowId xmlns:a16="http://schemas.microsoft.com/office/drawing/2014/main" val="2535807141"/>
                  </a:ext>
                </a:extLst>
              </a:tr>
              <a:tr h="964924">
                <a:tc>
                  <a:txBody>
                    <a:bodyPr/>
                    <a:lstStyle/>
                    <a:p>
                      <a:pPr>
                        <a:buNone/>
                      </a:pPr>
                      <a:r>
                        <a:rPr lang="en-US"/>
                        <a:t>Maps logic to LUTs, FFs, DSPs</a:t>
                      </a:r>
                    </a:p>
                  </a:txBody>
                  <a:tcPr anchor="ctr"/>
                </a:tc>
                <a:tc>
                  <a:txBody>
                    <a:bodyPr/>
                    <a:lstStyle/>
                    <a:p>
                      <a:pPr>
                        <a:buNone/>
                      </a:pPr>
                      <a:r>
                        <a:rPr lang="en-US"/>
                        <a:t>Maps LUTs, FFs, DSPs to exact locations</a:t>
                      </a:r>
                    </a:p>
                  </a:txBody>
                  <a:tcPr anchor="ctr"/>
                </a:tc>
                <a:extLst>
                  <a:ext uri="{0D108BD9-81ED-4DB2-BD59-A6C34878D82A}">
                    <a16:rowId xmlns:a16="http://schemas.microsoft.com/office/drawing/2014/main" val="1298432504"/>
                  </a:ext>
                </a:extLst>
              </a:tr>
              <a:tr h="551385">
                <a:tc>
                  <a:txBody>
                    <a:bodyPr/>
                    <a:lstStyle/>
                    <a:p>
                      <a:pPr>
                        <a:buNone/>
                      </a:pPr>
                      <a:r>
                        <a:rPr lang="en-US"/>
                        <a:t>Estimates timing</a:t>
                      </a:r>
                    </a:p>
                  </a:txBody>
                  <a:tcPr anchor="ctr"/>
                </a:tc>
                <a:tc>
                  <a:txBody>
                    <a:bodyPr/>
                    <a:lstStyle/>
                    <a:p>
                      <a:pPr>
                        <a:buNone/>
                      </a:pPr>
                      <a:r>
                        <a:rPr lang="en-US"/>
                        <a:t>Calculates final timing</a:t>
                      </a:r>
                    </a:p>
                  </a:txBody>
                  <a:tcPr anchor="ctr"/>
                </a:tc>
                <a:extLst>
                  <a:ext uri="{0D108BD9-81ED-4DB2-BD59-A6C34878D82A}">
                    <a16:rowId xmlns:a16="http://schemas.microsoft.com/office/drawing/2014/main" val="2496305721"/>
                  </a:ext>
                </a:extLst>
              </a:tr>
              <a:tr h="551385">
                <a:tc>
                  <a:txBody>
                    <a:bodyPr/>
                    <a:lstStyle/>
                    <a:p>
                      <a:pPr>
                        <a:buNone/>
                      </a:pPr>
                      <a:r>
                        <a:rPr lang="en-US"/>
                        <a:t>No routing</a:t>
                      </a:r>
                    </a:p>
                  </a:txBody>
                  <a:tcPr anchor="ctr"/>
                </a:tc>
                <a:tc>
                  <a:txBody>
                    <a:bodyPr/>
                    <a:lstStyle/>
                    <a:p>
                      <a:pPr>
                        <a:buNone/>
                      </a:pPr>
                      <a:r>
                        <a:rPr lang="en-US" dirty="0"/>
                        <a:t>Routing completed</a:t>
                      </a:r>
                    </a:p>
                  </a:txBody>
                  <a:tcPr anchor="ctr"/>
                </a:tc>
                <a:extLst>
                  <a:ext uri="{0D108BD9-81ED-4DB2-BD59-A6C34878D82A}">
                    <a16:rowId xmlns:a16="http://schemas.microsoft.com/office/drawing/2014/main" val="1006356432"/>
                  </a:ext>
                </a:extLst>
              </a:tr>
            </a:tbl>
          </a:graphicData>
        </a:graphic>
      </p:graphicFrame>
    </p:spTree>
    <p:extLst>
      <p:ext uri="{BB962C8B-B14F-4D97-AF65-F5344CB8AC3E}">
        <p14:creationId xmlns:p14="http://schemas.microsoft.com/office/powerpoint/2010/main" val="5290474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E4180-9E0D-454B-A3CE-D5E47C9CCA07}"/>
              </a:ext>
            </a:extLst>
          </p:cNvPr>
          <p:cNvSpPr>
            <a:spLocks noGrp="1"/>
          </p:cNvSpPr>
          <p:nvPr>
            <p:ph type="title"/>
          </p:nvPr>
        </p:nvSpPr>
        <p:spPr>
          <a:xfrm>
            <a:off x="1230048" y="808056"/>
            <a:ext cx="7958331" cy="1077229"/>
          </a:xfrm>
        </p:spPr>
        <p:txBody>
          <a:bodyPr/>
          <a:lstStyle/>
          <a:p>
            <a:pPr algn="ctr"/>
            <a:r>
              <a:rPr lang="en-US" dirty="0">
                <a:latin typeface="Bell MT" panose="02020503060305020303" pitchFamily="18" charset="0"/>
              </a:rPr>
              <a:t>Difference between Synthesized and Implemented Schematic</a:t>
            </a:r>
          </a:p>
        </p:txBody>
      </p:sp>
      <p:graphicFrame>
        <p:nvGraphicFramePr>
          <p:cNvPr id="4" name="Content Placeholder 3">
            <a:extLst>
              <a:ext uri="{FF2B5EF4-FFF2-40B4-BE49-F238E27FC236}">
                <a16:creationId xmlns:a16="http://schemas.microsoft.com/office/drawing/2014/main" id="{A12A65A0-24C4-211D-8180-5D5589892F61}"/>
              </a:ext>
            </a:extLst>
          </p:cNvPr>
          <p:cNvGraphicFramePr>
            <a:graphicFrameLocks noGrp="1"/>
          </p:cNvGraphicFramePr>
          <p:nvPr>
            <p:ph idx="1"/>
            <p:extLst>
              <p:ext uri="{D42A27DB-BD31-4B8C-83A1-F6EECF244321}">
                <p14:modId xmlns:p14="http://schemas.microsoft.com/office/powerpoint/2010/main" val="963098719"/>
              </p:ext>
            </p:extLst>
          </p:nvPr>
        </p:nvGraphicFramePr>
        <p:xfrm>
          <a:off x="1230048" y="2153920"/>
          <a:ext cx="9874832" cy="4114800"/>
        </p:xfrm>
        <a:graphic>
          <a:graphicData uri="http://schemas.openxmlformats.org/drawingml/2006/table">
            <a:tbl>
              <a:tblPr firstRow="1">
                <a:tableStyleId>{69C7853C-536D-4A76-A0AE-DD22124D55A5}</a:tableStyleId>
              </a:tblPr>
              <a:tblGrid>
                <a:gridCol w="4937416">
                  <a:extLst>
                    <a:ext uri="{9D8B030D-6E8A-4147-A177-3AD203B41FA5}">
                      <a16:colId xmlns:a16="http://schemas.microsoft.com/office/drawing/2014/main" val="179484912"/>
                    </a:ext>
                  </a:extLst>
                </a:gridCol>
                <a:gridCol w="4937416">
                  <a:extLst>
                    <a:ext uri="{9D8B030D-6E8A-4147-A177-3AD203B41FA5}">
                      <a16:colId xmlns:a16="http://schemas.microsoft.com/office/drawing/2014/main" val="3150131849"/>
                    </a:ext>
                  </a:extLst>
                </a:gridCol>
              </a:tblGrid>
              <a:tr h="685800">
                <a:tc>
                  <a:txBody>
                    <a:bodyPr/>
                    <a:lstStyle/>
                    <a:p>
                      <a:pPr>
                        <a:buNone/>
                      </a:pPr>
                      <a:r>
                        <a:rPr lang="en-US" dirty="0"/>
                        <a:t>Synthesized Schematic</a:t>
                      </a:r>
                    </a:p>
                  </a:txBody>
                  <a:tcPr anchor="ctr"/>
                </a:tc>
                <a:tc>
                  <a:txBody>
                    <a:bodyPr/>
                    <a:lstStyle/>
                    <a:p>
                      <a:pPr>
                        <a:buNone/>
                      </a:pPr>
                      <a:r>
                        <a:rPr lang="en-US" dirty="0"/>
                        <a:t>Implemented Schematic</a:t>
                      </a:r>
                    </a:p>
                  </a:txBody>
                  <a:tcPr anchor="ctr"/>
                </a:tc>
                <a:extLst>
                  <a:ext uri="{0D108BD9-81ED-4DB2-BD59-A6C34878D82A}">
                    <a16:rowId xmlns:a16="http://schemas.microsoft.com/office/drawing/2014/main" val="733474551"/>
                  </a:ext>
                </a:extLst>
              </a:tr>
              <a:tr h="685800">
                <a:tc>
                  <a:txBody>
                    <a:bodyPr/>
                    <a:lstStyle/>
                    <a:p>
                      <a:pPr>
                        <a:buNone/>
                      </a:pPr>
                      <a:r>
                        <a:rPr lang="en-US"/>
                        <a:t>Shows logical hardware</a:t>
                      </a:r>
                    </a:p>
                  </a:txBody>
                  <a:tcPr anchor="ctr"/>
                </a:tc>
                <a:tc>
                  <a:txBody>
                    <a:bodyPr/>
                    <a:lstStyle/>
                    <a:p>
                      <a:pPr>
                        <a:buNone/>
                      </a:pPr>
                      <a:r>
                        <a:rPr lang="en-US"/>
                        <a:t>Shows placed and routed hardware</a:t>
                      </a:r>
                    </a:p>
                  </a:txBody>
                  <a:tcPr anchor="ctr"/>
                </a:tc>
                <a:extLst>
                  <a:ext uri="{0D108BD9-81ED-4DB2-BD59-A6C34878D82A}">
                    <a16:rowId xmlns:a16="http://schemas.microsoft.com/office/drawing/2014/main" val="2956641823"/>
                  </a:ext>
                </a:extLst>
              </a:tr>
              <a:tr h="685800">
                <a:tc>
                  <a:txBody>
                    <a:bodyPr/>
                    <a:lstStyle/>
                    <a:p>
                      <a:pPr>
                        <a:buNone/>
                      </a:pPr>
                      <a:r>
                        <a:rPr lang="en-US"/>
                        <a:t>FPGA primitives inferred</a:t>
                      </a:r>
                    </a:p>
                  </a:txBody>
                  <a:tcPr anchor="ctr"/>
                </a:tc>
                <a:tc>
                  <a:txBody>
                    <a:bodyPr/>
                    <a:lstStyle/>
                    <a:p>
                      <a:pPr>
                        <a:buNone/>
                      </a:pPr>
                      <a:r>
                        <a:rPr lang="en-US"/>
                        <a:t>FPGA primitives physically located</a:t>
                      </a:r>
                    </a:p>
                  </a:txBody>
                  <a:tcPr anchor="ctr"/>
                </a:tc>
                <a:extLst>
                  <a:ext uri="{0D108BD9-81ED-4DB2-BD59-A6C34878D82A}">
                    <a16:rowId xmlns:a16="http://schemas.microsoft.com/office/drawing/2014/main" val="2564870361"/>
                  </a:ext>
                </a:extLst>
              </a:tr>
              <a:tr h="685800">
                <a:tc>
                  <a:txBody>
                    <a:bodyPr/>
                    <a:lstStyle/>
                    <a:p>
                      <a:pPr>
                        <a:buNone/>
                      </a:pPr>
                      <a:r>
                        <a:rPr lang="en-US"/>
                        <a:t>No routing</a:t>
                      </a:r>
                    </a:p>
                  </a:txBody>
                  <a:tcPr anchor="ctr"/>
                </a:tc>
                <a:tc>
                  <a:txBody>
                    <a:bodyPr/>
                    <a:lstStyle/>
                    <a:p>
                      <a:pPr>
                        <a:buNone/>
                      </a:pPr>
                      <a:r>
                        <a:rPr lang="en-US"/>
                        <a:t>Routing completed</a:t>
                      </a:r>
                    </a:p>
                  </a:txBody>
                  <a:tcPr anchor="ctr"/>
                </a:tc>
                <a:extLst>
                  <a:ext uri="{0D108BD9-81ED-4DB2-BD59-A6C34878D82A}">
                    <a16:rowId xmlns:a16="http://schemas.microsoft.com/office/drawing/2014/main" val="2248213207"/>
                  </a:ext>
                </a:extLst>
              </a:tr>
              <a:tr h="685800">
                <a:tc>
                  <a:txBody>
                    <a:bodyPr/>
                    <a:lstStyle/>
                    <a:p>
                      <a:pPr>
                        <a:buNone/>
                      </a:pPr>
                      <a:r>
                        <a:rPr lang="en-US"/>
                        <a:t>Estimated timing</a:t>
                      </a:r>
                    </a:p>
                  </a:txBody>
                  <a:tcPr anchor="ctr"/>
                </a:tc>
                <a:tc>
                  <a:txBody>
                    <a:bodyPr/>
                    <a:lstStyle/>
                    <a:p>
                      <a:pPr>
                        <a:buNone/>
                      </a:pPr>
                      <a:r>
                        <a:rPr lang="en-US"/>
                        <a:t>Actual timing</a:t>
                      </a:r>
                    </a:p>
                  </a:txBody>
                  <a:tcPr anchor="ctr"/>
                </a:tc>
                <a:extLst>
                  <a:ext uri="{0D108BD9-81ED-4DB2-BD59-A6C34878D82A}">
                    <a16:rowId xmlns:a16="http://schemas.microsoft.com/office/drawing/2014/main" val="1119440126"/>
                  </a:ext>
                </a:extLst>
              </a:tr>
              <a:tr h="685800">
                <a:tc>
                  <a:txBody>
                    <a:bodyPr/>
                    <a:lstStyle/>
                    <a:p>
                      <a:pPr>
                        <a:buNone/>
                      </a:pPr>
                      <a:r>
                        <a:rPr lang="en-US"/>
                        <a:t>Before placement</a:t>
                      </a:r>
                    </a:p>
                  </a:txBody>
                  <a:tcPr anchor="ctr"/>
                </a:tc>
                <a:tc>
                  <a:txBody>
                    <a:bodyPr/>
                    <a:lstStyle/>
                    <a:p>
                      <a:pPr>
                        <a:buNone/>
                      </a:pPr>
                      <a:r>
                        <a:rPr lang="en-US" dirty="0"/>
                        <a:t>After placement</a:t>
                      </a:r>
                    </a:p>
                  </a:txBody>
                  <a:tcPr anchor="ctr"/>
                </a:tc>
                <a:extLst>
                  <a:ext uri="{0D108BD9-81ED-4DB2-BD59-A6C34878D82A}">
                    <a16:rowId xmlns:a16="http://schemas.microsoft.com/office/drawing/2014/main" val="3808638063"/>
                  </a:ext>
                </a:extLst>
              </a:tr>
            </a:tbl>
          </a:graphicData>
        </a:graphic>
      </p:graphicFrame>
    </p:spTree>
    <p:extLst>
      <p:ext uri="{BB962C8B-B14F-4D97-AF65-F5344CB8AC3E}">
        <p14:creationId xmlns:p14="http://schemas.microsoft.com/office/powerpoint/2010/main" val="41533399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TM16401375[[fn=Madison]]</Template>
  <TotalTime>867</TotalTime>
  <Words>489</Words>
  <Application>Microsoft Office PowerPoint</Application>
  <PresentationFormat>Widescreen</PresentationFormat>
  <Paragraphs>86</Paragraphs>
  <Slides>22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Bell MT</vt:lpstr>
      <vt:lpstr>Calibri</vt:lpstr>
      <vt:lpstr>MS Shell Dlg 2</vt:lpstr>
      <vt:lpstr>Wingdings</vt:lpstr>
      <vt:lpstr>Wingdings 3</vt:lpstr>
      <vt:lpstr>Madison</vt:lpstr>
      <vt:lpstr>FPGA DESIGN FLOW</vt:lpstr>
      <vt:lpstr>What do ,ChatGPT, Instagram filters, Image processing  and Netflix, YouTube recommendations have in common?</vt:lpstr>
      <vt:lpstr>MATRIX MULTIPLICATION </vt:lpstr>
      <vt:lpstr>PowerPoint Presentation</vt:lpstr>
      <vt:lpstr> </vt:lpstr>
      <vt:lpstr>PowerPoint Presentation</vt:lpstr>
      <vt:lpstr>PowerPoint Presentation</vt:lpstr>
      <vt:lpstr>PowerPoint Presentation</vt:lpstr>
      <vt:lpstr>PowerPoint Presentation</vt:lpstr>
      <vt:lpstr>PowerPoint Presentation</vt:lpstr>
      <vt:lpstr>What is synthesis?</vt:lpstr>
      <vt:lpstr>PowerPoint Presentation</vt:lpstr>
      <vt:lpstr>PowerPoint Presentation</vt:lpstr>
      <vt:lpstr>PowerPoint Presentation</vt:lpstr>
      <vt:lpstr>PowerPoint Presentation</vt:lpstr>
      <vt:lpstr>PowerPoint Presentation</vt:lpstr>
      <vt:lpstr>NOW LET’S RUN IMPLEMENTATION</vt:lpstr>
      <vt:lpstr>PowerPoint Presentation</vt:lpstr>
      <vt:lpstr>PowerPoint Presentation</vt:lpstr>
      <vt:lpstr>PowerPoint Presentation</vt:lpstr>
      <vt:lpstr>Difference between Synthesis and Implementation</vt:lpstr>
      <vt:lpstr>Difference between Synthesized and Implemented Schematic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EC S&amp;H 2P 2024 VISHVESH U V</dc:creator>
  <cp:lastModifiedBy>EC S&amp;H 2P 2024 VISHVESH U V</cp:lastModifiedBy>
  <cp:revision>13</cp:revision>
  <dcterms:created xsi:type="dcterms:W3CDTF">2026-07-23T13:48:12Z</dcterms:created>
  <dcterms:modified xsi:type="dcterms:W3CDTF">2026-07-27T14:17:52Z</dcterms:modified>
</cp:coreProperties>
</file>