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a:prstGeom prst="rect">
            <a:avLst/>
          </a:prstGeo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70A849-0539-4395-888A-3B5D5F8BAC4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B6202CEA-E00E-4987-8B2D-0DBA42DD6501}" type="slidenum">
              <a:rPr lang="en-US" smtClean="0"/>
              <a:t>‹#›</a:t>
            </a:fld>
            <a:endParaRPr lang="en-US"/>
          </a:p>
        </p:txBody>
      </p:sp>
    </p:spTree>
    <p:extLst>
      <p:ext uri="{BB962C8B-B14F-4D97-AF65-F5344CB8AC3E}">
        <p14:creationId xmlns:p14="http://schemas.microsoft.com/office/powerpoint/2010/main" val="220899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400282"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2773599" y="2052116"/>
            <a:ext cx="7796540" cy="3997828"/>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0A849-0539-4395-888A-3B5D5F8BAC4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117682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a:prstGeom prst="rect">
            <a:avLst/>
          </a:prstGeo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70A849-0539-4395-888A-3B5D5F8BAC4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1037455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70A849-0539-4395-888A-3B5D5F8BAC4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202CEA-E00E-4987-8B2D-0DBA42DD6501}"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6174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a:prstGeom prst="rect">
            <a:avLst/>
          </a:prstGeo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a:prstGeom prst="rect">
            <a:avLst/>
          </a:prstGeo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70A849-0539-4395-888A-3B5D5F8BAC4A}"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2649268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70A849-0539-4395-888A-3B5D5F8BAC4A}"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202CEA-E00E-4987-8B2D-0DBA42DD6501}"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25679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C70A849-0539-4395-888A-3B5D5F8BAC4A}"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327951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a:prstGeom prst="rect">
            <a:avLst/>
          </a:prstGeo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70A849-0539-4395-888A-3B5D5F8BAC4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104472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prstGeom prst="rect">
            <a:avLst/>
          </a:prstGeo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a:prstGeom prst="rect">
            <a:avLst/>
          </a:prstGeo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70A849-0539-4395-888A-3B5D5F8BAC4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4146429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773599" y="2052116"/>
            <a:ext cx="7796540" cy="399782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0A849-0539-4395-888A-3B5D5F8BAC4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4207572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0A849-0539-4395-888A-3B5D5F8BAC4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202CEA-E00E-4987-8B2D-0DBA42DD6501}" type="slidenum">
              <a:rPr lang="en-US" smtClean="0"/>
              <a:t>‹#›</a:t>
            </a:fld>
            <a:endParaRPr lang="en-US"/>
          </a:p>
        </p:txBody>
      </p:sp>
    </p:spTree>
    <p:extLst>
      <p:ext uri="{BB962C8B-B14F-4D97-AF65-F5344CB8AC3E}">
        <p14:creationId xmlns:p14="http://schemas.microsoft.com/office/powerpoint/2010/main" val="276219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p:spPr>
      </p:pic>
      <p:sp>
        <p:nvSpPr>
          <p:cNvPr id="8" name="Rectangle 7"/>
          <p:cNvSpPr/>
          <p:nvPr/>
        </p:nvSpPr>
        <p:spPr>
          <a:xfrm>
            <a:off x="0" y="0"/>
            <a:ext cx="964174"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FC70A849-0539-4395-888A-3B5D5F8BAC4A}" type="datetimeFigureOut">
              <a:rPr lang="en-US" smtClean="0"/>
              <a:t>7/28/2026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B6202CEA-E00E-4987-8B2D-0DBA42DD6501}"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descr="New Logo-01.png (668×652)">
            <a:extLst>
              <a:ext uri="{FF2B5EF4-FFF2-40B4-BE49-F238E27FC236}">
                <a16:creationId xmlns:a16="http://schemas.microsoft.com/office/drawing/2014/main" id="{FAE85F5B-0898-2ABA-DD14-3640153C23FB}"/>
              </a:ext>
            </a:extLst>
          </p:cNvPr>
          <p:cNvPicPr>
            <a:picLocks noChangeAspect="1"/>
          </p:cNvPicPr>
          <p:nvPr userDrawn="1"/>
        </p:nvPicPr>
        <p:blipFill>
          <a:blip r:embed="rId15"/>
          <a:stretch>
            <a:fillRect/>
          </a:stretch>
        </p:blipFill>
        <p:spPr>
          <a:xfrm>
            <a:off x="11391814" y="7848"/>
            <a:ext cx="819845" cy="800208"/>
          </a:xfrm>
          <a:prstGeom prst="rect">
            <a:avLst/>
          </a:prstGeom>
        </p:spPr>
      </p:pic>
    </p:spTree>
    <p:extLst>
      <p:ext uri="{BB962C8B-B14F-4D97-AF65-F5344CB8AC3E}">
        <p14:creationId xmlns:p14="http://schemas.microsoft.com/office/powerpoint/2010/main" val="229357902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bg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bg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bg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bg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bg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5CBF0A2-6C9C-C0FE-5450-17FC18508C4F}"/>
              </a:ext>
            </a:extLst>
          </p:cNvPr>
          <p:cNvSpPr>
            <a:spLocks noGrp="1"/>
          </p:cNvSpPr>
          <p:nvPr>
            <p:ph type="subTitle" idx="1"/>
          </p:nvPr>
        </p:nvSpPr>
        <p:spPr>
          <a:xfrm>
            <a:off x="1624409" y="1147864"/>
            <a:ext cx="6760833" cy="3842426"/>
          </a:xfrm>
        </p:spPr>
        <p:txBody>
          <a:bodyPr>
            <a:normAutofit/>
          </a:bodyPr>
          <a:lstStyle/>
          <a:p>
            <a:pPr algn="ctr"/>
            <a:r>
              <a:rPr lang="en-US" sz="5400" dirty="0">
                <a:latin typeface="Bell MT" panose="02020503060305020303" pitchFamily="18" charset="0"/>
              </a:rPr>
              <a:t>MATRIX MULTIPLICATION USING BRAM</a:t>
            </a:r>
          </a:p>
        </p:txBody>
      </p:sp>
    </p:spTree>
    <p:extLst>
      <p:ext uri="{BB962C8B-B14F-4D97-AF65-F5344CB8AC3E}">
        <p14:creationId xmlns:p14="http://schemas.microsoft.com/office/powerpoint/2010/main" val="165756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1D13-2C11-BBCF-08F7-13D212BDCC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F34C32-06CC-ADDC-5D80-4714506697D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0524205-A916-4687-1F37-45B0992203F7}"/>
              </a:ext>
            </a:extLst>
          </p:cNvPr>
          <p:cNvPicPr>
            <a:picLocks noChangeAspect="1"/>
          </p:cNvPicPr>
          <p:nvPr/>
        </p:nvPicPr>
        <p:blipFill>
          <a:blip r:embed="rId2"/>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07377AEA-750C-7F99-1354-13965B8E25C9}"/>
              </a:ext>
            </a:extLst>
          </p:cNvPr>
          <p:cNvSpPr txBox="1"/>
          <p:nvPr/>
        </p:nvSpPr>
        <p:spPr>
          <a:xfrm>
            <a:off x="6267790" y="1759728"/>
            <a:ext cx="4302349" cy="584775"/>
          </a:xfrm>
          <a:prstGeom prst="rect">
            <a:avLst/>
          </a:prstGeom>
          <a:noFill/>
        </p:spPr>
        <p:txBody>
          <a:bodyPr wrap="square" rtlCol="0">
            <a:spAutoFit/>
          </a:bodyPr>
          <a:lstStyle/>
          <a:p>
            <a:r>
              <a:rPr lang="en-US" sz="3200" dirty="0">
                <a:solidFill>
                  <a:schemeClr val="bg1"/>
                </a:solidFill>
              </a:rPr>
              <a:t>Add all required files</a:t>
            </a:r>
          </a:p>
        </p:txBody>
      </p:sp>
    </p:spTree>
    <p:extLst>
      <p:ext uri="{BB962C8B-B14F-4D97-AF65-F5344CB8AC3E}">
        <p14:creationId xmlns:p14="http://schemas.microsoft.com/office/powerpoint/2010/main" val="4243959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1CEEB-0292-5AE9-7649-5D6465B7A97C}"/>
              </a:ext>
            </a:extLst>
          </p:cNvPr>
          <p:cNvSpPr>
            <a:spLocks noGrp="1"/>
          </p:cNvSpPr>
          <p:nvPr>
            <p:ph type="title"/>
          </p:nvPr>
        </p:nvSpPr>
        <p:spPr>
          <a:xfrm>
            <a:off x="1121336" y="74915"/>
            <a:ext cx="7958331" cy="1077229"/>
          </a:xfrm>
        </p:spPr>
        <p:txBody>
          <a:bodyPr/>
          <a:lstStyle/>
          <a:p>
            <a:pPr algn="l"/>
            <a:r>
              <a:rPr lang="en-US" dirty="0">
                <a:solidFill>
                  <a:schemeClr val="tx1"/>
                </a:solidFill>
              </a:rPr>
              <a:t>Press IP Catalog and search Block Memory Generator </a:t>
            </a:r>
          </a:p>
        </p:txBody>
      </p:sp>
      <p:sp>
        <p:nvSpPr>
          <p:cNvPr id="3" name="Content Placeholder 2">
            <a:extLst>
              <a:ext uri="{FF2B5EF4-FFF2-40B4-BE49-F238E27FC236}">
                <a16:creationId xmlns:a16="http://schemas.microsoft.com/office/drawing/2014/main" id="{0139243C-7578-0523-A047-6BDEABF88FF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038765E-BD77-2880-F612-5AACE33A5C46}"/>
              </a:ext>
            </a:extLst>
          </p:cNvPr>
          <p:cNvPicPr>
            <a:picLocks noChangeAspect="1"/>
          </p:cNvPicPr>
          <p:nvPr/>
        </p:nvPicPr>
        <p:blipFill>
          <a:blip r:embed="rId2"/>
          <a:stretch>
            <a:fillRect/>
          </a:stretch>
        </p:blipFill>
        <p:spPr>
          <a:xfrm>
            <a:off x="4038885" y="1152144"/>
            <a:ext cx="7870103" cy="4696018"/>
          </a:xfrm>
          <a:prstGeom prst="rect">
            <a:avLst/>
          </a:prstGeom>
        </p:spPr>
      </p:pic>
      <p:pic>
        <p:nvPicPr>
          <p:cNvPr id="7" name="Picture 6">
            <a:extLst>
              <a:ext uri="{FF2B5EF4-FFF2-40B4-BE49-F238E27FC236}">
                <a16:creationId xmlns:a16="http://schemas.microsoft.com/office/drawing/2014/main" id="{BE5F2E89-360D-3D04-57E4-014906F318DD}"/>
              </a:ext>
            </a:extLst>
          </p:cNvPr>
          <p:cNvPicPr>
            <a:picLocks noChangeAspect="1"/>
          </p:cNvPicPr>
          <p:nvPr/>
        </p:nvPicPr>
        <p:blipFill>
          <a:blip r:embed="rId3"/>
          <a:stretch>
            <a:fillRect/>
          </a:stretch>
        </p:blipFill>
        <p:spPr>
          <a:xfrm>
            <a:off x="1121336" y="1152144"/>
            <a:ext cx="2781688" cy="2410161"/>
          </a:xfrm>
          <a:prstGeom prst="rect">
            <a:avLst/>
          </a:prstGeom>
        </p:spPr>
      </p:pic>
      <p:sp>
        <p:nvSpPr>
          <p:cNvPr id="8" name="Oval 7">
            <a:extLst>
              <a:ext uri="{FF2B5EF4-FFF2-40B4-BE49-F238E27FC236}">
                <a16:creationId xmlns:a16="http://schemas.microsoft.com/office/drawing/2014/main" id="{537483AA-4F96-99B3-591E-24AB8CCFE1A8}"/>
              </a:ext>
            </a:extLst>
          </p:cNvPr>
          <p:cNvSpPr/>
          <p:nvPr/>
        </p:nvSpPr>
        <p:spPr>
          <a:xfrm>
            <a:off x="1335024" y="2889504"/>
            <a:ext cx="1298448" cy="420624"/>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97BFEA94-59A0-F76C-4185-D0DCACA97C5B}"/>
              </a:ext>
            </a:extLst>
          </p:cNvPr>
          <p:cNvCxnSpPr>
            <a:endCxn id="8" idx="6"/>
          </p:cNvCxnSpPr>
          <p:nvPr/>
        </p:nvCxnSpPr>
        <p:spPr>
          <a:xfrm flipH="1">
            <a:off x="2633472" y="2889504"/>
            <a:ext cx="502920" cy="210312"/>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402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CE6E4-9AF9-BFAF-09A0-A7192BDB430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01E08AC6-DA80-B02E-CDB9-1B6F4D68B35F}"/>
              </a:ext>
            </a:extLst>
          </p:cNvPr>
          <p:cNvPicPr>
            <a:picLocks noChangeAspect="1"/>
          </p:cNvPicPr>
          <p:nvPr/>
        </p:nvPicPr>
        <p:blipFill>
          <a:blip r:embed="rId2"/>
          <a:stretch>
            <a:fillRect/>
          </a:stretch>
        </p:blipFill>
        <p:spPr>
          <a:xfrm>
            <a:off x="0" y="0"/>
            <a:ext cx="9240750" cy="6858000"/>
          </a:xfrm>
          <a:prstGeom prst="rect">
            <a:avLst/>
          </a:prstGeom>
        </p:spPr>
      </p:pic>
      <p:sp>
        <p:nvSpPr>
          <p:cNvPr id="6" name="TextBox 5">
            <a:extLst>
              <a:ext uri="{FF2B5EF4-FFF2-40B4-BE49-F238E27FC236}">
                <a16:creationId xmlns:a16="http://schemas.microsoft.com/office/drawing/2014/main" id="{9442C321-B888-CC1D-6BBD-B4628457732A}"/>
              </a:ext>
            </a:extLst>
          </p:cNvPr>
          <p:cNvSpPr txBox="1"/>
          <p:nvPr/>
        </p:nvSpPr>
        <p:spPr>
          <a:xfrm>
            <a:off x="2112264" y="0"/>
            <a:ext cx="7159752" cy="646331"/>
          </a:xfrm>
          <a:prstGeom prst="rect">
            <a:avLst/>
          </a:prstGeom>
          <a:noFill/>
        </p:spPr>
        <p:txBody>
          <a:bodyPr wrap="square" rtlCol="0">
            <a:spAutoFit/>
          </a:bodyPr>
          <a:lstStyle/>
          <a:p>
            <a:r>
              <a:rPr lang="en-US" dirty="0">
                <a:solidFill>
                  <a:schemeClr val="bg1"/>
                </a:solidFill>
              </a:rPr>
              <a:t>Remember the name of the component has to be same as what is used in the Verilog code of multiplier portion of the code which is </a:t>
            </a:r>
            <a:r>
              <a:rPr lang="en-US" dirty="0" err="1">
                <a:solidFill>
                  <a:schemeClr val="bg1"/>
                </a:solidFill>
              </a:rPr>
              <a:t>bramAB</a:t>
            </a:r>
            <a:r>
              <a:rPr lang="en-US" dirty="0">
                <a:solidFill>
                  <a:schemeClr val="bg1"/>
                </a:solidFill>
              </a:rPr>
              <a:t> </a:t>
            </a:r>
          </a:p>
        </p:txBody>
      </p:sp>
      <p:pic>
        <p:nvPicPr>
          <p:cNvPr id="8" name="Picture 7">
            <a:extLst>
              <a:ext uri="{FF2B5EF4-FFF2-40B4-BE49-F238E27FC236}">
                <a16:creationId xmlns:a16="http://schemas.microsoft.com/office/drawing/2014/main" id="{10A0EE41-AB19-6DBE-3BF3-62FC5C17C480}"/>
              </a:ext>
            </a:extLst>
          </p:cNvPr>
          <p:cNvPicPr>
            <a:picLocks noChangeAspect="1"/>
          </p:cNvPicPr>
          <p:nvPr/>
        </p:nvPicPr>
        <p:blipFill>
          <a:blip r:embed="rId3"/>
          <a:stretch>
            <a:fillRect/>
          </a:stretch>
        </p:blipFill>
        <p:spPr>
          <a:xfrm>
            <a:off x="6331526" y="1688875"/>
            <a:ext cx="5818447" cy="3480249"/>
          </a:xfrm>
          <a:prstGeom prst="rect">
            <a:avLst/>
          </a:prstGeom>
        </p:spPr>
      </p:pic>
      <p:sp>
        <p:nvSpPr>
          <p:cNvPr id="9" name="Oval 8">
            <a:extLst>
              <a:ext uri="{FF2B5EF4-FFF2-40B4-BE49-F238E27FC236}">
                <a16:creationId xmlns:a16="http://schemas.microsoft.com/office/drawing/2014/main" id="{5000F2FF-68C9-4C88-70D7-43E396E91437}"/>
              </a:ext>
            </a:extLst>
          </p:cNvPr>
          <p:cNvSpPr/>
          <p:nvPr/>
        </p:nvSpPr>
        <p:spPr>
          <a:xfrm>
            <a:off x="6431280" y="3942080"/>
            <a:ext cx="843280" cy="3657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9499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20FB9-7228-119C-EA4C-6BF9DBC760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DB2F6A-2EA8-67E8-2875-311B1443E15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48F27C7-D5C2-536F-C62D-3DD75B444331}"/>
              </a:ext>
            </a:extLst>
          </p:cNvPr>
          <p:cNvPicPr>
            <a:picLocks noChangeAspect="1"/>
          </p:cNvPicPr>
          <p:nvPr/>
        </p:nvPicPr>
        <p:blipFill>
          <a:blip r:embed="rId2"/>
          <a:stretch>
            <a:fillRect/>
          </a:stretch>
        </p:blipFill>
        <p:spPr>
          <a:xfrm>
            <a:off x="0" y="0"/>
            <a:ext cx="9204870" cy="6858000"/>
          </a:xfrm>
          <a:prstGeom prst="rect">
            <a:avLst/>
          </a:prstGeom>
        </p:spPr>
      </p:pic>
      <p:sp>
        <p:nvSpPr>
          <p:cNvPr id="6" name="TextBox 5">
            <a:extLst>
              <a:ext uri="{FF2B5EF4-FFF2-40B4-BE49-F238E27FC236}">
                <a16:creationId xmlns:a16="http://schemas.microsoft.com/office/drawing/2014/main" id="{6876192A-FF7E-1B48-4897-3399A2CDAE0C}"/>
              </a:ext>
            </a:extLst>
          </p:cNvPr>
          <p:cNvSpPr txBox="1"/>
          <p:nvPr/>
        </p:nvSpPr>
        <p:spPr>
          <a:xfrm>
            <a:off x="2885440" y="193040"/>
            <a:ext cx="6136640" cy="646331"/>
          </a:xfrm>
          <a:prstGeom prst="rect">
            <a:avLst/>
          </a:prstGeom>
          <a:noFill/>
        </p:spPr>
        <p:txBody>
          <a:bodyPr wrap="square" rtlCol="0">
            <a:spAutoFit/>
          </a:bodyPr>
          <a:lstStyle/>
          <a:p>
            <a:r>
              <a:rPr lang="en-US" dirty="0">
                <a:solidFill>
                  <a:schemeClr val="bg1"/>
                </a:solidFill>
              </a:rPr>
              <a:t>In Port A options change write width to 32 bits and change enable port type to always enable </a:t>
            </a:r>
          </a:p>
        </p:txBody>
      </p:sp>
      <p:sp>
        <p:nvSpPr>
          <p:cNvPr id="7" name="Rectangle 6">
            <a:extLst>
              <a:ext uri="{FF2B5EF4-FFF2-40B4-BE49-F238E27FC236}">
                <a16:creationId xmlns:a16="http://schemas.microsoft.com/office/drawing/2014/main" id="{6BF5CDD3-6F77-278E-77ED-B99D5ACC52DF}"/>
              </a:ext>
            </a:extLst>
          </p:cNvPr>
          <p:cNvSpPr/>
          <p:nvPr/>
        </p:nvSpPr>
        <p:spPr>
          <a:xfrm>
            <a:off x="3779520" y="2052116"/>
            <a:ext cx="1351280" cy="3558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573417D-85AD-E969-A4A4-22DD2B6E417B}"/>
              </a:ext>
            </a:extLst>
          </p:cNvPr>
          <p:cNvSpPr/>
          <p:nvPr/>
        </p:nvSpPr>
        <p:spPr>
          <a:xfrm>
            <a:off x="4754880" y="3149600"/>
            <a:ext cx="2001520" cy="3558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985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6C7A-2E14-7B0D-9940-DA2986990D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EE3669-C816-E3E1-2381-DB2CEDE172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2A09DF8-2331-054A-363A-0B243C2A51E8}"/>
              </a:ext>
            </a:extLst>
          </p:cNvPr>
          <p:cNvPicPr>
            <a:picLocks noChangeAspect="1"/>
          </p:cNvPicPr>
          <p:nvPr/>
        </p:nvPicPr>
        <p:blipFill>
          <a:blip r:embed="rId2"/>
          <a:stretch>
            <a:fillRect/>
          </a:stretch>
        </p:blipFill>
        <p:spPr>
          <a:xfrm>
            <a:off x="0" y="0"/>
            <a:ext cx="9200084" cy="6858000"/>
          </a:xfrm>
          <a:prstGeom prst="rect">
            <a:avLst/>
          </a:prstGeom>
        </p:spPr>
      </p:pic>
      <p:sp>
        <p:nvSpPr>
          <p:cNvPr id="6" name="TextBox 5">
            <a:extLst>
              <a:ext uri="{FF2B5EF4-FFF2-40B4-BE49-F238E27FC236}">
                <a16:creationId xmlns:a16="http://schemas.microsoft.com/office/drawing/2014/main" id="{E08FCCFF-2039-8C84-1F31-4C29998AE304}"/>
              </a:ext>
            </a:extLst>
          </p:cNvPr>
          <p:cNvSpPr txBox="1"/>
          <p:nvPr/>
        </p:nvSpPr>
        <p:spPr>
          <a:xfrm>
            <a:off x="2092960" y="0"/>
            <a:ext cx="7010400" cy="646331"/>
          </a:xfrm>
          <a:prstGeom prst="rect">
            <a:avLst/>
          </a:prstGeom>
          <a:noFill/>
        </p:spPr>
        <p:txBody>
          <a:bodyPr wrap="square" rtlCol="0">
            <a:spAutoFit/>
          </a:bodyPr>
          <a:lstStyle/>
          <a:p>
            <a:r>
              <a:rPr lang="en-US" dirty="0">
                <a:solidFill>
                  <a:schemeClr val="bg1"/>
                </a:solidFill>
              </a:rPr>
              <a:t>In other options, enable load </a:t>
            </a:r>
            <a:r>
              <a:rPr lang="en-US" dirty="0" err="1">
                <a:solidFill>
                  <a:schemeClr val="bg1"/>
                </a:solidFill>
              </a:rPr>
              <a:t>init</a:t>
            </a:r>
            <a:r>
              <a:rPr lang="en-US" dirty="0">
                <a:solidFill>
                  <a:schemeClr val="bg1"/>
                </a:solidFill>
              </a:rPr>
              <a:t> files as </a:t>
            </a:r>
            <a:r>
              <a:rPr lang="en-US" dirty="0" err="1">
                <a:solidFill>
                  <a:schemeClr val="bg1"/>
                </a:solidFill>
              </a:rPr>
              <a:t>bram</a:t>
            </a:r>
            <a:r>
              <a:rPr lang="en-US" dirty="0">
                <a:solidFill>
                  <a:schemeClr val="bg1"/>
                </a:solidFill>
              </a:rPr>
              <a:t> A and B </a:t>
            </a:r>
            <a:r>
              <a:rPr lang="en-US" dirty="0" err="1">
                <a:solidFill>
                  <a:schemeClr val="bg1"/>
                </a:solidFill>
              </a:rPr>
              <a:t>shd</a:t>
            </a:r>
            <a:r>
              <a:rPr lang="en-US" dirty="0">
                <a:solidFill>
                  <a:schemeClr val="bg1"/>
                </a:solidFill>
              </a:rPr>
              <a:t> have the data that’s the matrix with in them.</a:t>
            </a:r>
          </a:p>
        </p:txBody>
      </p:sp>
    </p:spTree>
    <p:extLst>
      <p:ext uri="{BB962C8B-B14F-4D97-AF65-F5344CB8AC3E}">
        <p14:creationId xmlns:p14="http://schemas.microsoft.com/office/powerpoint/2010/main" val="3546991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672D-8E8A-AC07-AB27-4CA5ACF31A57}"/>
              </a:ext>
            </a:extLst>
          </p:cNvPr>
          <p:cNvSpPr>
            <a:spLocks noGrp="1"/>
          </p:cNvSpPr>
          <p:nvPr>
            <p:ph type="title"/>
          </p:nvPr>
        </p:nvSpPr>
        <p:spPr>
          <a:xfrm>
            <a:off x="6441440" y="595928"/>
            <a:ext cx="3346379" cy="1077229"/>
          </a:xfrm>
        </p:spPr>
        <p:txBody>
          <a:bodyPr>
            <a:normAutofit fontScale="90000"/>
          </a:bodyPr>
          <a:lstStyle/>
          <a:p>
            <a:r>
              <a:rPr lang="en-US" dirty="0">
                <a:solidFill>
                  <a:schemeClr val="tx1"/>
                </a:solidFill>
              </a:rPr>
              <a:t>Just save the file as anything you like </a:t>
            </a:r>
          </a:p>
        </p:txBody>
      </p:sp>
      <p:sp>
        <p:nvSpPr>
          <p:cNvPr id="3" name="Content Placeholder 2">
            <a:extLst>
              <a:ext uri="{FF2B5EF4-FFF2-40B4-BE49-F238E27FC236}">
                <a16:creationId xmlns:a16="http://schemas.microsoft.com/office/drawing/2014/main" id="{DC45493F-ABB3-3218-3D8C-23A45D5523D4}"/>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A49CBF6E-FB2E-D485-D3DB-6E172E3FA128}"/>
              </a:ext>
            </a:extLst>
          </p:cNvPr>
          <p:cNvPicPr>
            <a:picLocks noChangeAspect="1"/>
          </p:cNvPicPr>
          <p:nvPr/>
        </p:nvPicPr>
        <p:blipFill>
          <a:blip r:embed="rId2"/>
          <a:stretch>
            <a:fillRect/>
          </a:stretch>
        </p:blipFill>
        <p:spPr>
          <a:xfrm>
            <a:off x="1" y="0"/>
            <a:ext cx="5659120" cy="4521339"/>
          </a:xfrm>
          <a:prstGeom prst="rect">
            <a:avLst/>
          </a:prstGeom>
        </p:spPr>
      </p:pic>
      <p:sp>
        <p:nvSpPr>
          <p:cNvPr id="6" name="TextBox 5">
            <a:extLst>
              <a:ext uri="{FF2B5EF4-FFF2-40B4-BE49-F238E27FC236}">
                <a16:creationId xmlns:a16="http://schemas.microsoft.com/office/drawing/2014/main" id="{5DBC4D61-3587-CB05-9F60-7EE5F2E26D37}"/>
              </a:ext>
            </a:extLst>
          </p:cNvPr>
          <p:cNvSpPr txBox="1"/>
          <p:nvPr/>
        </p:nvSpPr>
        <p:spPr>
          <a:xfrm>
            <a:off x="2773598" y="142241"/>
            <a:ext cx="2824561" cy="1815882"/>
          </a:xfrm>
          <a:prstGeom prst="rect">
            <a:avLst/>
          </a:prstGeom>
          <a:noFill/>
        </p:spPr>
        <p:txBody>
          <a:bodyPr wrap="square" rtlCol="0">
            <a:spAutoFit/>
          </a:bodyPr>
          <a:lstStyle/>
          <a:p>
            <a:r>
              <a:rPr lang="en-US" sz="2800" dirty="0">
                <a:solidFill>
                  <a:schemeClr val="bg1"/>
                </a:solidFill>
              </a:rPr>
              <a:t>Since we don’t have that file click on edit and then yes</a:t>
            </a:r>
          </a:p>
        </p:txBody>
      </p:sp>
      <p:pic>
        <p:nvPicPr>
          <p:cNvPr id="8" name="Picture 7">
            <a:extLst>
              <a:ext uri="{FF2B5EF4-FFF2-40B4-BE49-F238E27FC236}">
                <a16:creationId xmlns:a16="http://schemas.microsoft.com/office/drawing/2014/main" id="{718DCE2E-6D14-2387-D8C1-790D44C2BC16}"/>
              </a:ext>
            </a:extLst>
          </p:cNvPr>
          <p:cNvPicPr>
            <a:picLocks noChangeAspect="1"/>
          </p:cNvPicPr>
          <p:nvPr/>
        </p:nvPicPr>
        <p:blipFill>
          <a:blip r:embed="rId3"/>
          <a:stretch>
            <a:fillRect/>
          </a:stretch>
        </p:blipFill>
        <p:spPr>
          <a:xfrm>
            <a:off x="2731418" y="2465419"/>
            <a:ext cx="9460582" cy="4445501"/>
          </a:xfrm>
          <a:prstGeom prst="rect">
            <a:avLst/>
          </a:prstGeom>
        </p:spPr>
      </p:pic>
    </p:spTree>
    <p:extLst>
      <p:ext uri="{BB962C8B-B14F-4D97-AF65-F5344CB8AC3E}">
        <p14:creationId xmlns:p14="http://schemas.microsoft.com/office/powerpoint/2010/main" val="2957455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0F5D-AE49-000B-5121-A5F28AFB3A13}"/>
              </a:ext>
            </a:extLst>
          </p:cNvPr>
          <p:cNvSpPr>
            <a:spLocks noGrp="1"/>
          </p:cNvSpPr>
          <p:nvPr>
            <p:ph type="title"/>
          </p:nvPr>
        </p:nvSpPr>
        <p:spPr>
          <a:xfrm>
            <a:off x="2875968" y="2160236"/>
            <a:ext cx="7958331" cy="1077229"/>
          </a:xfrm>
        </p:spPr>
        <p:txBody>
          <a:bodyPr>
            <a:normAutofit fontScale="90000"/>
          </a:bodyPr>
          <a:lstStyle/>
          <a:p>
            <a:pPr algn="l"/>
            <a:r>
              <a:rPr lang="en-US" dirty="0">
                <a:solidFill>
                  <a:schemeClr val="tx1"/>
                </a:solidFill>
              </a:rPr>
              <a:t>The values you give to the matrix </a:t>
            </a:r>
            <a:br>
              <a:rPr lang="en-US" dirty="0">
                <a:solidFill>
                  <a:schemeClr val="tx1"/>
                </a:solidFill>
              </a:rPr>
            </a:br>
            <a:r>
              <a:rPr lang="en-US" dirty="0">
                <a:solidFill>
                  <a:schemeClr val="tx1"/>
                </a:solidFill>
              </a:rPr>
              <a:t>as the matrix is 3x3 give </a:t>
            </a:r>
            <a:r>
              <a:rPr lang="en-US" dirty="0" err="1">
                <a:solidFill>
                  <a:schemeClr val="tx1"/>
                </a:solidFill>
              </a:rPr>
              <a:t>atleast</a:t>
            </a:r>
            <a:r>
              <a:rPr lang="en-US" dirty="0">
                <a:solidFill>
                  <a:schemeClr val="tx1"/>
                </a:solidFill>
              </a:rPr>
              <a:t> 9 values </a:t>
            </a:r>
            <a:br>
              <a:rPr lang="en-US" dirty="0">
                <a:solidFill>
                  <a:schemeClr val="tx1"/>
                </a:solidFill>
              </a:rPr>
            </a:br>
            <a:r>
              <a:rPr lang="en-US" dirty="0">
                <a:solidFill>
                  <a:schemeClr val="tx1"/>
                </a:solidFill>
              </a:rPr>
              <a:t>whatever after 9 is unused and then just save it  and close it</a:t>
            </a:r>
          </a:p>
        </p:txBody>
      </p:sp>
      <p:pic>
        <p:nvPicPr>
          <p:cNvPr id="7" name="Content Placeholder 6">
            <a:extLst>
              <a:ext uri="{FF2B5EF4-FFF2-40B4-BE49-F238E27FC236}">
                <a16:creationId xmlns:a16="http://schemas.microsoft.com/office/drawing/2014/main" id="{385EED03-30E7-672E-3CD7-706358133C51}"/>
              </a:ext>
            </a:extLst>
          </p:cNvPr>
          <p:cNvPicPr>
            <a:picLocks noGrp="1" noChangeAspect="1"/>
          </p:cNvPicPr>
          <p:nvPr>
            <p:ph idx="1"/>
          </p:nvPr>
        </p:nvPicPr>
        <p:blipFill>
          <a:blip r:embed="rId2"/>
          <a:stretch>
            <a:fillRect/>
          </a:stretch>
        </p:blipFill>
        <p:spPr>
          <a:xfrm>
            <a:off x="4469207" y="4099560"/>
            <a:ext cx="5725324" cy="1924319"/>
          </a:xfrm>
          <a:prstGeom prst="rect">
            <a:avLst/>
          </a:prstGeom>
        </p:spPr>
      </p:pic>
      <p:pic>
        <p:nvPicPr>
          <p:cNvPr id="5" name="Picture 4">
            <a:extLst>
              <a:ext uri="{FF2B5EF4-FFF2-40B4-BE49-F238E27FC236}">
                <a16:creationId xmlns:a16="http://schemas.microsoft.com/office/drawing/2014/main" id="{2B833E66-22C1-22AB-6712-94513E84E716}"/>
              </a:ext>
            </a:extLst>
          </p:cNvPr>
          <p:cNvPicPr>
            <a:picLocks noChangeAspect="1"/>
          </p:cNvPicPr>
          <p:nvPr/>
        </p:nvPicPr>
        <p:blipFill>
          <a:blip r:embed="rId3"/>
          <a:stretch>
            <a:fillRect/>
          </a:stretch>
        </p:blipFill>
        <p:spPr>
          <a:xfrm>
            <a:off x="161849" y="120593"/>
            <a:ext cx="5630061" cy="1848108"/>
          </a:xfrm>
          <a:prstGeom prst="rect">
            <a:avLst/>
          </a:prstGeom>
        </p:spPr>
      </p:pic>
    </p:spTree>
    <p:extLst>
      <p:ext uri="{BB962C8B-B14F-4D97-AF65-F5344CB8AC3E}">
        <p14:creationId xmlns:p14="http://schemas.microsoft.com/office/powerpoint/2010/main" val="273403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405A-4EF3-1223-8118-FCDFA6CAD409}"/>
              </a:ext>
            </a:extLst>
          </p:cNvPr>
          <p:cNvSpPr>
            <a:spLocks noGrp="1"/>
          </p:cNvSpPr>
          <p:nvPr>
            <p:ph type="title"/>
          </p:nvPr>
        </p:nvSpPr>
        <p:spPr>
          <a:xfrm>
            <a:off x="0" y="-41848"/>
            <a:ext cx="3753787" cy="1718003"/>
          </a:xfrm>
        </p:spPr>
        <p:txBody>
          <a:bodyPr>
            <a:normAutofit fontScale="90000"/>
          </a:bodyPr>
          <a:lstStyle/>
          <a:p>
            <a:r>
              <a:rPr lang="en-US" sz="4000" dirty="0">
                <a:solidFill>
                  <a:schemeClr val="tx1"/>
                </a:solidFill>
              </a:rPr>
              <a:t>This is the summary where we can understand the latency and </a:t>
            </a:r>
            <a:r>
              <a:rPr lang="en-US" sz="4000" dirty="0" err="1">
                <a:solidFill>
                  <a:schemeClr val="tx1"/>
                </a:solidFill>
              </a:rPr>
              <a:t>bram</a:t>
            </a:r>
            <a:r>
              <a:rPr lang="en-US" sz="4000" dirty="0">
                <a:solidFill>
                  <a:schemeClr val="tx1"/>
                </a:solidFill>
              </a:rPr>
              <a:t> resources and press ok</a:t>
            </a:r>
          </a:p>
        </p:txBody>
      </p:sp>
      <p:pic>
        <p:nvPicPr>
          <p:cNvPr id="5" name="Picture 4">
            <a:extLst>
              <a:ext uri="{FF2B5EF4-FFF2-40B4-BE49-F238E27FC236}">
                <a16:creationId xmlns:a16="http://schemas.microsoft.com/office/drawing/2014/main" id="{1F5EF750-2FDE-E5AA-45BE-154A1F8451A0}"/>
              </a:ext>
            </a:extLst>
          </p:cNvPr>
          <p:cNvPicPr>
            <a:picLocks noChangeAspect="1"/>
          </p:cNvPicPr>
          <p:nvPr/>
        </p:nvPicPr>
        <p:blipFill>
          <a:blip r:embed="rId2"/>
          <a:stretch>
            <a:fillRect/>
          </a:stretch>
        </p:blipFill>
        <p:spPr>
          <a:xfrm>
            <a:off x="0" y="3352311"/>
            <a:ext cx="8869013" cy="3505689"/>
          </a:xfrm>
          <a:prstGeom prst="rect">
            <a:avLst/>
          </a:prstGeom>
        </p:spPr>
      </p:pic>
      <p:pic>
        <p:nvPicPr>
          <p:cNvPr id="7" name="Picture 6">
            <a:extLst>
              <a:ext uri="{FF2B5EF4-FFF2-40B4-BE49-F238E27FC236}">
                <a16:creationId xmlns:a16="http://schemas.microsoft.com/office/drawing/2014/main" id="{862DE067-7F5A-24C1-D7B2-A97A4D54C06F}"/>
              </a:ext>
            </a:extLst>
          </p:cNvPr>
          <p:cNvPicPr>
            <a:picLocks noChangeAspect="1"/>
          </p:cNvPicPr>
          <p:nvPr/>
        </p:nvPicPr>
        <p:blipFill>
          <a:blip r:embed="rId3"/>
          <a:stretch>
            <a:fillRect/>
          </a:stretch>
        </p:blipFill>
        <p:spPr>
          <a:xfrm>
            <a:off x="7247835" y="0"/>
            <a:ext cx="4944165" cy="6773220"/>
          </a:xfrm>
          <a:prstGeom prst="rect">
            <a:avLst/>
          </a:prstGeom>
        </p:spPr>
      </p:pic>
      <p:sp>
        <p:nvSpPr>
          <p:cNvPr id="8" name="TextBox 7">
            <a:extLst>
              <a:ext uri="{FF2B5EF4-FFF2-40B4-BE49-F238E27FC236}">
                <a16:creationId xmlns:a16="http://schemas.microsoft.com/office/drawing/2014/main" id="{83B0CFB6-76B5-8906-B1B8-9C72E1634C6D}"/>
              </a:ext>
            </a:extLst>
          </p:cNvPr>
          <p:cNvSpPr txBox="1"/>
          <p:nvPr/>
        </p:nvSpPr>
        <p:spPr>
          <a:xfrm>
            <a:off x="4856480" y="-110430"/>
            <a:ext cx="2306320" cy="3539430"/>
          </a:xfrm>
          <a:prstGeom prst="rect">
            <a:avLst/>
          </a:prstGeom>
          <a:noFill/>
        </p:spPr>
        <p:txBody>
          <a:bodyPr wrap="square" rtlCol="0">
            <a:spAutoFit/>
          </a:bodyPr>
          <a:lstStyle/>
          <a:p>
            <a:r>
              <a:rPr lang="en-US" sz="2800" dirty="0"/>
              <a:t>Click on global and then generate</a:t>
            </a:r>
          </a:p>
          <a:p>
            <a:r>
              <a:rPr lang="en-US" sz="2800" dirty="0"/>
              <a:t>This will synthesis the design for you and add it to the design </a:t>
            </a:r>
          </a:p>
        </p:txBody>
      </p:sp>
    </p:spTree>
    <p:extLst>
      <p:ext uri="{BB962C8B-B14F-4D97-AF65-F5344CB8AC3E}">
        <p14:creationId xmlns:p14="http://schemas.microsoft.com/office/powerpoint/2010/main" val="3645146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8950-2F87-7025-C7D8-34F9C9486374}"/>
              </a:ext>
            </a:extLst>
          </p:cNvPr>
          <p:cNvSpPr>
            <a:spLocks noGrp="1"/>
          </p:cNvSpPr>
          <p:nvPr>
            <p:ph type="title"/>
          </p:nvPr>
        </p:nvSpPr>
        <p:spPr>
          <a:xfrm>
            <a:off x="6654800" y="808056"/>
            <a:ext cx="4754880" cy="4668184"/>
          </a:xfrm>
        </p:spPr>
        <p:txBody>
          <a:bodyPr/>
          <a:lstStyle/>
          <a:p>
            <a:r>
              <a:rPr lang="en-US" dirty="0">
                <a:solidFill>
                  <a:schemeClr val="tx1"/>
                </a:solidFill>
              </a:rPr>
              <a:t>Now you can see the icon next to </a:t>
            </a:r>
            <a:r>
              <a:rPr lang="en-US" dirty="0" err="1">
                <a:solidFill>
                  <a:schemeClr val="tx1"/>
                </a:solidFill>
              </a:rPr>
              <a:t>bram</a:t>
            </a:r>
            <a:r>
              <a:rPr lang="en-US" dirty="0">
                <a:solidFill>
                  <a:schemeClr val="tx1"/>
                </a:solidFill>
              </a:rPr>
              <a:t> A and B indicating its not absent</a:t>
            </a:r>
            <a:br>
              <a:rPr lang="en-US" dirty="0">
                <a:solidFill>
                  <a:schemeClr val="tx1"/>
                </a:solidFill>
              </a:rPr>
            </a:br>
            <a:r>
              <a:rPr lang="en-US" dirty="0">
                <a:solidFill>
                  <a:schemeClr val="tx1"/>
                </a:solidFill>
              </a:rPr>
              <a:t>now same way add the multiplier also  </a:t>
            </a:r>
          </a:p>
        </p:txBody>
      </p:sp>
      <p:pic>
        <p:nvPicPr>
          <p:cNvPr id="5" name="Picture 4">
            <a:extLst>
              <a:ext uri="{FF2B5EF4-FFF2-40B4-BE49-F238E27FC236}">
                <a16:creationId xmlns:a16="http://schemas.microsoft.com/office/drawing/2014/main" id="{F74CB2A1-0E84-80E2-5E5A-432769B67696}"/>
              </a:ext>
            </a:extLst>
          </p:cNvPr>
          <p:cNvPicPr>
            <a:picLocks noChangeAspect="1"/>
          </p:cNvPicPr>
          <p:nvPr/>
        </p:nvPicPr>
        <p:blipFill>
          <a:blip r:embed="rId2"/>
          <a:stretch>
            <a:fillRect/>
          </a:stretch>
        </p:blipFill>
        <p:spPr>
          <a:xfrm>
            <a:off x="0" y="0"/>
            <a:ext cx="6192114" cy="5553850"/>
          </a:xfrm>
          <a:prstGeom prst="rect">
            <a:avLst/>
          </a:prstGeom>
        </p:spPr>
      </p:pic>
    </p:spTree>
    <p:extLst>
      <p:ext uri="{BB962C8B-B14F-4D97-AF65-F5344CB8AC3E}">
        <p14:creationId xmlns:p14="http://schemas.microsoft.com/office/powerpoint/2010/main" val="3476142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AECC-CBB4-A97F-98B6-C70CBD085B98}"/>
              </a:ext>
            </a:extLst>
          </p:cNvPr>
          <p:cNvSpPr>
            <a:spLocks noGrp="1"/>
          </p:cNvSpPr>
          <p:nvPr>
            <p:ph type="title"/>
          </p:nvPr>
        </p:nvSpPr>
        <p:spPr>
          <a:xfrm>
            <a:off x="7569281" y="808056"/>
            <a:ext cx="3698240" cy="4993304"/>
          </a:xfrm>
        </p:spPr>
        <p:txBody>
          <a:bodyPr/>
          <a:lstStyle/>
          <a:p>
            <a:r>
              <a:rPr lang="en-US" dirty="0">
                <a:solidFill>
                  <a:schemeClr val="tx1"/>
                </a:solidFill>
              </a:rPr>
              <a:t>Search for multiplier in </a:t>
            </a:r>
            <a:r>
              <a:rPr lang="en-US" dirty="0" err="1">
                <a:solidFill>
                  <a:schemeClr val="tx1"/>
                </a:solidFill>
              </a:rPr>
              <a:t>ip</a:t>
            </a:r>
            <a:r>
              <a:rPr lang="en-US" dirty="0">
                <a:solidFill>
                  <a:schemeClr val="tx1"/>
                </a:solidFill>
              </a:rPr>
              <a:t> catalog and double click it </a:t>
            </a:r>
          </a:p>
        </p:txBody>
      </p:sp>
      <p:pic>
        <p:nvPicPr>
          <p:cNvPr id="5" name="Picture 4">
            <a:extLst>
              <a:ext uri="{FF2B5EF4-FFF2-40B4-BE49-F238E27FC236}">
                <a16:creationId xmlns:a16="http://schemas.microsoft.com/office/drawing/2014/main" id="{11543B41-DAA2-9FA5-C2BD-C454D5F7C73E}"/>
              </a:ext>
            </a:extLst>
          </p:cNvPr>
          <p:cNvPicPr>
            <a:picLocks noChangeAspect="1"/>
          </p:cNvPicPr>
          <p:nvPr/>
        </p:nvPicPr>
        <p:blipFill>
          <a:blip r:embed="rId2"/>
          <a:stretch>
            <a:fillRect/>
          </a:stretch>
        </p:blipFill>
        <p:spPr>
          <a:xfrm>
            <a:off x="0" y="808056"/>
            <a:ext cx="7396480" cy="4457836"/>
          </a:xfrm>
          <a:prstGeom prst="rect">
            <a:avLst/>
          </a:prstGeom>
        </p:spPr>
      </p:pic>
    </p:spTree>
    <p:extLst>
      <p:ext uri="{BB962C8B-B14F-4D97-AF65-F5344CB8AC3E}">
        <p14:creationId xmlns:p14="http://schemas.microsoft.com/office/powerpoint/2010/main" val="51752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9122-9CE3-C186-DECE-FA3CA434F539}"/>
              </a:ext>
            </a:extLst>
          </p:cNvPr>
          <p:cNvSpPr>
            <a:spLocks noGrp="1"/>
          </p:cNvSpPr>
          <p:nvPr>
            <p:ph type="title"/>
          </p:nvPr>
        </p:nvSpPr>
        <p:spPr>
          <a:xfrm>
            <a:off x="7569200" y="284480"/>
            <a:ext cx="3444240" cy="3850640"/>
          </a:xfrm>
        </p:spPr>
        <p:txBody>
          <a:bodyPr/>
          <a:lstStyle/>
          <a:p>
            <a:r>
              <a:rPr lang="en-US" dirty="0">
                <a:solidFill>
                  <a:schemeClr val="tx1"/>
                </a:solidFill>
              </a:rPr>
              <a:t>Data type :- unsigned </a:t>
            </a:r>
            <a:br>
              <a:rPr lang="en-US" dirty="0">
                <a:solidFill>
                  <a:schemeClr val="tx1"/>
                </a:solidFill>
              </a:rPr>
            </a:br>
            <a:r>
              <a:rPr lang="en-US" dirty="0" err="1">
                <a:solidFill>
                  <a:schemeClr val="tx1"/>
                </a:solidFill>
              </a:rPr>
              <a:t>wdith</a:t>
            </a:r>
            <a:r>
              <a:rPr lang="en-US" dirty="0">
                <a:solidFill>
                  <a:schemeClr val="tx1"/>
                </a:solidFill>
              </a:rPr>
              <a:t> = 32 bits</a:t>
            </a:r>
          </a:p>
        </p:txBody>
      </p:sp>
      <p:pic>
        <p:nvPicPr>
          <p:cNvPr id="7" name="Picture 6">
            <a:extLst>
              <a:ext uri="{FF2B5EF4-FFF2-40B4-BE49-F238E27FC236}">
                <a16:creationId xmlns:a16="http://schemas.microsoft.com/office/drawing/2014/main" id="{B010D642-2698-DD90-CD62-0C29A9EEB270}"/>
              </a:ext>
            </a:extLst>
          </p:cNvPr>
          <p:cNvPicPr>
            <a:picLocks noChangeAspect="1"/>
          </p:cNvPicPr>
          <p:nvPr/>
        </p:nvPicPr>
        <p:blipFill>
          <a:blip r:embed="rId2"/>
          <a:stretch>
            <a:fillRect/>
          </a:stretch>
        </p:blipFill>
        <p:spPr>
          <a:xfrm>
            <a:off x="1" y="0"/>
            <a:ext cx="7122160" cy="6858000"/>
          </a:xfrm>
          <a:prstGeom prst="rect">
            <a:avLst/>
          </a:prstGeom>
        </p:spPr>
      </p:pic>
    </p:spTree>
    <p:extLst>
      <p:ext uri="{BB962C8B-B14F-4D97-AF65-F5344CB8AC3E}">
        <p14:creationId xmlns:p14="http://schemas.microsoft.com/office/powerpoint/2010/main" val="2247825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9336-B528-962D-A0B0-3B4A15D6F72B}"/>
              </a:ext>
            </a:extLst>
          </p:cNvPr>
          <p:cNvSpPr>
            <a:spLocks noGrp="1"/>
          </p:cNvSpPr>
          <p:nvPr>
            <p:ph type="title"/>
          </p:nvPr>
        </p:nvSpPr>
        <p:spPr>
          <a:xfrm>
            <a:off x="6400800" y="808056"/>
            <a:ext cx="4826000" cy="5241888"/>
          </a:xfrm>
        </p:spPr>
        <p:txBody>
          <a:bodyPr/>
          <a:lstStyle/>
          <a:p>
            <a:r>
              <a:rPr lang="en-US" dirty="0">
                <a:solidFill>
                  <a:schemeClr val="tx1"/>
                </a:solidFill>
              </a:rPr>
              <a:t>Multipliers can either be implemented using LUTs or DSP Slices which are nothing but hardware blocks that are optimized for this purpose or you can simply use LUTs </a:t>
            </a:r>
            <a:br>
              <a:rPr lang="en-US" dirty="0">
                <a:solidFill>
                  <a:schemeClr val="tx1"/>
                </a:solidFill>
              </a:rPr>
            </a:br>
            <a:r>
              <a:rPr lang="en-US" dirty="0">
                <a:solidFill>
                  <a:schemeClr val="tx1"/>
                </a:solidFill>
              </a:rPr>
              <a:t>let us use DSP slices for this example </a:t>
            </a:r>
            <a:br>
              <a:rPr lang="en-US" dirty="0">
                <a:solidFill>
                  <a:schemeClr val="tx1"/>
                </a:solidFill>
              </a:rPr>
            </a:br>
            <a:r>
              <a:rPr lang="en-US" dirty="0">
                <a:solidFill>
                  <a:schemeClr val="tx1"/>
                </a:solidFill>
              </a:rPr>
              <a:t>either way it doesn’t change the functionality </a:t>
            </a:r>
          </a:p>
        </p:txBody>
      </p:sp>
      <p:pic>
        <p:nvPicPr>
          <p:cNvPr id="5" name="Picture 4">
            <a:extLst>
              <a:ext uri="{FF2B5EF4-FFF2-40B4-BE49-F238E27FC236}">
                <a16:creationId xmlns:a16="http://schemas.microsoft.com/office/drawing/2014/main" id="{C90F836E-BF71-30C0-D3D8-60B55332815C}"/>
              </a:ext>
            </a:extLst>
          </p:cNvPr>
          <p:cNvPicPr>
            <a:picLocks noChangeAspect="1"/>
          </p:cNvPicPr>
          <p:nvPr/>
        </p:nvPicPr>
        <p:blipFill>
          <a:blip r:embed="rId2"/>
          <a:stretch>
            <a:fillRect/>
          </a:stretch>
        </p:blipFill>
        <p:spPr>
          <a:xfrm>
            <a:off x="0" y="663851"/>
            <a:ext cx="6258798" cy="5144218"/>
          </a:xfrm>
          <a:prstGeom prst="rect">
            <a:avLst/>
          </a:prstGeom>
        </p:spPr>
      </p:pic>
    </p:spTree>
    <p:extLst>
      <p:ext uri="{BB962C8B-B14F-4D97-AF65-F5344CB8AC3E}">
        <p14:creationId xmlns:p14="http://schemas.microsoft.com/office/powerpoint/2010/main" val="1655123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0B463-F5B8-8BD9-7B17-8F81E8D29DD7}"/>
              </a:ext>
            </a:extLst>
          </p:cNvPr>
          <p:cNvSpPr>
            <a:spLocks noGrp="1"/>
          </p:cNvSpPr>
          <p:nvPr>
            <p:ph type="title"/>
          </p:nvPr>
        </p:nvSpPr>
        <p:spPr>
          <a:xfrm>
            <a:off x="6553200" y="490128"/>
            <a:ext cx="4206240" cy="5559816"/>
          </a:xfrm>
        </p:spPr>
        <p:txBody>
          <a:bodyPr>
            <a:normAutofit fontScale="90000"/>
          </a:bodyPr>
          <a:lstStyle/>
          <a:p>
            <a:r>
              <a:rPr lang="en-US" dirty="0"/>
              <a:t>In output and controls </a:t>
            </a:r>
            <a:br>
              <a:rPr lang="en-US" dirty="0"/>
            </a:br>
            <a:r>
              <a:rPr lang="en-US" dirty="0"/>
              <a:t>as o/p </a:t>
            </a:r>
            <a:r>
              <a:rPr lang="en-US" dirty="0" err="1"/>
              <a:t>shd</a:t>
            </a:r>
            <a:r>
              <a:rPr lang="en-US" dirty="0"/>
              <a:t> also be 32 bits. Press use custom o/p width and then make it 31 down to 0</a:t>
            </a:r>
            <a:br>
              <a:rPr lang="en-US" dirty="0"/>
            </a:br>
            <a:br>
              <a:rPr lang="en-US" dirty="0"/>
            </a:br>
            <a:r>
              <a:rPr lang="en-US" dirty="0"/>
              <a:t>we want pipeline stages to begin with 0 and you can see the clk will vanish as this is combinational logic not a sequential logic and press ok</a:t>
            </a:r>
          </a:p>
        </p:txBody>
      </p:sp>
      <p:pic>
        <p:nvPicPr>
          <p:cNvPr id="5" name="Picture 4">
            <a:extLst>
              <a:ext uri="{FF2B5EF4-FFF2-40B4-BE49-F238E27FC236}">
                <a16:creationId xmlns:a16="http://schemas.microsoft.com/office/drawing/2014/main" id="{007134E1-27F2-2808-85DD-BFA009E459D1}"/>
              </a:ext>
            </a:extLst>
          </p:cNvPr>
          <p:cNvPicPr>
            <a:picLocks noChangeAspect="1"/>
          </p:cNvPicPr>
          <p:nvPr/>
        </p:nvPicPr>
        <p:blipFill>
          <a:blip r:embed="rId2"/>
          <a:stretch>
            <a:fillRect/>
          </a:stretch>
        </p:blipFill>
        <p:spPr>
          <a:xfrm>
            <a:off x="0" y="490127"/>
            <a:ext cx="6354062" cy="5877745"/>
          </a:xfrm>
          <a:prstGeom prst="rect">
            <a:avLst/>
          </a:prstGeom>
        </p:spPr>
      </p:pic>
    </p:spTree>
    <p:extLst>
      <p:ext uri="{BB962C8B-B14F-4D97-AF65-F5344CB8AC3E}">
        <p14:creationId xmlns:p14="http://schemas.microsoft.com/office/powerpoint/2010/main" val="277795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8A0FA-6690-E3FE-746D-2BA0E2BE83F5}"/>
              </a:ext>
            </a:extLst>
          </p:cNvPr>
          <p:cNvSpPr>
            <a:spLocks noGrp="1"/>
          </p:cNvSpPr>
          <p:nvPr>
            <p:ph type="title"/>
          </p:nvPr>
        </p:nvSpPr>
        <p:spPr>
          <a:xfrm>
            <a:off x="5191760" y="0"/>
            <a:ext cx="5378379" cy="1885285"/>
          </a:xfrm>
        </p:spPr>
        <p:txBody>
          <a:bodyPr>
            <a:normAutofit fontScale="90000"/>
          </a:bodyPr>
          <a:lstStyle/>
          <a:p>
            <a:r>
              <a:rPr lang="en-US" dirty="0"/>
              <a:t>Global and generate </a:t>
            </a:r>
            <a:br>
              <a:rPr lang="en-US" dirty="0"/>
            </a:br>
            <a:r>
              <a:rPr lang="en-US" dirty="0"/>
              <a:t>now you can see in files that even multiplier has also got that icon</a:t>
            </a:r>
          </a:p>
        </p:txBody>
      </p:sp>
      <p:sp>
        <p:nvSpPr>
          <p:cNvPr id="3" name="Content Placeholder 2">
            <a:extLst>
              <a:ext uri="{FF2B5EF4-FFF2-40B4-BE49-F238E27FC236}">
                <a16:creationId xmlns:a16="http://schemas.microsoft.com/office/drawing/2014/main" id="{249521EB-502D-BC38-38AB-6C5572933EB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CF17DF3-7AFB-4432-55FA-0271A9D1AA0D}"/>
              </a:ext>
            </a:extLst>
          </p:cNvPr>
          <p:cNvPicPr>
            <a:picLocks noChangeAspect="1"/>
          </p:cNvPicPr>
          <p:nvPr/>
        </p:nvPicPr>
        <p:blipFill>
          <a:blip r:embed="rId2"/>
          <a:stretch>
            <a:fillRect/>
          </a:stretch>
        </p:blipFill>
        <p:spPr>
          <a:xfrm>
            <a:off x="163541" y="0"/>
            <a:ext cx="4896533" cy="6782747"/>
          </a:xfrm>
          <a:prstGeom prst="rect">
            <a:avLst/>
          </a:prstGeom>
        </p:spPr>
      </p:pic>
      <p:pic>
        <p:nvPicPr>
          <p:cNvPr id="7" name="Picture 6">
            <a:extLst>
              <a:ext uri="{FF2B5EF4-FFF2-40B4-BE49-F238E27FC236}">
                <a16:creationId xmlns:a16="http://schemas.microsoft.com/office/drawing/2014/main" id="{167A564B-5926-AB87-6D35-2370E5A36D9E}"/>
              </a:ext>
            </a:extLst>
          </p:cNvPr>
          <p:cNvPicPr>
            <a:picLocks noChangeAspect="1"/>
          </p:cNvPicPr>
          <p:nvPr/>
        </p:nvPicPr>
        <p:blipFill>
          <a:blip r:embed="rId3"/>
          <a:stretch>
            <a:fillRect/>
          </a:stretch>
        </p:blipFill>
        <p:spPr>
          <a:xfrm>
            <a:off x="5105967" y="1885285"/>
            <a:ext cx="7086033" cy="3243175"/>
          </a:xfrm>
          <a:prstGeom prst="rect">
            <a:avLst/>
          </a:prstGeom>
        </p:spPr>
      </p:pic>
    </p:spTree>
    <p:extLst>
      <p:ext uri="{BB962C8B-B14F-4D97-AF65-F5344CB8AC3E}">
        <p14:creationId xmlns:p14="http://schemas.microsoft.com/office/powerpoint/2010/main" val="264676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94CA-BEF4-3862-54BE-FA48AB2577A6}"/>
              </a:ext>
            </a:extLst>
          </p:cNvPr>
          <p:cNvSpPr>
            <a:spLocks noGrp="1"/>
          </p:cNvSpPr>
          <p:nvPr>
            <p:ph type="title"/>
          </p:nvPr>
        </p:nvSpPr>
        <p:spPr>
          <a:xfrm>
            <a:off x="6238240" y="370742"/>
            <a:ext cx="5008880" cy="6192618"/>
          </a:xfrm>
        </p:spPr>
        <p:txBody>
          <a:bodyPr>
            <a:normAutofit/>
          </a:bodyPr>
          <a:lstStyle/>
          <a:p>
            <a:r>
              <a:rPr lang="en-US" dirty="0"/>
              <a:t>To see missing files just press on that icon and expand it you will get to see all the missing files</a:t>
            </a:r>
            <a:br>
              <a:rPr lang="en-US" dirty="0"/>
            </a:br>
            <a:br>
              <a:rPr lang="en-US" dirty="0"/>
            </a:br>
            <a:r>
              <a:rPr lang="en-US" dirty="0"/>
              <a:t>as we can see adder is missing now the same way lets create an adder instance from </a:t>
            </a:r>
            <a:r>
              <a:rPr lang="en-US" dirty="0" err="1"/>
              <a:t>ip</a:t>
            </a:r>
            <a:r>
              <a:rPr lang="en-US" dirty="0"/>
              <a:t> catalog </a:t>
            </a:r>
          </a:p>
        </p:txBody>
      </p:sp>
      <p:pic>
        <p:nvPicPr>
          <p:cNvPr id="5" name="Picture 4">
            <a:extLst>
              <a:ext uri="{FF2B5EF4-FFF2-40B4-BE49-F238E27FC236}">
                <a16:creationId xmlns:a16="http://schemas.microsoft.com/office/drawing/2014/main" id="{DD026F38-8027-F9BF-8E3E-708C6D43EF6E}"/>
              </a:ext>
            </a:extLst>
          </p:cNvPr>
          <p:cNvPicPr>
            <a:picLocks noChangeAspect="1"/>
          </p:cNvPicPr>
          <p:nvPr/>
        </p:nvPicPr>
        <p:blipFill>
          <a:blip r:embed="rId2"/>
          <a:stretch>
            <a:fillRect/>
          </a:stretch>
        </p:blipFill>
        <p:spPr>
          <a:xfrm>
            <a:off x="18202" y="370742"/>
            <a:ext cx="6077798" cy="5953956"/>
          </a:xfrm>
          <a:prstGeom prst="rect">
            <a:avLst/>
          </a:prstGeom>
        </p:spPr>
      </p:pic>
    </p:spTree>
    <p:extLst>
      <p:ext uri="{BB962C8B-B14F-4D97-AF65-F5344CB8AC3E}">
        <p14:creationId xmlns:p14="http://schemas.microsoft.com/office/powerpoint/2010/main" val="2641626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E562-CBF9-E267-F81D-BF5B8185C461}"/>
              </a:ext>
            </a:extLst>
          </p:cNvPr>
          <p:cNvSpPr>
            <a:spLocks noGrp="1"/>
          </p:cNvSpPr>
          <p:nvPr>
            <p:ph type="title"/>
          </p:nvPr>
        </p:nvSpPr>
        <p:spPr>
          <a:xfrm>
            <a:off x="4667902" y="0"/>
            <a:ext cx="5902238" cy="1885285"/>
          </a:xfrm>
        </p:spPr>
        <p:txBody>
          <a:bodyPr>
            <a:normAutofit fontScale="90000"/>
          </a:bodyPr>
          <a:lstStyle/>
          <a:p>
            <a:r>
              <a:rPr lang="en-US" dirty="0"/>
              <a:t>Make all the inputs unsigned and width 32 bit and latency to be 0 as we need it to be combinational block</a:t>
            </a:r>
          </a:p>
        </p:txBody>
      </p:sp>
      <p:sp>
        <p:nvSpPr>
          <p:cNvPr id="3" name="Content Placeholder 2">
            <a:extLst>
              <a:ext uri="{FF2B5EF4-FFF2-40B4-BE49-F238E27FC236}">
                <a16:creationId xmlns:a16="http://schemas.microsoft.com/office/drawing/2014/main" id="{96E7201B-CF42-89E0-21ED-0BA87473448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AB93C60-BEC8-E0F3-BBFC-676F80B61900}"/>
              </a:ext>
            </a:extLst>
          </p:cNvPr>
          <p:cNvPicPr>
            <a:picLocks noChangeAspect="1"/>
          </p:cNvPicPr>
          <p:nvPr/>
        </p:nvPicPr>
        <p:blipFill>
          <a:blip r:embed="rId2"/>
          <a:stretch>
            <a:fillRect/>
          </a:stretch>
        </p:blipFill>
        <p:spPr>
          <a:xfrm>
            <a:off x="0" y="0"/>
            <a:ext cx="4667901" cy="3458058"/>
          </a:xfrm>
          <a:prstGeom prst="rect">
            <a:avLst/>
          </a:prstGeom>
        </p:spPr>
      </p:pic>
      <p:sp>
        <p:nvSpPr>
          <p:cNvPr id="6" name="Rectangle 5">
            <a:extLst>
              <a:ext uri="{FF2B5EF4-FFF2-40B4-BE49-F238E27FC236}">
                <a16:creationId xmlns:a16="http://schemas.microsoft.com/office/drawing/2014/main" id="{66E9A335-91F6-3844-FFC3-CFDF77B9AAAF}"/>
              </a:ext>
            </a:extLst>
          </p:cNvPr>
          <p:cNvSpPr/>
          <p:nvPr/>
        </p:nvSpPr>
        <p:spPr>
          <a:xfrm>
            <a:off x="883920" y="2733040"/>
            <a:ext cx="1584960" cy="2743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F6F73BF-26BC-C5EA-B937-A1039E7A2CAD}"/>
              </a:ext>
            </a:extLst>
          </p:cNvPr>
          <p:cNvPicPr>
            <a:picLocks noChangeAspect="1"/>
          </p:cNvPicPr>
          <p:nvPr/>
        </p:nvPicPr>
        <p:blipFill>
          <a:blip r:embed="rId3"/>
          <a:stretch>
            <a:fillRect/>
          </a:stretch>
        </p:blipFill>
        <p:spPr>
          <a:xfrm>
            <a:off x="3396941" y="1885285"/>
            <a:ext cx="7911139" cy="4972716"/>
          </a:xfrm>
          <a:prstGeom prst="rect">
            <a:avLst/>
          </a:prstGeom>
        </p:spPr>
      </p:pic>
    </p:spTree>
    <p:extLst>
      <p:ext uri="{BB962C8B-B14F-4D97-AF65-F5344CB8AC3E}">
        <p14:creationId xmlns:p14="http://schemas.microsoft.com/office/powerpoint/2010/main" val="52291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4F2FD-2A8A-346B-9806-23AA6F98E7D1}"/>
              </a:ext>
            </a:extLst>
          </p:cNvPr>
          <p:cNvSpPr>
            <a:spLocks noGrp="1"/>
          </p:cNvSpPr>
          <p:nvPr>
            <p:ph type="title"/>
          </p:nvPr>
        </p:nvSpPr>
        <p:spPr>
          <a:xfrm>
            <a:off x="1128448" y="186026"/>
            <a:ext cx="10128832" cy="1567749"/>
          </a:xfrm>
        </p:spPr>
        <p:txBody>
          <a:bodyPr>
            <a:normAutofit fontScale="90000"/>
          </a:bodyPr>
          <a:lstStyle/>
          <a:p>
            <a:r>
              <a:rPr lang="en-US" dirty="0"/>
              <a:t>In control we don’t need clock so disable that and for the purposes of this implementation there is a need to bypass the adder on certain cycles. Press ok and Generate </a:t>
            </a:r>
          </a:p>
        </p:txBody>
      </p:sp>
      <p:sp>
        <p:nvSpPr>
          <p:cNvPr id="3" name="Content Placeholder 2">
            <a:extLst>
              <a:ext uri="{FF2B5EF4-FFF2-40B4-BE49-F238E27FC236}">
                <a16:creationId xmlns:a16="http://schemas.microsoft.com/office/drawing/2014/main" id="{E8F15ED0-6340-8F49-1232-4CFB65FF0C2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CB81B1E-920B-6711-5D9B-44ABB8C09984}"/>
              </a:ext>
            </a:extLst>
          </p:cNvPr>
          <p:cNvPicPr>
            <a:picLocks noChangeAspect="1"/>
          </p:cNvPicPr>
          <p:nvPr/>
        </p:nvPicPr>
        <p:blipFill>
          <a:blip r:embed="rId2"/>
          <a:stretch>
            <a:fillRect/>
          </a:stretch>
        </p:blipFill>
        <p:spPr>
          <a:xfrm>
            <a:off x="1859279" y="1819530"/>
            <a:ext cx="8652780" cy="4852444"/>
          </a:xfrm>
          <a:prstGeom prst="rect">
            <a:avLst/>
          </a:prstGeom>
        </p:spPr>
      </p:pic>
    </p:spTree>
    <p:extLst>
      <p:ext uri="{BB962C8B-B14F-4D97-AF65-F5344CB8AC3E}">
        <p14:creationId xmlns:p14="http://schemas.microsoft.com/office/powerpoint/2010/main" val="1574453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0A7D-2244-8FA5-99EF-DBA8F8344D91}"/>
              </a:ext>
            </a:extLst>
          </p:cNvPr>
          <p:cNvSpPr>
            <a:spLocks noGrp="1"/>
          </p:cNvSpPr>
          <p:nvPr>
            <p:ph type="title"/>
          </p:nvPr>
        </p:nvSpPr>
        <p:spPr>
          <a:xfrm>
            <a:off x="1169088" y="269441"/>
            <a:ext cx="10017072" cy="1782675"/>
          </a:xfrm>
        </p:spPr>
        <p:txBody>
          <a:bodyPr>
            <a:normAutofit fontScale="90000"/>
          </a:bodyPr>
          <a:lstStyle/>
          <a:p>
            <a:r>
              <a:rPr lang="en-US" dirty="0"/>
              <a:t>Now to create instance for </a:t>
            </a:r>
            <a:r>
              <a:rPr lang="en-US" dirty="0" err="1"/>
              <a:t>BramC</a:t>
            </a:r>
            <a:r>
              <a:rPr lang="en-US" dirty="0"/>
              <a:t> we </a:t>
            </a:r>
            <a:r>
              <a:rPr lang="en-US" dirty="0" err="1"/>
              <a:t>shd</a:t>
            </a:r>
            <a:r>
              <a:rPr lang="en-US" dirty="0"/>
              <a:t> name it as same as it is instantiated in the parent file which is adder file same way search block memory in </a:t>
            </a:r>
            <a:r>
              <a:rPr lang="en-US" dirty="0" err="1"/>
              <a:t>ip</a:t>
            </a:r>
            <a:r>
              <a:rPr lang="en-US" dirty="0"/>
              <a:t> catalog and change the instance as BRAM_C</a:t>
            </a:r>
          </a:p>
        </p:txBody>
      </p:sp>
      <p:sp>
        <p:nvSpPr>
          <p:cNvPr id="3" name="Content Placeholder 2">
            <a:extLst>
              <a:ext uri="{FF2B5EF4-FFF2-40B4-BE49-F238E27FC236}">
                <a16:creationId xmlns:a16="http://schemas.microsoft.com/office/drawing/2014/main" id="{9EF60317-A0C3-DF6B-4C5A-AE48A38EF38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D683F17-28F7-6664-E8EC-67A1A690E593}"/>
              </a:ext>
            </a:extLst>
          </p:cNvPr>
          <p:cNvPicPr>
            <a:picLocks noChangeAspect="1"/>
          </p:cNvPicPr>
          <p:nvPr/>
        </p:nvPicPr>
        <p:blipFill>
          <a:blip r:embed="rId2"/>
          <a:stretch>
            <a:fillRect/>
          </a:stretch>
        </p:blipFill>
        <p:spPr>
          <a:xfrm>
            <a:off x="0" y="2052116"/>
            <a:ext cx="12192000" cy="4725815"/>
          </a:xfrm>
          <a:prstGeom prst="rect">
            <a:avLst/>
          </a:prstGeom>
        </p:spPr>
      </p:pic>
    </p:spTree>
    <p:extLst>
      <p:ext uri="{BB962C8B-B14F-4D97-AF65-F5344CB8AC3E}">
        <p14:creationId xmlns:p14="http://schemas.microsoft.com/office/powerpoint/2010/main" val="1550109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5097-E02D-36AE-F1FC-931003EF6819}"/>
              </a:ext>
            </a:extLst>
          </p:cNvPr>
          <p:cNvSpPr>
            <a:spLocks noGrp="1"/>
          </p:cNvSpPr>
          <p:nvPr>
            <p:ph type="title"/>
          </p:nvPr>
        </p:nvSpPr>
        <p:spPr>
          <a:xfrm>
            <a:off x="1912554" y="442296"/>
            <a:ext cx="7958331" cy="1077229"/>
          </a:xfrm>
        </p:spPr>
        <p:txBody>
          <a:bodyPr/>
          <a:lstStyle/>
          <a:p>
            <a:r>
              <a:rPr lang="en-US" dirty="0"/>
              <a:t>Change write width to 32 and change enable port to always enabled </a:t>
            </a:r>
          </a:p>
        </p:txBody>
      </p:sp>
      <p:sp>
        <p:nvSpPr>
          <p:cNvPr id="3" name="Content Placeholder 2">
            <a:extLst>
              <a:ext uri="{FF2B5EF4-FFF2-40B4-BE49-F238E27FC236}">
                <a16:creationId xmlns:a16="http://schemas.microsoft.com/office/drawing/2014/main" id="{71D0C235-E4C7-EA1D-2830-5CF816315B9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0EFC4D6-E421-46BF-BCC4-A5C1F9979AC1}"/>
              </a:ext>
            </a:extLst>
          </p:cNvPr>
          <p:cNvPicPr>
            <a:picLocks noChangeAspect="1"/>
          </p:cNvPicPr>
          <p:nvPr/>
        </p:nvPicPr>
        <p:blipFill>
          <a:blip r:embed="rId2"/>
          <a:stretch>
            <a:fillRect/>
          </a:stretch>
        </p:blipFill>
        <p:spPr>
          <a:xfrm>
            <a:off x="1318642" y="2052116"/>
            <a:ext cx="9146157" cy="4128094"/>
          </a:xfrm>
          <a:prstGeom prst="rect">
            <a:avLst/>
          </a:prstGeom>
        </p:spPr>
      </p:pic>
    </p:spTree>
    <p:extLst>
      <p:ext uri="{BB962C8B-B14F-4D97-AF65-F5344CB8AC3E}">
        <p14:creationId xmlns:p14="http://schemas.microsoft.com/office/powerpoint/2010/main" val="1195327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D79C2-7510-3DC2-70A7-98534C966C53}"/>
              </a:ext>
            </a:extLst>
          </p:cNvPr>
          <p:cNvSpPr>
            <a:spLocks noGrp="1"/>
          </p:cNvSpPr>
          <p:nvPr>
            <p:ph type="title"/>
          </p:nvPr>
        </p:nvSpPr>
        <p:spPr>
          <a:xfrm>
            <a:off x="1362128" y="234158"/>
            <a:ext cx="9336352" cy="1696242"/>
          </a:xfrm>
        </p:spPr>
        <p:txBody>
          <a:bodyPr>
            <a:normAutofit fontScale="90000"/>
          </a:bodyPr>
          <a:lstStyle/>
          <a:p>
            <a:r>
              <a:rPr lang="en-US" dirty="0"/>
              <a:t>In other options </a:t>
            </a:r>
            <a:br>
              <a:rPr lang="en-US" dirty="0"/>
            </a:br>
            <a:r>
              <a:rPr lang="en-US" dirty="0"/>
              <a:t>we don’t need to add any file for it as we are using this </a:t>
            </a:r>
            <a:r>
              <a:rPr lang="en-US" dirty="0" err="1"/>
              <a:t>bramC</a:t>
            </a:r>
            <a:r>
              <a:rPr lang="en-US" dirty="0"/>
              <a:t> to write our output then press ok and global and generate </a:t>
            </a:r>
          </a:p>
        </p:txBody>
      </p:sp>
      <p:sp>
        <p:nvSpPr>
          <p:cNvPr id="3" name="Content Placeholder 2">
            <a:extLst>
              <a:ext uri="{FF2B5EF4-FFF2-40B4-BE49-F238E27FC236}">
                <a16:creationId xmlns:a16="http://schemas.microsoft.com/office/drawing/2014/main" id="{EA209EAC-8DED-8A15-FF51-5B9A50F80A2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AAEA4D-2BCF-32FD-5BDF-2853A0646315}"/>
              </a:ext>
            </a:extLst>
          </p:cNvPr>
          <p:cNvPicPr>
            <a:picLocks noChangeAspect="1"/>
          </p:cNvPicPr>
          <p:nvPr/>
        </p:nvPicPr>
        <p:blipFill>
          <a:blip r:embed="rId2"/>
          <a:stretch>
            <a:fillRect/>
          </a:stretch>
        </p:blipFill>
        <p:spPr>
          <a:xfrm>
            <a:off x="1717040" y="2052116"/>
            <a:ext cx="8524240" cy="4033111"/>
          </a:xfrm>
          <a:prstGeom prst="rect">
            <a:avLst/>
          </a:prstGeom>
        </p:spPr>
      </p:pic>
    </p:spTree>
    <p:extLst>
      <p:ext uri="{BB962C8B-B14F-4D97-AF65-F5344CB8AC3E}">
        <p14:creationId xmlns:p14="http://schemas.microsoft.com/office/powerpoint/2010/main" val="1503568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3283-92B2-4232-D7FC-D945814CA5C9}"/>
              </a:ext>
            </a:extLst>
          </p:cNvPr>
          <p:cNvSpPr>
            <a:spLocks noGrp="1"/>
          </p:cNvSpPr>
          <p:nvPr>
            <p:ph type="title"/>
          </p:nvPr>
        </p:nvSpPr>
        <p:spPr>
          <a:xfrm>
            <a:off x="1128448" y="4577416"/>
            <a:ext cx="8757232" cy="2148504"/>
          </a:xfrm>
        </p:spPr>
        <p:txBody>
          <a:bodyPr>
            <a:normAutofit fontScale="90000"/>
          </a:bodyPr>
          <a:lstStyle/>
          <a:p>
            <a:r>
              <a:rPr lang="en-US" dirty="0"/>
              <a:t>So first time when we run we have just created a multiplier with no pipelining</a:t>
            </a:r>
            <a:br>
              <a:rPr lang="en-US" dirty="0"/>
            </a:br>
            <a:r>
              <a:rPr lang="en-US" dirty="0"/>
              <a:t>so comment all the lines which have written for pipelined and uncomment the lines which is written for unpipelined then save the file</a:t>
            </a:r>
          </a:p>
        </p:txBody>
      </p:sp>
      <p:pic>
        <p:nvPicPr>
          <p:cNvPr id="5" name="Picture 4">
            <a:extLst>
              <a:ext uri="{FF2B5EF4-FFF2-40B4-BE49-F238E27FC236}">
                <a16:creationId xmlns:a16="http://schemas.microsoft.com/office/drawing/2014/main" id="{11BB2748-C5E7-0CB9-3ACF-728789521A92}"/>
              </a:ext>
            </a:extLst>
          </p:cNvPr>
          <p:cNvPicPr>
            <a:picLocks noChangeAspect="1"/>
          </p:cNvPicPr>
          <p:nvPr/>
        </p:nvPicPr>
        <p:blipFill>
          <a:blip r:embed="rId2"/>
          <a:stretch>
            <a:fillRect/>
          </a:stretch>
        </p:blipFill>
        <p:spPr>
          <a:xfrm>
            <a:off x="0" y="0"/>
            <a:ext cx="7499147" cy="4388389"/>
          </a:xfrm>
          <a:prstGeom prst="rect">
            <a:avLst/>
          </a:prstGeom>
        </p:spPr>
      </p:pic>
      <p:sp>
        <p:nvSpPr>
          <p:cNvPr id="6" name="TextBox 5">
            <a:extLst>
              <a:ext uri="{FF2B5EF4-FFF2-40B4-BE49-F238E27FC236}">
                <a16:creationId xmlns:a16="http://schemas.microsoft.com/office/drawing/2014/main" id="{8EEF4E9A-FAE6-ED3E-0C33-389CC47D0052}"/>
              </a:ext>
            </a:extLst>
          </p:cNvPr>
          <p:cNvSpPr txBox="1"/>
          <p:nvPr/>
        </p:nvSpPr>
        <p:spPr>
          <a:xfrm>
            <a:off x="7945120" y="233680"/>
            <a:ext cx="3403600" cy="3539430"/>
          </a:xfrm>
          <a:prstGeom prst="rect">
            <a:avLst/>
          </a:prstGeom>
          <a:noFill/>
        </p:spPr>
        <p:txBody>
          <a:bodyPr wrap="square" rtlCol="0">
            <a:spAutoFit/>
          </a:bodyPr>
          <a:lstStyle/>
          <a:p>
            <a:r>
              <a:rPr lang="en-US" sz="2800" dirty="0"/>
              <a:t>Now check your constraint file if all the pins are instantiated and after that the code which is given is used for both the pipelined and unpipelined versions</a:t>
            </a:r>
          </a:p>
        </p:txBody>
      </p:sp>
    </p:spTree>
    <p:extLst>
      <p:ext uri="{BB962C8B-B14F-4D97-AF65-F5344CB8AC3E}">
        <p14:creationId xmlns:p14="http://schemas.microsoft.com/office/powerpoint/2010/main" val="2587527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E6CB-3661-6BBA-D88A-BEAABC38263A}"/>
              </a:ext>
            </a:extLst>
          </p:cNvPr>
          <p:cNvSpPr>
            <a:spLocks noGrp="1"/>
          </p:cNvSpPr>
          <p:nvPr>
            <p:ph type="title"/>
          </p:nvPr>
        </p:nvSpPr>
        <p:spPr>
          <a:xfrm>
            <a:off x="1785536" y="217739"/>
            <a:ext cx="7958331" cy="1077229"/>
          </a:xfrm>
        </p:spPr>
        <p:txBody>
          <a:bodyPr/>
          <a:lstStyle/>
          <a:p>
            <a:r>
              <a:rPr lang="en-US" dirty="0"/>
              <a:t>Once you have done this is how it will look and then now press run simulation</a:t>
            </a:r>
          </a:p>
        </p:txBody>
      </p:sp>
      <p:pic>
        <p:nvPicPr>
          <p:cNvPr id="5" name="Picture 4">
            <a:extLst>
              <a:ext uri="{FF2B5EF4-FFF2-40B4-BE49-F238E27FC236}">
                <a16:creationId xmlns:a16="http://schemas.microsoft.com/office/drawing/2014/main" id="{EC085DF4-29E5-1FF9-2451-876871FC1C0B}"/>
              </a:ext>
            </a:extLst>
          </p:cNvPr>
          <p:cNvPicPr>
            <a:picLocks noChangeAspect="1"/>
          </p:cNvPicPr>
          <p:nvPr/>
        </p:nvPicPr>
        <p:blipFill>
          <a:blip r:embed="rId2"/>
          <a:stretch>
            <a:fillRect/>
          </a:stretch>
        </p:blipFill>
        <p:spPr>
          <a:xfrm>
            <a:off x="1464155" y="1404235"/>
            <a:ext cx="9105984" cy="5293590"/>
          </a:xfrm>
          <a:prstGeom prst="rect">
            <a:avLst/>
          </a:prstGeom>
        </p:spPr>
      </p:pic>
    </p:spTree>
    <p:extLst>
      <p:ext uri="{BB962C8B-B14F-4D97-AF65-F5344CB8AC3E}">
        <p14:creationId xmlns:p14="http://schemas.microsoft.com/office/powerpoint/2010/main" val="1664316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8C9E-BA54-A761-EB05-A55FCAAE11BB}"/>
              </a:ext>
            </a:extLst>
          </p:cNvPr>
          <p:cNvSpPr>
            <a:spLocks noGrp="1"/>
          </p:cNvSpPr>
          <p:nvPr>
            <p:ph type="title"/>
          </p:nvPr>
        </p:nvSpPr>
        <p:spPr>
          <a:xfrm>
            <a:off x="1280871" y="160109"/>
            <a:ext cx="10067849" cy="2377709"/>
          </a:xfrm>
        </p:spPr>
        <p:txBody>
          <a:bodyPr>
            <a:normAutofit fontScale="90000"/>
          </a:bodyPr>
          <a:lstStyle/>
          <a:p>
            <a:r>
              <a:rPr lang="en-US" dirty="0"/>
              <a:t>This is the waveform you get after simulating </a:t>
            </a:r>
            <a:br>
              <a:rPr lang="en-US" dirty="0"/>
            </a:br>
            <a:r>
              <a:rPr lang="en-US" dirty="0"/>
              <a:t>we are reading the values from the switches and whatever address we give that address is been read that Is matrix C on to the LEDs </a:t>
            </a:r>
            <a:br>
              <a:rPr lang="en-US" dirty="0"/>
            </a:br>
            <a:r>
              <a:rPr lang="en-US" dirty="0"/>
              <a:t>now RUN SYNTHESIS </a:t>
            </a:r>
          </a:p>
        </p:txBody>
      </p:sp>
      <p:pic>
        <p:nvPicPr>
          <p:cNvPr id="5" name="Picture 4">
            <a:extLst>
              <a:ext uri="{FF2B5EF4-FFF2-40B4-BE49-F238E27FC236}">
                <a16:creationId xmlns:a16="http://schemas.microsoft.com/office/drawing/2014/main" id="{D973D69C-256C-AF5F-F9AB-7BE5AE224973}"/>
              </a:ext>
            </a:extLst>
          </p:cNvPr>
          <p:cNvPicPr>
            <a:picLocks noChangeAspect="1"/>
          </p:cNvPicPr>
          <p:nvPr/>
        </p:nvPicPr>
        <p:blipFill>
          <a:blip r:embed="rId2"/>
          <a:srcRect b="45313"/>
          <a:stretch>
            <a:fillRect/>
          </a:stretch>
        </p:blipFill>
        <p:spPr>
          <a:xfrm>
            <a:off x="1585316" y="2610915"/>
            <a:ext cx="9021368" cy="3608227"/>
          </a:xfrm>
          <a:prstGeom prst="rect">
            <a:avLst/>
          </a:prstGeom>
        </p:spPr>
      </p:pic>
    </p:spTree>
    <p:extLst>
      <p:ext uri="{BB962C8B-B14F-4D97-AF65-F5344CB8AC3E}">
        <p14:creationId xmlns:p14="http://schemas.microsoft.com/office/powerpoint/2010/main" val="4184637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4A9C-5FC3-8B87-DEF6-7C1CF31475B3}"/>
              </a:ext>
            </a:extLst>
          </p:cNvPr>
          <p:cNvSpPr>
            <a:spLocks noGrp="1"/>
          </p:cNvSpPr>
          <p:nvPr>
            <p:ph type="title"/>
          </p:nvPr>
        </p:nvSpPr>
        <p:spPr/>
        <p:txBody>
          <a:bodyPr>
            <a:normAutofit fontScale="90000"/>
          </a:bodyPr>
          <a:lstStyle/>
          <a:p>
            <a:r>
              <a:rPr lang="en-US" dirty="0"/>
              <a:t>After you run synthesis check and run post synthesis simulation and confirm that the generated has the same netlist has the same functionality as you expect </a:t>
            </a:r>
            <a:br>
              <a:rPr lang="en-US" dirty="0"/>
            </a:br>
            <a:r>
              <a:rPr lang="en-US" dirty="0"/>
              <a:t>and check the waveform</a:t>
            </a:r>
          </a:p>
        </p:txBody>
      </p:sp>
      <p:pic>
        <p:nvPicPr>
          <p:cNvPr id="5" name="Picture 4">
            <a:extLst>
              <a:ext uri="{FF2B5EF4-FFF2-40B4-BE49-F238E27FC236}">
                <a16:creationId xmlns:a16="http://schemas.microsoft.com/office/drawing/2014/main" id="{545E1C3F-BF8A-5240-C408-5EA70E67D817}"/>
              </a:ext>
            </a:extLst>
          </p:cNvPr>
          <p:cNvPicPr>
            <a:picLocks noChangeAspect="1"/>
          </p:cNvPicPr>
          <p:nvPr/>
        </p:nvPicPr>
        <p:blipFill>
          <a:blip r:embed="rId2"/>
          <a:stretch>
            <a:fillRect/>
          </a:stretch>
        </p:blipFill>
        <p:spPr>
          <a:xfrm>
            <a:off x="3600101" y="3592984"/>
            <a:ext cx="4991797" cy="2333951"/>
          </a:xfrm>
          <a:prstGeom prst="rect">
            <a:avLst/>
          </a:prstGeom>
        </p:spPr>
      </p:pic>
    </p:spTree>
    <p:extLst>
      <p:ext uri="{BB962C8B-B14F-4D97-AF65-F5344CB8AC3E}">
        <p14:creationId xmlns:p14="http://schemas.microsoft.com/office/powerpoint/2010/main" val="2336945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A816E-543A-1E20-B24A-CE5DD27D8F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DAD7C3-CA28-2EE7-9804-3F894C7FDC0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DE372F5-6D9C-765E-8233-8DFC90ED7E3A}"/>
              </a:ext>
            </a:extLst>
          </p:cNvPr>
          <p:cNvPicPr>
            <a:picLocks noChangeAspect="1"/>
          </p:cNvPicPr>
          <p:nvPr/>
        </p:nvPicPr>
        <p:blipFill>
          <a:blip r:embed="rId2"/>
          <a:stretch>
            <a:fillRect/>
          </a:stretch>
        </p:blipFill>
        <p:spPr>
          <a:xfrm>
            <a:off x="0" y="0"/>
            <a:ext cx="12192000" cy="6858000"/>
          </a:xfrm>
          <a:prstGeom prst="rect">
            <a:avLst/>
          </a:prstGeom>
        </p:spPr>
      </p:pic>
      <p:sp>
        <p:nvSpPr>
          <p:cNvPr id="6" name="Oval 5">
            <a:extLst>
              <a:ext uri="{FF2B5EF4-FFF2-40B4-BE49-F238E27FC236}">
                <a16:creationId xmlns:a16="http://schemas.microsoft.com/office/drawing/2014/main" id="{0987D2E0-02F0-C5B8-AC1B-1C4F0FC441D0}"/>
              </a:ext>
            </a:extLst>
          </p:cNvPr>
          <p:cNvSpPr/>
          <p:nvPr/>
        </p:nvSpPr>
        <p:spPr>
          <a:xfrm>
            <a:off x="254000" y="2966720"/>
            <a:ext cx="1493520" cy="5994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CB9E41-C0C3-C9D1-E3B0-2ABCE0220D83}"/>
              </a:ext>
            </a:extLst>
          </p:cNvPr>
          <p:cNvSpPr txBox="1"/>
          <p:nvPr/>
        </p:nvSpPr>
        <p:spPr>
          <a:xfrm>
            <a:off x="5638800" y="1885285"/>
            <a:ext cx="3941392" cy="646331"/>
          </a:xfrm>
          <a:prstGeom prst="rect">
            <a:avLst/>
          </a:prstGeom>
          <a:noFill/>
        </p:spPr>
        <p:txBody>
          <a:bodyPr wrap="square" rtlCol="0">
            <a:spAutoFit/>
          </a:bodyPr>
          <a:lstStyle/>
          <a:p>
            <a:r>
              <a:rPr lang="en-US" dirty="0">
                <a:solidFill>
                  <a:schemeClr val="bg1"/>
                </a:solidFill>
              </a:rPr>
              <a:t>To check timing of the design press report timing summary and press ok </a:t>
            </a:r>
          </a:p>
        </p:txBody>
      </p:sp>
    </p:spTree>
    <p:extLst>
      <p:ext uri="{BB962C8B-B14F-4D97-AF65-F5344CB8AC3E}">
        <p14:creationId xmlns:p14="http://schemas.microsoft.com/office/powerpoint/2010/main" val="2126734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0290-7222-A509-71A2-1433791AFCD5}"/>
              </a:ext>
            </a:extLst>
          </p:cNvPr>
          <p:cNvSpPr>
            <a:spLocks noGrp="1"/>
          </p:cNvSpPr>
          <p:nvPr>
            <p:ph type="title"/>
          </p:nvPr>
        </p:nvSpPr>
        <p:spPr>
          <a:xfrm>
            <a:off x="1026848" y="0"/>
            <a:ext cx="10230432" cy="2641600"/>
          </a:xfrm>
        </p:spPr>
        <p:txBody>
          <a:bodyPr>
            <a:normAutofit fontScale="90000"/>
          </a:bodyPr>
          <a:lstStyle/>
          <a:p>
            <a:r>
              <a:rPr lang="en-US" dirty="0"/>
              <a:t>As this is unpipelined version of the code </a:t>
            </a:r>
            <a:br>
              <a:rPr lang="en-US" dirty="0"/>
            </a:br>
            <a:r>
              <a:rPr lang="en-US" dirty="0"/>
              <a:t>we know for a fact that 10ns is not sufficient</a:t>
            </a:r>
            <a:br>
              <a:rPr lang="en-US" dirty="0"/>
            </a:br>
            <a:r>
              <a:rPr lang="en-US" dirty="0"/>
              <a:t>we have –</a:t>
            </a:r>
            <a:r>
              <a:rPr lang="en-US" dirty="0" err="1"/>
              <a:t>ve</a:t>
            </a:r>
            <a:r>
              <a:rPr lang="en-US" dirty="0"/>
              <a:t> WNS which means that its not able to finish all the operations within the 10ns period mentioned</a:t>
            </a:r>
            <a:br>
              <a:rPr lang="en-US" dirty="0"/>
            </a:br>
            <a:br>
              <a:rPr lang="en-US" dirty="0"/>
            </a:br>
            <a:r>
              <a:rPr lang="en-US" dirty="0"/>
              <a:t> </a:t>
            </a:r>
          </a:p>
        </p:txBody>
      </p:sp>
      <p:pic>
        <p:nvPicPr>
          <p:cNvPr id="7" name="Picture 6">
            <a:extLst>
              <a:ext uri="{FF2B5EF4-FFF2-40B4-BE49-F238E27FC236}">
                <a16:creationId xmlns:a16="http://schemas.microsoft.com/office/drawing/2014/main" id="{8D98BBDF-3689-C9CF-561C-A6458A41682B}"/>
              </a:ext>
            </a:extLst>
          </p:cNvPr>
          <p:cNvPicPr>
            <a:picLocks noChangeAspect="1"/>
          </p:cNvPicPr>
          <p:nvPr/>
        </p:nvPicPr>
        <p:blipFill>
          <a:blip r:embed="rId2"/>
          <a:stretch>
            <a:fillRect/>
          </a:stretch>
        </p:blipFill>
        <p:spPr>
          <a:xfrm>
            <a:off x="551676" y="2744308"/>
            <a:ext cx="11088647" cy="3305636"/>
          </a:xfrm>
          <a:prstGeom prst="rect">
            <a:avLst/>
          </a:prstGeom>
        </p:spPr>
      </p:pic>
    </p:spTree>
    <p:extLst>
      <p:ext uri="{BB962C8B-B14F-4D97-AF65-F5344CB8AC3E}">
        <p14:creationId xmlns:p14="http://schemas.microsoft.com/office/powerpoint/2010/main" val="2806514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3D74D-0469-CB03-41EF-7D1EC78665DC}"/>
              </a:ext>
            </a:extLst>
          </p:cNvPr>
          <p:cNvSpPr>
            <a:spLocks noGrp="1"/>
          </p:cNvSpPr>
          <p:nvPr>
            <p:ph type="title"/>
          </p:nvPr>
        </p:nvSpPr>
        <p:spPr>
          <a:xfrm>
            <a:off x="1433248" y="186026"/>
            <a:ext cx="9742752" cy="1699259"/>
          </a:xfrm>
        </p:spPr>
        <p:txBody>
          <a:bodyPr>
            <a:normAutofit fontScale="90000"/>
          </a:bodyPr>
          <a:lstStyle/>
          <a:p>
            <a:r>
              <a:rPr lang="en-US" dirty="0"/>
              <a:t>To see which path is not able to complete just press on the WNS here is -7ns this is what you get and to see the schematic of particular path select the path and just click on the highlighted icon</a:t>
            </a:r>
          </a:p>
        </p:txBody>
      </p:sp>
      <p:sp>
        <p:nvSpPr>
          <p:cNvPr id="3" name="Content Placeholder 2">
            <a:extLst>
              <a:ext uri="{FF2B5EF4-FFF2-40B4-BE49-F238E27FC236}">
                <a16:creationId xmlns:a16="http://schemas.microsoft.com/office/drawing/2014/main" id="{CBFDAB82-C679-240A-5487-F8A2297A823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FF26917-9C4D-F058-5DC9-1505CCFED05B}"/>
              </a:ext>
            </a:extLst>
          </p:cNvPr>
          <p:cNvPicPr>
            <a:picLocks noChangeAspect="1"/>
          </p:cNvPicPr>
          <p:nvPr/>
        </p:nvPicPr>
        <p:blipFill>
          <a:blip r:embed="rId2"/>
          <a:stretch>
            <a:fillRect/>
          </a:stretch>
        </p:blipFill>
        <p:spPr>
          <a:xfrm>
            <a:off x="0" y="1885285"/>
            <a:ext cx="12192000" cy="4366156"/>
          </a:xfrm>
          <a:prstGeom prst="rect">
            <a:avLst/>
          </a:prstGeom>
        </p:spPr>
      </p:pic>
      <p:sp>
        <p:nvSpPr>
          <p:cNvPr id="6" name="Oval 5">
            <a:extLst>
              <a:ext uri="{FF2B5EF4-FFF2-40B4-BE49-F238E27FC236}">
                <a16:creationId xmlns:a16="http://schemas.microsoft.com/office/drawing/2014/main" id="{393A65D6-5DC2-451A-56E8-611482819B49}"/>
              </a:ext>
            </a:extLst>
          </p:cNvPr>
          <p:cNvSpPr/>
          <p:nvPr/>
        </p:nvSpPr>
        <p:spPr>
          <a:xfrm>
            <a:off x="3108960" y="2184400"/>
            <a:ext cx="477520" cy="3759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4098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98A1B-D946-E94C-D0F1-E267B6495B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A9ADBD-202F-331A-F21A-1FB585BF804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9732B51-D392-2E5E-12B8-0AABAF5BB3A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2943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EFC7-0BAB-4FAA-20DB-8ADDC86BF0EA}"/>
              </a:ext>
            </a:extLst>
          </p:cNvPr>
          <p:cNvSpPr>
            <a:spLocks noGrp="1"/>
          </p:cNvSpPr>
          <p:nvPr>
            <p:ph type="title"/>
          </p:nvPr>
        </p:nvSpPr>
        <p:spPr>
          <a:xfrm>
            <a:off x="8310880" y="121920"/>
            <a:ext cx="2987040" cy="6736080"/>
          </a:xfrm>
        </p:spPr>
        <p:txBody>
          <a:bodyPr>
            <a:noAutofit/>
          </a:bodyPr>
          <a:lstStyle/>
          <a:p>
            <a:r>
              <a:rPr lang="en-US" sz="2800" dirty="0"/>
              <a:t>To explore more about the path just minimize them and zoom in </a:t>
            </a:r>
            <a:br>
              <a:rPr lang="en-US" sz="2800" dirty="0"/>
            </a:br>
            <a:r>
              <a:rPr lang="en-US" sz="2800" dirty="0"/>
              <a:t>The path is from </a:t>
            </a:r>
            <a:r>
              <a:rPr lang="en-US" sz="2800" dirty="0" err="1"/>
              <a:t>bram</a:t>
            </a:r>
            <a:r>
              <a:rPr lang="en-US" sz="2800" dirty="0"/>
              <a:t> going to the multiplier and then going to the adder inside which we have a register</a:t>
            </a:r>
            <a:br>
              <a:rPr lang="en-US" sz="2800" dirty="0"/>
            </a:br>
            <a:r>
              <a:rPr lang="en-US" sz="2800" dirty="0"/>
              <a:t>this is the </a:t>
            </a:r>
            <a:r>
              <a:rPr lang="en-US" sz="2800" dirty="0" err="1"/>
              <a:t>trublsome</a:t>
            </a:r>
            <a:r>
              <a:rPr lang="en-US" sz="2800" dirty="0"/>
              <a:t> path which is getting us WNS –VE</a:t>
            </a:r>
            <a:br>
              <a:rPr lang="en-US" sz="2800" dirty="0"/>
            </a:br>
            <a:endParaRPr lang="en-US" sz="2800" dirty="0"/>
          </a:p>
        </p:txBody>
      </p:sp>
      <p:pic>
        <p:nvPicPr>
          <p:cNvPr id="5" name="Picture 4">
            <a:extLst>
              <a:ext uri="{FF2B5EF4-FFF2-40B4-BE49-F238E27FC236}">
                <a16:creationId xmlns:a16="http://schemas.microsoft.com/office/drawing/2014/main" id="{D3349F1C-9DDD-CA7D-A733-6ED42CE3E9B5}"/>
              </a:ext>
            </a:extLst>
          </p:cNvPr>
          <p:cNvPicPr>
            <a:picLocks noChangeAspect="1"/>
          </p:cNvPicPr>
          <p:nvPr/>
        </p:nvPicPr>
        <p:blipFill>
          <a:blip r:embed="rId2"/>
          <a:stretch>
            <a:fillRect/>
          </a:stretch>
        </p:blipFill>
        <p:spPr>
          <a:xfrm>
            <a:off x="0" y="0"/>
            <a:ext cx="8193024" cy="6858000"/>
          </a:xfrm>
          <a:prstGeom prst="rect">
            <a:avLst/>
          </a:prstGeom>
        </p:spPr>
      </p:pic>
    </p:spTree>
    <p:extLst>
      <p:ext uri="{BB962C8B-B14F-4D97-AF65-F5344CB8AC3E}">
        <p14:creationId xmlns:p14="http://schemas.microsoft.com/office/powerpoint/2010/main" val="1844900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A3516-D24E-E6CD-023F-B0E3BB1301E4}"/>
              </a:ext>
            </a:extLst>
          </p:cNvPr>
          <p:cNvSpPr>
            <a:spLocks noGrp="1"/>
          </p:cNvSpPr>
          <p:nvPr>
            <p:ph type="title"/>
          </p:nvPr>
        </p:nvSpPr>
        <p:spPr/>
        <p:txBody>
          <a:bodyPr>
            <a:normAutofit fontScale="90000"/>
          </a:bodyPr>
          <a:lstStyle/>
          <a:p>
            <a:r>
              <a:rPr lang="en-US" dirty="0"/>
              <a:t>ONE solution this is increase the clock period by pressing on edit timing constraints</a:t>
            </a:r>
          </a:p>
        </p:txBody>
      </p:sp>
      <p:sp>
        <p:nvSpPr>
          <p:cNvPr id="3" name="Content Placeholder 2">
            <a:extLst>
              <a:ext uri="{FF2B5EF4-FFF2-40B4-BE49-F238E27FC236}">
                <a16:creationId xmlns:a16="http://schemas.microsoft.com/office/drawing/2014/main" id="{09D3616B-1BA2-B2FE-39FD-45B8C4967C7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3C74DA6-9577-3223-229B-93BB3A49B445}"/>
              </a:ext>
            </a:extLst>
          </p:cNvPr>
          <p:cNvPicPr>
            <a:picLocks noChangeAspect="1"/>
          </p:cNvPicPr>
          <p:nvPr/>
        </p:nvPicPr>
        <p:blipFill>
          <a:blip r:embed="rId2"/>
          <a:stretch>
            <a:fillRect/>
          </a:stretch>
        </p:blipFill>
        <p:spPr>
          <a:xfrm>
            <a:off x="4141920" y="2140040"/>
            <a:ext cx="3721920" cy="4565375"/>
          </a:xfrm>
          <a:prstGeom prst="rect">
            <a:avLst/>
          </a:prstGeom>
        </p:spPr>
      </p:pic>
    </p:spTree>
    <p:extLst>
      <p:ext uri="{BB962C8B-B14F-4D97-AF65-F5344CB8AC3E}">
        <p14:creationId xmlns:p14="http://schemas.microsoft.com/office/powerpoint/2010/main" val="1485294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FE9C-CFB8-2725-19C4-D96E20CC07AC}"/>
              </a:ext>
            </a:extLst>
          </p:cNvPr>
          <p:cNvSpPr>
            <a:spLocks noGrp="1"/>
          </p:cNvSpPr>
          <p:nvPr>
            <p:ph type="title"/>
          </p:nvPr>
        </p:nvSpPr>
        <p:spPr>
          <a:xfrm>
            <a:off x="1585648" y="269441"/>
            <a:ext cx="9366832" cy="1650799"/>
          </a:xfrm>
        </p:spPr>
        <p:txBody>
          <a:bodyPr>
            <a:normAutofit/>
          </a:bodyPr>
          <a:lstStyle/>
          <a:p>
            <a:r>
              <a:rPr lang="en-US" dirty="0"/>
              <a:t>Now increase the clock period by 8ns as that’s what we got in WNS as -7.087ns </a:t>
            </a:r>
            <a:br>
              <a:rPr lang="en-US" dirty="0"/>
            </a:br>
            <a:r>
              <a:rPr lang="en-US" dirty="0"/>
              <a:t>make it 12ns and click on apply and rerun</a:t>
            </a:r>
          </a:p>
        </p:txBody>
      </p:sp>
      <p:sp>
        <p:nvSpPr>
          <p:cNvPr id="3" name="Content Placeholder 2">
            <a:extLst>
              <a:ext uri="{FF2B5EF4-FFF2-40B4-BE49-F238E27FC236}">
                <a16:creationId xmlns:a16="http://schemas.microsoft.com/office/drawing/2014/main" id="{56941145-0A95-22C2-4F14-014D9627BF3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586D242-8261-05A7-F2D9-097A16BFD042}"/>
              </a:ext>
            </a:extLst>
          </p:cNvPr>
          <p:cNvPicPr>
            <a:picLocks noChangeAspect="1"/>
          </p:cNvPicPr>
          <p:nvPr/>
        </p:nvPicPr>
        <p:blipFill>
          <a:blip r:embed="rId2"/>
          <a:stretch>
            <a:fillRect/>
          </a:stretch>
        </p:blipFill>
        <p:spPr>
          <a:xfrm>
            <a:off x="1061007" y="1754637"/>
            <a:ext cx="10212225" cy="2657846"/>
          </a:xfrm>
          <a:prstGeom prst="rect">
            <a:avLst/>
          </a:prstGeom>
        </p:spPr>
      </p:pic>
      <p:pic>
        <p:nvPicPr>
          <p:cNvPr id="7" name="Picture 6">
            <a:extLst>
              <a:ext uri="{FF2B5EF4-FFF2-40B4-BE49-F238E27FC236}">
                <a16:creationId xmlns:a16="http://schemas.microsoft.com/office/drawing/2014/main" id="{FE5E1C03-F78D-E783-CEF1-1F4B467B2272}"/>
              </a:ext>
            </a:extLst>
          </p:cNvPr>
          <p:cNvPicPr>
            <a:picLocks noChangeAspect="1"/>
          </p:cNvPicPr>
          <p:nvPr/>
        </p:nvPicPr>
        <p:blipFill>
          <a:blip r:embed="rId3"/>
          <a:stretch>
            <a:fillRect/>
          </a:stretch>
        </p:blipFill>
        <p:spPr>
          <a:xfrm>
            <a:off x="1127690" y="3864029"/>
            <a:ext cx="10078857" cy="2724530"/>
          </a:xfrm>
          <a:prstGeom prst="rect">
            <a:avLst/>
          </a:prstGeom>
        </p:spPr>
      </p:pic>
      <p:sp>
        <p:nvSpPr>
          <p:cNvPr id="8" name="TextBox 7">
            <a:extLst>
              <a:ext uri="{FF2B5EF4-FFF2-40B4-BE49-F238E27FC236}">
                <a16:creationId xmlns:a16="http://schemas.microsoft.com/office/drawing/2014/main" id="{A4F8DCB5-97F6-DDD2-ABA2-AFEE4C4C8189}"/>
              </a:ext>
            </a:extLst>
          </p:cNvPr>
          <p:cNvSpPr txBox="1"/>
          <p:nvPr/>
        </p:nvSpPr>
        <p:spPr>
          <a:xfrm>
            <a:off x="3403600" y="3972560"/>
            <a:ext cx="3474720" cy="646331"/>
          </a:xfrm>
          <a:prstGeom prst="rect">
            <a:avLst/>
          </a:prstGeom>
          <a:noFill/>
        </p:spPr>
        <p:txBody>
          <a:bodyPr wrap="square" rtlCol="0">
            <a:spAutoFit/>
          </a:bodyPr>
          <a:lstStyle/>
          <a:p>
            <a:r>
              <a:rPr lang="en-US" dirty="0">
                <a:solidFill>
                  <a:schemeClr val="bg1"/>
                </a:solidFill>
              </a:rPr>
              <a:t>Now the issue is solved as you can see there is no violation </a:t>
            </a:r>
          </a:p>
        </p:txBody>
      </p:sp>
    </p:spTree>
    <p:extLst>
      <p:ext uri="{BB962C8B-B14F-4D97-AF65-F5344CB8AC3E}">
        <p14:creationId xmlns:p14="http://schemas.microsoft.com/office/powerpoint/2010/main" val="1728395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E78E-7962-DD8E-34EC-04BA2679991C}"/>
              </a:ext>
            </a:extLst>
          </p:cNvPr>
          <p:cNvSpPr>
            <a:spLocks noGrp="1"/>
          </p:cNvSpPr>
          <p:nvPr>
            <p:ph type="title"/>
          </p:nvPr>
        </p:nvSpPr>
        <p:spPr>
          <a:xfrm>
            <a:off x="1037008" y="150028"/>
            <a:ext cx="9204272" cy="4757252"/>
          </a:xfrm>
        </p:spPr>
        <p:txBody>
          <a:bodyPr>
            <a:normAutofit/>
          </a:bodyPr>
          <a:lstStyle/>
          <a:p>
            <a:r>
              <a:rPr lang="en-US" dirty="0"/>
              <a:t>But we don’t want to change the total time period </a:t>
            </a:r>
            <a:br>
              <a:rPr lang="en-US" dirty="0"/>
            </a:br>
            <a:r>
              <a:rPr lang="en-US" dirty="0"/>
              <a:t>our job is to keep it 10ns period or </a:t>
            </a:r>
            <a:r>
              <a:rPr lang="en-US" dirty="0" err="1"/>
              <a:t>infact</a:t>
            </a:r>
            <a:r>
              <a:rPr lang="en-US" dirty="0"/>
              <a:t> lesser than that so </a:t>
            </a:r>
            <a:br>
              <a:rPr lang="en-US" dirty="0"/>
            </a:br>
            <a:r>
              <a:rPr lang="en-US" dirty="0"/>
              <a:t>that’s where we use PIPELINED code comes</a:t>
            </a:r>
            <a:br>
              <a:rPr lang="en-US" dirty="0"/>
            </a:br>
            <a:r>
              <a:rPr lang="en-US" dirty="0"/>
              <a:t>now go back to the multiplier code go to the sources </a:t>
            </a:r>
            <a:br>
              <a:rPr lang="en-US" dirty="0"/>
            </a:br>
            <a:r>
              <a:rPr lang="en-US" dirty="0"/>
              <a:t>we have to change the multiplier instance</a:t>
            </a:r>
          </a:p>
        </p:txBody>
      </p:sp>
    </p:spTree>
    <p:extLst>
      <p:ext uri="{BB962C8B-B14F-4D97-AF65-F5344CB8AC3E}">
        <p14:creationId xmlns:p14="http://schemas.microsoft.com/office/powerpoint/2010/main" val="2608567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5F42-01D2-EEAD-0C08-F124B0F5103B}"/>
              </a:ext>
            </a:extLst>
          </p:cNvPr>
          <p:cNvSpPr>
            <a:spLocks noGrp="1"/>
          </p:cNvSpPr>
          <p:nvPr>
            <p:ph type="title"/>
          </p:nvPr>
        </p:nvSpPr>
        <p:spPr>
          <a:xfrm>
            <a:off x="6492240" y="1625601"/>
            <a:ext cx="4724400" cy="1889760"/>
          </a:xfrm>
        </p:spPr>
        <p:txBody>
          <a:bodyPr>
            <a:normAutofit fontScale="90000"/>
          </a:bodyPr>
          <a:lstStyle/>
          <a:p>
            <a:r>
              <a:rPr lang="en-US" dirty="0"/>
              <a:t>Double click on this</a:t>
            </a:r>
            <a:br>
              <a:rPr lang="en-US" dirty="0"/>
            </a:br>
            <a:r>
              <a:rPr lang="en-US" dirty="0"/>
              <a:t>make pipeline stages 5 </a:t>
            </a:r>
            <a:br>
              <a:rPr lang="en-US" dirty="0"/>
            </a:br>
            <a:r>
              <a:rPr lang="en-US" dirty="0"/>
              <a:t>and press ok and generate  </a:t>
            </a:r>
            <a:br>
              <a:rPr lang="en-US" dirty="0"/>
            </a:br>
            <a:endParaRPr lang="en-US" dirty="0"/>
          </a:p>
        </p:txBody>
      </p:sp>
      <p:pic>
        <p:nvPicPr>
          <p:cNvPr id="5" name="Picture 4">
            <a:extLst>
              <a:ext uri="{FF2B5EF4-FFF2-40B4-BE49-F238E27FC236}">
                <a16:creationId xmlns:a16="http://schemas.microsoft.com/office/drawing/2014/main" id="{7F1BBE88-090D-6E43-B5F9-7C017CC9447C}"/>
              </a:ext>
            </a:extLst>
          </p:cNvPr>
          <p:cNvPicPr>
            <a:picLocks noChangeAspect="1"/>
          </p:cNvPicPr>
          <p:nvPr/>
        </p:nvPicPr>
        <p:blipFill>
          <a:blip r:embed="rId2"/>
          <a:stretch>
            <a:fillRect/>
          </a:stretch>
        </p:blipFill>
        <p:spPr>
          <a:xfrm>
            <a:off x="0" y="10361"/>
            <a:ext cx="5372100" cy="3886200"/>
          </a:xfrm>
          <a:prstGeom prst="rect">
            <a:avLst/>
          </a:prstGeom>
        </p:spPr>
      </p:pic>
      <p:pic>
        <p:nvPicPr>
          <p:cNvPr id="7" name="Picture 6">
            <a:extLst>
              <a:ext uri="{FF2B5EF4-FFF2-40B4-BE49-F238E27FC236}">
                <a16:creationId xmlns:a16="http://schemas.microsoft.com/office/drawing/2014/main" id="{22542216-5EB6-7A8C-2CF1-1154B79C4DCF}"/>
              </a:ext>
            </a:extLst>
          </p:cNvPr>
          <p:cNvPicPr>
            <a:picLocks noChangeAspect="1"/>
          </p:cNvPicPr>
          <p:nvPr/>
        </p:nvPicPr>
        <p:blipFill>
          <a:blip r:embed="rId3"/>
          <a:stretch>
            <a:fillRect/>
          </a:stretch>
        </p:blipFill>
        <p:spPr>
          <a:xfrm>
            <a:off x="2407920" y="4222749"/>
            <a:ext cx="6362700" cy="2019300"/>
          </a:xfrm>
          <a:prstGeom prst="rect">
            <a:avLst/>
          </a:prstGeom>
        </p:spPr>
      </p:pic>
    </p:spTree>
    <p:extLst>
      <p:ext uri="{BB962C8B-B14F-4D97-AF65-F5344CB8AC3E}">
        <p14:creationId xmlns:p14="http://schemas.microsoft.com/office/powerpoint/2010/main" val="2903321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2F5F8-0AD5-BAEA-EF72-04A20A8B8B7A}"/>
              </a:ext>
            </a:extLst>
          </p:cNvPr>
          <p:cNvSpPr>
            <a:spLocks noGrp="1"/>
          </p:cNvSpPr>
          <p:nvPr>
            <p:ph type="title"/>
          </p:nvPr>
        </p:nvSpPr>
        <p:spPr>
          <a:xfrm>
            <a:off x="1087808" y="96652"/>
            <a:ext cx="9417632" cy="1955464"/>
          </a:xfrm>
        </p:spPr>
        <p:txBody>
          <a:bodyPr>
            <a:normAutofit fontScale="90000"/>
          </a:bodyPr>
          <a:lstStyle/>
          <a:p>
            <a:r>
              <a:rPr lang="en-US" dirty="0"/>
              <a:t>Having generating these files we need to change the code as well so in multiplier part A just uncomment all the pipeline version and comment all the unpipelined version of code and save it  </a:t>
            </a:r>
          </a:p>
        </p:txBody>
      </p:sp>
      <p:pic>
        <p:nvPicPr>
          <p:cNvPr id="5" name="Picture 4">
            <a:extLst>
              <a:ext uri="{FF2B5EF4-FFF2-40B4-BE49-F238E27FC236}">
                <a16:creationId xmlns:a16="http://schemas.microsoft.com/office/drawing/2014/main" id="{335F8EE8-A739-A5CD-2EB6-BC9D4F2C2F30}"/>
              </a:ext>
            </a:extLst>
          </p:cNvPr>
          <p:cNvPicPr>
            <a:picLocks noChangeAspect="1"/>
          </p:cNvPicPr>
          <p:nvPr/>
        </p:nvPicPr>
        <p:blipFill>
          <a:blip r:embed="rId2"/>
          <a:stretch>
            <a:fillRect/>
          </a:stretch>
        </p:blipFill>
        <p:spPr>
          <a:xfrm>
            <a:off x="1367793" y="2052116"/>
            <a:ext cx="9050013" cy="4525006"/>
          </a:xfrm>
          <a:prstGeom prst="rect">
            <a:avLst/>
          </a:prstGeom>
        </p:spPr>
      </p:pic>
    </p:spTree>
    <p:extLst>
      <p:ext uri="{BB962C8B-B14F-4D97-AF65-F5344CB8AC3E}">
        <p14:creationId xmlns:p14="http://schemas.microsoft.com/office/powerpoint/2010/main" val="831681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7666-0A90-9958-08C2-E47FF9B599E5}"/>
              </a:ext>
            </a:extLst>
          </p:cNvPr>
          <p:cNvSpPr>
            <a:spLocks noGrp="1"/>
          </p:cNvSpPr>
          <p:nvPr>
            <p:ph type="title"/>
          </p:nvPr>
        </p:nvSpPr>
        <p:spPr>
          <a:xfrm>
            <a:off x="1026848" y="96856"/>
            <a:ext cx="9681792" cy="3509944"/>
          </a:xfrm>
        </p:spPr>
        <p:txBody>
          <a:bodyPr>
            <a:normAutofit/>
          </a:bodyPr>
          <a:lstStyle/>
          <a:p>
            <a:r>
              <a:rPr lang="en-US" sz="3200" dirty="0"/>
              <a:t>Now run simulation and check the functionality and then run synthesis and open the synthesized  design  check the timing response this time we don’t see the failure </a:t>
            </a:r>
            <a:br>
              <a:rPr lang="en-US" sz="3200" dirty="0"/>
            </a:br>
            <a:r>
              <a:rPr lang="en-US" sz="3200" dirty="0"/>
              <a:t>by this we can increase the clk frequency without any issue or reduce the clk period </a:t>
            </a:r>
            <a:br>
              <a:rPr lang="en-US" sz="3200" dirty="0"/>
            </a:br>
            <a:r>
              <a:rPr lang="en-US" sz="3200" dirty="0"/>
              <a:t>just press edit timing constraint </a:t>
            </a:r>
            <a:br>
              <a:rPr lang="en-US" sz="3200" dirty="0"/>
            </a:br>
            <a:endParaRPr lang="en-US" sz="3200" dirty="0"/>
          </a:p>
        </p:txBody>
      </p:sp>
      <p:pic>
        <p:nvPicPr>
          <p:cNvPr id="5" name="Picture 4">
            <a:extLst>
              <a:ext uri="{FF2B5EF4-FFF2-40B4-BE49-F238E27FC236}">
                <a16:creationId xmlns:a16="http://schemas.microsoft.com/office/drawing/2014/main" id="{944F14D5-C7E0-FC48-A1E3-07D6FAC07BEA}"/>
              </a:ext>
            </a:extLst>
          </p:cNvPr>
          <p:cNvPicPr>
            <a:picLocks noChangeAspect="1"/>
          </p:cNvPicPr>
          <p:nvPr/>
        </p:nvPicPr>
        <p:blipFill>
          <a:blip r:embed="rId2"/>
          <a:stretch>
            <a:fillRect/>
          </a:stretch>
        </p:blipFill>
        <p:spPr>
          <a:xfrm>
            <a:off x="0" y="3946353"/>
            <a:ext cx="12192000" cy="2911647"/>
          </a:xfrm>
          <a:prstGeom prst="rect">
            <a:avLst/>
          </a:prstGeom>
        </p:spPr>
      </p:pic>
    </p:spTree>
    <p:extLst>
      <p:ext uri="{BB962C8B-B14F-4D97-AF65-F5344CB8AC3E}">
        <p14:creationId xmlns:p14="http://schemas.microsoft.com/office/powerpoint/2010/main" val="1593323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710E1-CB11-9FF3-D8AF-B409BAC4D76D}"/>
              </a:ext>
            </a:extLst>
          </p:cNvPr>
          <p:cNvSpPr>
            <a:spLocks noGrp="1"/>
          </p:cNvSpPr>
          <p:nvPr>
            <p:ph type="title"/>
          </p:nvPr>
        </p:nvSpPr>
        <p:spPr>
          <a:xfrm>
            <a:off x="5445760" y="152400"/>
            <a:ext cx="5811520" cy="3362960"/>
          </a:xfrm>
        </p:spPr>
        <p:txBody>
          <a:bodyPr>
            <a:normAutofit fontScale="90000"/>
          </a:bodyPr>
          <a:lstStyle/>
          <a:p>
            <a:r>
              <a:rPr lang="en-US" dirty="0"/>
              <a:t>As the slack is 8ns we can decrease the period to 4ns  </a:t>
            </a:r>
            <a:br>
              <a:rPr lang="en-US" dirty="0"/>
            </a:br>
            <a:r>
              <a:rPr lang="en-US" dirty="0"/>
              <a:t>now rerun and u will see 0.77ns by this we can see </a:t>
            </a:r>
            <a:r>
              <a:rPr lang="en-US" dirty="0" err="1"/>
              <a:t>approx</a:t>
            </a:r>
            <a:r>
              <a:rPr lang="en-US" dirty="0"/>
              <a:t> 3.77ns Is the best clk period we can get by only pipelining the multiplier </a:t>
            </a:r>
          </a:p>
        </p:txBody>
      </p:sp>
      <p:pic>
        <p:nvPicPr>
          <p:cNvPr id="5" name="Picture 4">
            <a:extLst>
              <a:ext uri="{FF2B5EF4-FFF2-40B4-BE49-F238E27FC236}">
                <a16:creationId xmlns:a16="http://schemas.microsoft.com/office/drawing/2014/main" id="{28FACCAB-9334-FB2C-A959-AAB5902D58E8}"/>
              </a:ext>
            </a:extLst>
          </p:cNvPr>
          <p:cNvPicPr>
            <a:picLocks noChangeAspect="1"/>
          </p:cNvPicPr>
          <p:nvPr/>
        </p:nvPicPr>
        <p:blipFill>
          <a:blip r:embed="rId2"/>
          <a:stretch>
            <a:fillRect/>
          </a:stretch>
        </p:blipFill>
        <p:spPr>
          <a:xfrm>
            <a:off x="92094" y="334935"/>
            <a:ext cx="5039428" cy="3267531"/>
          </a:xfrm>
          <a:prstGeom prst="rect">
            <a:avLst/>
          </a:prstGeom>
        </p:spPr>
      </p:pic>
      <p:pic>
        <p:nvPicPr>
          <p:cNvPr id="7" name="Picture 6">
            <a:extLst>
              <a:ext uri="{FF2B5EF4-FFF2-40B4-BE49-F238E27FC236}">
                <a16:creationId xmlns:a16="http://schemas.microsoft.com/office/drawing/2014/main" id="{5A84E99E-8684-FB77-38BA-6FDE384C741E}"/>
              </a:ext>
            </a:extLst>
          </p:cNvPr>
          <p:cNvPicPr>
            <a:picLocks noChangeAspect="1"/>
          </p:cNvPicPr>
          <p:nvPr/>
        </p:nvPicPr>
        <p:blipFill>
          <a:blip r:embed="rId3"/>
          <a:stretch>
            <a:fillRect/>
          </a:stretch>
        </p:blipFill>
        <p:spPr>
          <a:xfrm>
            <a:off x="1033696" y="3794759"/>
            <a:ext cx="10307488" cy="3057952"/>
          </a:xfrm>
          <a:prstGeom prst="rect">
            <a:avLst/>
          </a:prstGeom>
        </p:spPr>
      </p:pic>
    </p:spTree>
    <p:extLst>
      <p:ext uri="{BB962C8B-B14F-4D97-AF65-F5344CB8AC3E}">
        <p14:creationId xmlns:p14="http://schemas.microsoft.com/office/powerpoint/2010/main" val="2525527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BA07-762F-6951-EACD-9A62B5A990FF}"/>
              </a:ext>
            </a:extLst>
          </p:cNvPr>
          <p:cNvSpPr>
            <a:spLocks noGrp="1"/>
          </p:cNvSpPr>
          <p:nvPr>
            <p:ph type="title"/>
          </p:nvPr>
        </p:nvSpPr>
        <p:spPr>
          <a:xfrm>
            <a:off x="1128104" y="86561"/>
            <a:ext cx="10047896" cy="1681279"/>
          </a:xfrm>
        </p:spPr>
        <p:txBody>
          <a:bodyPr>
            <a:noAutofit/>
          </a:bodyPr>
          <a:lstStyle/>
          <a:p>
            <a:r>
              <a:rPr lang="en-US" sz="2800" dirty="0"/>
              <a:t>We can further improve this by identifying the critical path which is taking less time </a:t>
            </a:r>
            <a:br>
              <a:rPr lang="en-US" sz="2800" dirty="0"/>
            </a:br>
            <a:r>
              <a:rPr lang="en-US" sz="2800" dirty="0"/>
              <a:t>so press on the 0.77ns and then select a path and open the schematic </a:t>
            </a:r>
          </a:p>
        </p:txBody>
      </p:sp>
      <p:pic>
        <p:nvPicPr>
          <p:cNvPr id="5" name="Picture 4">
            <a:extLst>
              <a:ext uri="{FF2B5EF4-FFF2-40B4-BE49-F238E27FC236}">
                <a16:creationId xmlns:a16="http://schemas.microsoft.com/office/drawing/2014/main" id="{FEB07C84-592C-5BB8-251B-D581A0AAE6A5}"/>
              </a:ext>
            </a:extLst>
          </p:cNvPr>
          <p:cNvPicPr>
            <a:picLocks noChangeAspect="1"/>
          </p:cNvPicPr>
          <p:nvPr/>
        </p:nvPicPr>
        <p:blipFill>
          <a:blip r:embed="rId2"/>
          <a:stretch>
            <a:fillRect/>
          </a:stretch>
        </p:blipFill>
        <p:spPr>
          <a:xfrm>
            <a:off x="1128103" y="1389542"/>
            <a:ext cx="9867137" cy="5468458"/>
          </a:xfrm>
          <a:prstGeom prst="rect">
            <a:avLst/>
          </a:prstGeom>
        </p:spPr>
      </p:pic>
    </p:spTree>
    <p:extLst>
      <p:ext uri="{BB962C8B-B14F-4D97-AF65-F5344CB8AC3E}">
        <p14:creationId xmlns:p14="http://schemas.microsoft.com/office/powerpoint/2010/main" val="3540752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B087-3619-914B-FD4A-CE310E53E569}"/>
              </a:ext>
            </a:extLst>
          </p:cNvPr>
          <p:cNvSpPr>
            <a:spLocks noGrp="1"/>
          </p:cNvSpPr>
          <p:nvPr>
            <p:ph type="title"/>
          </p:nvPr>
        </p:nvSpPr>
        <p:spPr>
          <a:xfrm>
            <a:off x="1145029" y="192782"/>
            <a:ext cx="9909051" cy="1707138"/>
          </a:xfrm>
        </p:spPr>
        <p:txBody>
          <a:bodyPr>
            <a:normAutofit fontScale="90000"/>
          </a:bodyPr>
          <a:lstStyle/>
          <a:p>
            <a:r>
              <a:rPr lang="en-US" dirty="0"/>
              <a:t>If you zoom in and minimize some blocks you will understand that entire 32 bit addition is been completed in the single cycle and then being written to the register </a:t>
            </a:r>
            <a:br>
              <a:rPr lang="en-US" dirty="0"/>
            </a:br>
            <a:r>
              <a:rPr lang="en-US" dirty="0"/>
              <a:t>THAT IS THE CRITICAL PATH </a:t>
            </a:r>
          </a:p>
        </p:txBody>
      </p:sp>
      <p:sp>
        <p:nvSpPr>
          <p:cNvPr id="3" name="Content Placeholder 2">
            <a:extLst>
              <a:ext uri="{FF2B5EF4-FFF2-40B4-BE49-F238E27FC236}">
                <a16:creationId xmlns:a16="http://schemas.microsoft.com/office/drawing/2014/main" id="{C6FA02A6-404C-F754-9FD8-9B65EF86C60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F2CE44B-0A11-E80C-9C60-E71A19967DA2}"/>
              </a:ext>
            </a:extLst>
          </p:cNvPr>
          <p:cNvPicPr>
            <a:picLocks noChangeAspect="1"/>
          </p:cNvPicPr>
          <p:nvPr/>
        </p:nvPicPr>
        <p:blipFill>
          <a:blip r:embed="rId2"/>
          <a:stretch>
            <a:fillRect/>
          </a:stretch>
        </p:blipFill>
        <p:spPr>
          <a:xfrm>
            <a:off x="1544320" y="1919785"/>
            <a:ext cx="8696960" cy="4819935"/>
          </a:xfrm>
          <a:prstGeom prst="rect">
            <a:avLst/>
          </a:prstGeom>
        </p:spPr>
      </p:pic>
    </p:spTree>
    <p:extLst>
      <p:ext uri="{BB962C8B-B14F-4D97-AF65-F5344CB8AC3E}">
        <p14:creationId xmlns:p14="http://schemas.microsoft.com/office/powerpoint/2010/main" val="1146463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9108-3388-ECF4-9787-17DEFBE75D48}"/>
              </a:ext>
            </a:extLst>
          </p:cNvPr>
          <p:cNvSpPr>
            <a:spLocks noGrp="1"/>
          </p:cNvSpPr>
          <p:nvPr>
            <p:ph type="title"/>
          </p:nvPr>
        </p:nvSpPr>
        <p:spPr>
          <a:xfrm>
            <a:off x="1250368" y="609936"/>
            <a:ext cx="10037392" cy="4480224"/>
          </a:xfrm>
        </p:spPr>
        <p:txBody>
          <a:bodyPr>
            <a:normAutofit/>
          </a:bodyPr>
          <a:lstStyle/>
          <a:p>
            <a:r>
              <a:rPr lang="en-US" sz="4000" dirty="0"/>
              <a:t>Now how do we improve further ?</a:t>
            </a:r>
            <a:br>
              <a:rPr lang="en-US" sz="4000" dirty="0"/>
            </a:br>
            <a:r>
              <a:rPr lang="en-US" sz="4000" dirty="0"/>
              <a:t>Just pipeline the adder also </a:t>
            </a:r>
            <a:br>
              <a:rPr lang="en-US" sz="4000" dirty="0"/>
            </a:br>
            <a:r>
              <a:rPr lang="en-US" sz="4000" dirty="0"/>
              <a:t>so, change the code accordingly to ensure that it works  with this new pipeline which you guys can explore </a:t>
            </a:r>
            <a:br>
              <a:rPr lang="en-US" sz="4000" dirty="0"/>
            </a:br>
            <a:br>
              <a:rPr lang="en-US" sz="4000" dirty="0"/>
            </a:br>
            <a:r>
              <a:rPr lang="en-US" sz="4000" dirty="0"/>
              <a:t>Now let us look into utilization report </a:t>
            </a:r>
          </a:p>
        </p:txBody>
      </p:sp>
    </p:spTree>
    <p:extLst>
      <p:ext uri="{BB962C8B-B14F-4D97-AF65-F5344CB8AC3E}">
        <p14:creationId xmlns:p14="http://schemas.microsoft.com/office/powerpoint/2010/main" val="34176322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D410-D02A-DA96-9E8A-12762D41537A}"/>
              </a:ext>
            </a:extLst>
          </p:cNvPr>
          <p:cNvSpPr>
            <a:spLocks noGrp="1"/>
          </p:cNvSpPr>
          <p:nvPr>
            <p:ph type="title"/>
          </p:nvPr>
        </p:nvSpPr>
        <p:spPr>
          <a:xfrm>
            <a:off x="1311328" y="188296"/>
            <a:ext cx="7958331" cy="1077229"/>
          </a:xfrm>
        </p:spPr>
        <p:txBody>
          <a:bodyPr/>
          <a:lstStyle/>
          <a:p>
            <a:r>
              <a:rPr lang="en-US" dirty="0"/>
              <a:t>UTILIZATION REPORT</a:t>
            </a:r>
          </a:p>
        </p:txBody>
      </p:sp>
      <p:pic>
        <p:nvPicPr>
          <p:cNvPr id="5" name="Picture 4">
            <a:extLst>
              <a:ext uri="{FF2B5EF4-FFF2-40B4-BE49-F238E27FC236}">
                <a16:creationId xmlns:a16="http://schemas.microsoft.com/office/drawing/2014/main" id="{9BB6E797-4AC0-3CC1-344D-438893AE3C6F}"/>
              </a:ext>
            </a:extLst>
          </p:cNvPr>
          <p:cNvPicPr>
            <a:picLocks noChangeAspect="1"/>
          </p:cNvPicPr>
          <p:nvPr/>
        </p:nvPicPr>
        <p:blipFill>
          <a:blip r:embed="rId2"/>
          <a:stretch>
            <a:fillRect/>
          </a:stretch>
        </p:blipFill>
        <p:spPr>
          <a:xfrm>
            <a:off x="1410921" y="1708998"/>
            <a:ext cx="9370158" cy="3440003"/>
          </a:xfrm>
          <a:prstGeom prst="rect">
            <a:avLst/>
          </a:prstGeom>
        </p:spPr>
      </p:pic>
    </p:spTree>
    <p:extLst>
      <p:ext uri="{BB962C8B-B14F-4D97-AF65-F5344CB8AC3E}">
        <p14:creationId xmlns:p14="http://schemas.microsoft.com/office/powerpoint/2010/main" val="19874475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80B40-3F03-1B43-0E2C-83BDAB63B37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4AB1CEE-65D3-1F0B-8FCB-3CA6DEAFF18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EAF6D7C-4085-002F-18BF-0763E7F31CB3}"/>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26A0833F-C32A-3036-20AC-551B0D3D68D8}"/>
              </a:ext>
            </a:extLst>
          </p:cNvPr>
          <p:cNvSpPr txBox="1"/>
          <p:nvPr/>
        </p:nvSpPr>
        <p:spPr>
          <a:xfrm>
            <a:off x="6096000" y="118005"/>
            <a:ext cx="4754880" cy="523220"/>
          </a:xfrm>
          <a:prstGeom prst="rect">
            <a:avLst/>
          </a:prstGeom>
          <a:noFill/>
        </p:spPr>
        <p:txBody>
          <a:bodyPr wrap="square" rtlCol="0">
            <a:spAutoFit/>
          </a:bodyPr>
          <a:lstStyle/>
          <a:p>
            <a:r>
              <a:rPr lang="en-US" sz="2800" dirty="0">
                <a:solidFill>
                  <a:schemeClr val="bg1"/>
                </a:solidFill>
              </a:rPr>
              <a:t>GENERATE</a:t>
            </a:r>
            <a:r>
              <a:rPr lang="en-US" sz="2800" dirty="0"/>
              <a:t> </a:t>
            </a:r>
            <a:r>
              <a:rPr lang="en-US" sz="2800" dirty="0">
                <a:solidFill>
                  <a:schemeClr val="bg1"/>
                </a:solidFill>
              </a:rPr>
              <a:t>BITSTREAM</a:t>
            </a:r>
          </a:p>
        </p:txBody>
      </p:sp>
    </p:spTree>
    <p:extLst>
      <p:ext uri="{BB962C8B-B14F-4D97-AF65-F5344CB8AC3E}">
        <p14:creationId xmlns:p14="http://schemas.microsoft.com/office/powerpoint/2010/main" val="1693419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D9BAD-3851-3317-5363-7E4CEF44CC6E}"/>
              </a:ext>
            </a:extLst>
          </p:cNvPr>
          <p:cNvSpPr>
            <a:spLocks noGrp="1"/>
          </p:cNvSpPr>
          <p:nvPr>
            <p:ph type="title"/>
          </p:nvPr>
        </p:nvSpPr>
        <p:spPr>
          <a:xfrm>
            <a:off x="1621861" y="2052116"/>
            <a:ext cx="9615099" cy="4145484"/>
          </a:xfrm>
        </p:spPr>
        <p:txBody>
          <a:bodyPr>
            <a:normAutofit/>
          </a:bodyPr>
          <a:lstStyle/>
          <a:p>
            <a:pPr algn="ctr"/>
            <a:r>
              <a:rPr lang="en-US" sz="3600" dirty="0"/>
              <a:t>NOW</a:t>
            </a:r>
            <a:br>
              <a:rPr lang="en-US" sz="3600" dirty="0"/>
            </a:br>
            <a:r>
              <a:rPr lang="en-US" sz="3600" dirty="0"/>
              <a:t>you can program it on FPGA and look at the board to see the output</a:t>
            </a:r>
          </a:p>
        </p:txBody>
      </p:sp>
    </p:spTree>
    <p:extLst>
      <p:ext uri="{BB962C8B-B14F-4D97-AF65-F5344CB8AC3E}">
        <p14:creationId xmlns:p14="http://schemas.microsoft.com/office/powerpoint/2010/main" val="8204683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1">
      <a:majorFont>
        <a:latin typeface="Bell MT"/>
        <a:ea typeface=""/>
        <a:cs typeface=""/>
      </a:majorFont>
      <a:minorFont>
        <a:latin typeface="Bell MT"/>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234</TotalTime>
  <Words>1192</Words>
  <Application>Microsoft Office PowerPoint</Application>
  <PresentationFormat>Widescreen</PresentationFormat>
  <Paragraphs>47</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Bell MT</vt:lpstr>
      <vt:lpstr>MS Shell Dlg 2</vt:lpstr>
      <vt:lpstr>Wingdings</vt:lpstr>
      <vt:lpstr>Wingdings 3</vt:lpstr>
      <vt:lpstr>Madison</vt:lpstr>
      <vt:lpstr>PowerPoint Presentation</vt:lpstr>
      <vt:lpstr>PowerPoint Presentation</vt:lpstr>
      <vt:lpstr>Press IP Catalog and search Block Memory Generator </vt:lpstr>
      <vt:lpstr>PowerPoint Presentation</vt:lpstr>
      <vt:lpstr>PowerPoint Presentation</vt:lpstr>
      <vt:lpstr>PowerPoint Presentation</vt:lpstr>
      <vt:lpstr>Just save the file as anything you like </vt:lpstr>
      <vt:lpstr>The values you give to the matrix  as the matrix is 3x3 give atleast 9 values  whatever after 9 is unused and then just save it  and close it</vt:lpstr>
      <vt:lpstr>This is the summary where we can understand the latency and bram resources and press ok</vt:lpstr>
      <vt:lpstr>Now you can see the icon next to bram A and B indicating its not absent now same way add the multiplier also  </vt:lpstr>
      <vt:lpstr>Search for multiplier in ip catalog and double click it </vt:lpstr>
      <vt:lpstr>Data type :- unsigned  wdith = 32 bits</vt:lpstr>
      <vt:lpstr>Multipliers can either be implemented using LUTs or DSP Slices which are nothing but hardware blocks that are optimized for this purpose or you can simply use LUTs  let us use DSP slices for this example  either way it doesn’t change the functionality </vt:lpstr>
      <vt:lpstr>In output and controls  as o/p shd also be 32 bits. Press use custom o/p width and then make it 31 down to 0  we want pipeline stages to begin with 0 and you can see the clk will vanish as this is combinational logic not a sequential logic and press ok</vt:lpstr>
      <vt:lpstr>Global and generate  now you can see in files that even multiplier has also got that icon</vt:lpstr>
      <vt:lpstr>To see missing files just press on that icon and expand it you will get to see all the missing files  as we can see adder is missing now the same way lets create an adder instance from ip catalog </vt:lpstr>
      <vt:lpstr>Make all the inputs unsigned and width 32 bit and latency to be 0 as we need it to be combinational block</vt:lpstr>
      <vt:lpstr>In control we don’t need clock so disable that and for the purposes of this implementation there is a need to bypass the adder on certain cycles. Press ok and Generate </vt:lpstr>
      <vt:lpstr>Now to create instance for BramC we shd name it as same as it is instantiated in the parent file which is adder file same way search block memory in ip catalog and change the instance as BRAM_C</vt:lpstr>
      <vt:lpstr>Change write width to 32 and change enable port to always enabled </vt:lpstr>
      <vt:lpstr>In other options  we don’t need to add any file for it as we are using this bramC to write our output then press ok and global and generate </vt:lpstr>
      <vt:lpstr>So first time when we run we have just created a multiplier with no pipelining so comment all the lines which have written for pipelined and uncomment the lines which is written for unpipelined then save the file</vt:lpstr>
      <vt:lpstr>Once you have done this is how it will look and then now press run simulation</vt:lpstr>
      <vt:lpstr>This is the waveform you get after simulating  we are reading the values from the switches and whatever address we give that address is been read that Is matrix C on to the LEDs  now RUN SYNTHESIS </vt:lpstr>
      <vt:lpstr>After you run synthesis check and run post synthesis simulation and confirm that the generated has the same netlist has the same functionality as you expect  and check the waveform</vt:lpstr>
      <vt:lpstr>PowerPoint Presentation</vt:lpstr>
      <vt:lpstr>As this is unpipelined version of the code  we know for a fact that 10ns is not sufficient we have –ve WNS which means that its not able to finish all the operations within the 10ns period mentioned   </vt:lpstr>
      <vt:lpstr>To see which path is not able to complete just press on the WNS here is -7ns this is what you get and to see the schematic of particular path select the path and just click on the highlighted icon</vt:lpstr>
      <vt:lpstr>PowerPoint Presentation</vt:lpstr>
      <vt:lpstr>To explore more about the path just minimize them and zoom in  The path is from bram going to the multiplier and then going to the adder inside which we have a register this is the trublsome path which is getting us WNS –VE </vt:lpstr>
      <vt:lpstr>ONE solution this is increase the clock period by pressing on edit timing constraints</vt:lpstr>
      <vt:lpstr>Now increase the clock period by 8ns as that’s what we got in WNS as -7.087ns  make it 12ns and click on apply and rerun</vt:lpstr>
      <vt:lpstr>But we don’t want to change the total time period  our job is to keep it 10ns period or infact lesser than that so  that’s where we use PIPELINED code comes now go back to the multiplier code go to the sources  we have to change the multiplier instance</vt:lpstr>
      <vt:lpstr>Double click on this make pipeline stages 5  and press ok and generate   </vt:lpstr>
      <vt:lpstr>Having generating these files we need to change the code as well so in multiplier part A just uncomment all the pipeline version and comment all the unpipelined version of code and save it  </vt:lpstr>
      <vt:lpstr>Now run simulation and check the functionality and then run synthesis and open the synthesized  design  check the timing response this time we don’t see the failure  by this we can increase the clk frequency without any issue or reduce the clk period  just press edit timing constraint  </vt:lpstr>
      <vt:lpstr>As the slack is 8ns we can decrease the period to 4ns   now rerun and u will see 0.77ns by this we can see approx 3.77ns Is the best clk period we can get by only pipelining the multiplier </vt:lpstr>
      <vt:lpstr>We can further improve this by identifying the critical path which is taking less time  so press on the 0.77ns and then select a path and open the schematic </vt:lpstr>
      <vt:lpstr>If you zoom in and minimize some blocks you will understand that entire 32 bit addition is been completed in the single cycle and then being written to the register  THAT IS THE CRITICAL PATH </vt:lpstr>
      <vt:lpstr>Now how do we improve further ? Just pipeline the adder also  so, change the code accordingly to ensure that it works  with this new pipeline which you guys can explore   Now let us look into utilization report </vt:lpstr>
      <vt:lpstr>UTILIZATION REPORT</vt:lpstr>
      <vt:lpstr>PowerPoint Presentation</vt:lpstr>
      <vt:lpstr>NOW you can program it on FPGA and look at the board to see the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 S&amp;H 2P 2024 VISHVESH U V</dc:creator>
  <cp:lastModifiedBy>EC S&amp;H 2P 2024 VISHVESH U V</cp:lastModifiedBy>
  <cp:revision>7</cp:revision>
  <dcterms:created xsi:type="dcterms:W3CDTF">2026-07-27T18:38:43Z</dcterms:created>
  <dcterms:modified xsi:type="dcterms:W3CDTF">2026-07-27T22:33:15Z</dcterms:modified>
</cp:coreProperties>
</file>