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6" r:id="rId3"/>
    <p:sldId id="257" r:id="rId4"/>
    <p:sldId id="258" r:id="rId5"/>
    <p:sldId id="259" r:id="rId6"/>
    <p:sldId id="260" r:id="rId7"/>
    <p:sldId id="261" r:id="rId8"/>
    <p:sldId id="262" r:id="rId9"/>
    <p:sldId id="267" r:id="rId10"/>
    <p:sldId id="263" r:id="rId11"/>
    <p:sldId id="264" r:id="rId12"/>
    <p:sldId id="268" r:id="rId13"/>
    <p:sldId id="265" r:id="rId14"/>
    <p:sldId id="269" r:id="rId15"/>
    <p:sldId id="270" r:id="rId16"/>
    <p:sldId id="271" r:id="rId17"/>
    <p:sldId id="272" r:id="rId18"/>
    <p:sldId id="273" r:id="rId19"/>
    <p:sldId id="282" r:id="rId20"/>
    <p:sldId id="283" r:id="rId21"/>
    <p:sldId id="281" r:id="rId22"/>
    <p:sldId id="274" r:id="rId23"/>
    <p:sldId id="275" r:id="rId24"/>
    <p:sldId id="276" r:id="rId25"/>
    <p:sldId id="277" r:id="rId26"/>
    <p:sldId id="278" r:id="rId27"/>
    <p:sldId id="284" r:id="rId28"/>
    <p:sldId id="279" r:id="rId29"/>
    <p:sldId id="280" r:id="rId30"/>
    <p:sldId id="287" r:id="rId31"/>
    <p:sldId id="285"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EC4C83-534A-4D7C-BEF4-618C5BCBE046}"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61520136-26FA-47E9-84FA-D8823DEA8B23}"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810074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C4C83-534A-4D7C-BEF4-618C5BCBE046}"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520136-26FA-47E9-84FA-D8823DEA8B23}"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795328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EC4C83-534A-4D7C-BEF4-618C5BCBE046}"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520136-26FA-47E9-84FA-D8823DEA8B23}" type="slidenum">
              <a:rPr lang="en-US" smtClean="0"/>
              <a:t>‹#›</a:t>
            </a:fld>
            <a:endParaRPr lang="en-US"/>
          </a:p>
        </p:txBody>
      </p:sp>
    </p:spTree>
    <p:extLst>
      <p:ext uri="{BB962C8B-B14F-4D97-AF65-F5344CB8AC3E}">
        <p14:creationId xmlns:p14="http://schemas.microsoft.com/office/powerpoint/2010/main" val="161713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EC4C83-534A-4D7C-BEF4-618C5BCBE046}"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520136-26FA-47E9-84FA-D8823DEA8B23}"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703232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EC4C83-534A-4D7C-BEF4-618C5BCBE046}"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520136-26FA-47E9-84FA-D8823DEA8B23}" type="slidenum">
              <a:rPr lang="en-US" smtClean="0"/>
              <a:t>‹#›</a:t>
            </a:fld>
            <a:endParaRPr lang="en-US"/>
          </a:p>
        </p:txBody>
      </p:sp>
    </p:spTree>
    <p:extLst>
      <p:ext uri="{BB962C8B-B14F-4D97-AF65-F5344CB8AC3E}">
        <p14:creationId xmlns:p14="http://schemas.microsoft.com/office/powerpoint/2010/main" val="764524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EC4C83-534A-4D7C-BEF4-618C5BCBE046}"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520136-26FA-47E9-84FA-D8823DEA8B23}"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739850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DEC4C83-534A-4D7C-BEF4-618C5BCBE046}"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520136-26FA-47E9-84FA-D8823DEA8B23}" type="slidenum">
              <a:rPr lang="en-US" smtClean="0"/>
              <a:t>‹#›</a:t>
            </a:fld>
            <a:endParaRPr lang="en-US"/>
          </a:p>
        </p:txBody>
      </p:sp>
    </p:spTree>
    <p:extLst>
      <p:ext uri="{BB962C8B-B14F-4D97-AF65-F5344CB8AC3E}">
        <p14:creationId xmlns:p14="http://schemas.microsoft.com/office/powerpoint/2010/main" val="3264678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EC4C83-534A-4D7C-BEF4-618C5BCBE046}"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520136-26FA-47E9-84FA-D8823DEA8B23}" type="slidenum">
              <a:rPr lang="en-US" smtClean="0"/>
              <a:t>‹#›</a:t>
            </a:fld>
            <a:endParaRPr lang="en-US"/>
          </a:p>
        </p:txBody>
      </p:sp>
    </p:spTree>
    <p:extLst>
      <p:ext uri="{BB962C8B-B14F-4D97-AF65-F5344CB8AC3E}">
        <p14:creationId xmlns:p14="http://schemas.microsoft.com/office/powerpoint/2010/main" val="1234247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EC4C83-534A-4D7C-BEF4-618C5BCBE046}"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520136-26FA-47E9-84FA-D8823DEA8B23}" type="slidenum">
              <a:rPr lang="en-US" smtClean="0"/>
              <a:t>‹#›</a:t>
            </a:fld>
            <a:endParaRPr lang="en-US"/>
          </a:p>
        </p:txBody>
      </p:sp>
    </p:spTree>
    <p:extLst>
      <p:ext uri="{BB962C8B-B14F-4D97-AF65-F5344CB8AC3E}">
        <p14:creationId xmlns:p14="http://schemas.microsoft.com/office/powerpoint/2010/main" val="1482268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C4C83-534A-4D7C-BEF4-618C5BCBE046}"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520136-26FA-47E9-84FA-D8823DEA8B23}" type="slidenum">
              <a:rPr lang="en-US" smtClean="0"/>
              <a:t>‹#›</a:t>
            </a:fld>
            <a:endParaRPr lang="en-US"/>
          </a:p>
        </p:txBody>
      </p:sp>
    </p:spTree>
    <p:extLst>
      <p:ext uri="{BB962C8B-B14F-4D97-AF65-F5344CB8AC3E}">
        <p14:creationId xmlns:p14="http://schemas.microsoft.com/office/powerpoint/2010/main" val="1844865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C4C83-534A-4D7C-BEF4-618C5BCBE046}"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520136-26FA-47E9-84FA-D8823DEA8B23}" type="slidenum">
              <a:rPr lang="en-US" smtClean="0"/>
              <a:t>‹#›</a:t>
            </a:fld>
            <a:endParaRPr lang="en-US"/>
          </a:p>
        </p:txBody>
      </p:sp>
    </p:spTree>
    <p:extLst>
      <p:ext uri="{BB962C8B-B14F-4D97-AF65-F5344CB8AC3E}">
        <p14:creationId xmlns:p14="http://schemas.microsoft.com/office/powerpoint/2010/main" val="3445501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6DEC4C83-534A-4D7C-BEF4-618C5BCBE046}" type="datetimeFigureOut">
              <a:rPr lang="en-US" smtClean="0"/>
              <a:t>7/13/2026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1520136-26FA-47E9-84FA-D8823DEA8B23}"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258755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0333DC-E9EB-2C3C-C283-A2A221FDD0B0}"/>
              </a:ext>
            </a:extLst>
          </p:cNvPr>
          <p:cNvSpPr>
            <a:spLocks noGrp="1"/>
          </p:cNvSpPr>
          <p:nvPr>
            <p:ph type="title"/>
          </p:nvPr>
        </p:nvSpPr>
        <p:spPr>
          <a:xfrm>
            <a:off x="2116834" y="2890385"/>
            <a:ext cx="7958331" cy="1077229"/>
          </a:xfrm>
        </p:spPr>
        <p:txBody>
          <a:bodyPr>
            <a:noAutofit/>
          </a:bodyPr>
          <a:lstStyle/>
          <a:p>
            <a:pPr algn="ctr"/>
            <a:r>
              <a:rPr lang="en-US" sz="5700" b="1" dirty="0"/>
              <a:t>DPR TERMINOLOGY</a:t>
            </a:r>
          </a:p>
        </p:txBody>
      </p:sp>
      <p:pic>
        <p:nvPicPr>
          <p:cNvPr id="6" name="Picture 5">
            <a:extLst>
              <a:ext uri="{FF2B5EF4-FFF2-40B4-BE49-F238E27FC236}">
                <a16:creationId xmlns:a16="http://schemas.microsoft.com/office/drawing/2014/main" id="{FCFF75C2-6853-B8D2-3E14-9EDCA49527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6386" y="347733"/>
            <a:ext cx="1233600" cy="1077228"/>
          </a:xfrm>
          <a:prstGeom prst="rect">
            <a:avLst/>
          </a:prstGeom>
        </p:spPr>
      </p:pic>
      <p:pic>
        <p:nvPicPr>
          <p:cNvPr id="3" name="Picture 2">
            <a:extLst>
              <a:ext uri="{FF2B5EF4-FFF2-40B4-BE49-F238E27FC236}">
                <a16:creationId xmlns:a16="http://schemas.microsoft.com/office/drawing/2014/main" id="{6C23C80F-244E-AC35-E9D9-6BE4CA273143}"/>
              </a:ext>
            </a:extLst>
          </p:cNvPr>
          <p:cNvPicPr>
            <a:picLocks noChangeAspect="1"/>
          </p:cNvPicPr>
          <p:nvPr/>
        </p:nvPicPr>
        <p:blipFill>
          <a:blip r:embed="rId3"/>
          <a:stretch>
            <a:fillRect/>
          </a:stretch>
        </p:blipFill>
        <p:spPr>
          <a:xfrm>
            <a:off x="11386318" y="0"/>
            <a:ext cx="805682" cy="786384"/>
          </a:xfrm>
          <a:prstGeom prst="rect">
            <a:avLst/>
          </a:prstGeom>
        </p:spPr>
      </p:pic>
    </p:spTree>
    <p:extLst>
      <p:ext uri="{BB962C8B-B14F-4D97-AF65-F5344CB8AC3E}">
        <p14:creationId xmlns:p14="http://schemas.microsoft.com/office/powerpoint/2010/main" val="3477943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4594E-6B89-4DDF-EFFE-897C79343B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F69B09-FA99-3418-8A59-5FAEF9DFD9BD}"/>
              </a:ext>
            </a:extLst>
          </p:cNvPr>
          <p:cNvSpPr>
            <a:spLocks noGrp="1"/>
          </p:cNvSpPr>
          <p:nvPr>
            <p:ph type="title"/>
          </p:nvPr>
        </p:nvSpPr>
        <p:spPr/>
        <p:txBody>
          <a:bodyPr>
            <a:normAutofit/>
          </a:bodyPr>
          <a:lstStyle/>
          <a:p>
            <a:pPr algn="l"/>
            <a:r>
              <a:rPr lang="en-US" b="1" dirty="0"/>
              <a:t>CHAPTER 1 – Recap</a:t>
            </a:r>
          </a:p>
        </p:txBody>
      </p:sp>
      <p:sp>
        <p:nvSpPr>
          <p:cNvPr id="7" name="Content Placeholder 6">
            <a:extLst>
              <a:ext uri="{FF2B5EF4-FFF2-40B4-BE49-F238E27FC236}">
                <a16:creationId xmlns:a16="http://schemas.microsoft.com/office/drawing/2014/main" id="{FC97F355-0866-A37A-10D8-9A6AFFBDDC7C}"/>
              </a:ext>
            </a:extLst>
          </p:cNvPr>
          <p:cNvSpPr>
            <a:spLocks noGrp="1"/>
          </p:cNvSpPr>
          <p:nvPr>
            <p:ph idx="1"/>
          </p:nvPr>
        </p:nvSpPr>
        <p:spPr/>
        <p:txBody>
          <a:bodyPr/>
          <a:lstStyle/>
          <a:p>
            <a:pPr marL="0" indent="0">
              <a:buNone/>
            </a:pPr>
            <a:r>
              <a:rPr lang="en-US" b="1" dirty="0"/>
              <a:t>Goal :</a:t>
            </a:r>
          </a:p>
          <a:p>
            <a:r>
              <a:rPr lang="en-US" dirty="0"/>
              <a:t>To understand the difference between </a:t>
            </a:r>
            <a:r>
              <a:rPr lang="en-US" b="1" dirty="0"/>
              <a:t>static</a:t>
            </a:r>
            <a:r>
              <a:rPr lang="en-US" dirty="0"/>
              <a:t> and </a:t>
            </a:r>
            <a:r>
              <a:rPr lang="en-US" b="1" dirty="0"/>
              <a:t>dynamic</a:t>
            </a:r>
            <a:r>
              <a:rPr lang="en-US" dirty="0"/>
              <a:t> and to establish a common understanding of </a:t>
            </a:r>
            <a:r>
              <a:rPr lang="en-US" b="1" dirty="0"/>
              <a:t>Full Reconfiguration </a:t>
            </a:r>
            <a:r>
              <a:rPr lang="en-US" dirty="0"/>
              <a:t>and </a:t>
            </a:r>
            <a:r>
              <a:rPr lang="en-US" b="1" dirty="0"/>
              <a:t>Partial Reconfiguration.</a:t>
            </a:r>
          </a:p>
        </p:txBody>
      </p:sp>
      <p:pic>
        <p:nvPicPr>
          <p:cNvPr id="3" name="Picture 2">
            <a:extLst>
              <a:ext uri="{FF2B5EF4-FFF2-40B4-BE49-F238E27FC236}">
                <a16:creationId xmlns:a16="http://schemas.microsoft.com/office/drawing/2014/main" id="{0E9EE89E-4E33-E559-9C15-A1AD3C5867D2}"/>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79767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AACC63-18F0-EB9D-39B1-0C4E129F9419}"/>
              </a:ext>
            </a:extLst>
          </p:cNvPr>
          <p:cNvSpPr>
            <a:spLocks noGrp="1"/>
          </p:cNvSpPr>
          <p:nvPr>
            <p:ph type="title"/>
          </p:nvPr>
        </p:nvSpPr>
        <p:spPr/>
        <p:txBody>
          <a:bodyPr>
            <a:normAutofit fontScale="90000"/>
          </a:bodyPr>
          <a:lstStyle/>
          <a:p>
            <a:pPr algn="l"/>
            <a:r>
              <a:rPr lang="en-US" b="1" dirty="0"/>
              <a:t>Full Reconfiguration vs Partial Reconfiguration</a:t>
            </a:r>
            <a:br>
              <a:rPr lang="en-US" b="1" dirty="0"/>
            </a:br>
            <a:endParaRPr lang="en-US" b="1" dirty="0"/>
          </a:p>
        </p:txBody>
      </p:sp>
      <p:sp>
        <p:nvSpPr>
          <p:cNvPr id="5" name="Text Placeholder 4">
            <a:extLst>
              <a:ext uri="{FF2B5EF4-FFF2-40B4-BE49-F238E27FC236}">
                <a16:creationId xmlns:a16="http://schemas.microsoft.com/office/drawing/2014/main" id="{DC42E0D4-C614-1CB1-EFDF-0B74EBAFA7BD}"/>
              </a:ext>
            </a:extLst>
          </p:cNvPr>
          <p:cNvSpPr>
            <a:spLocks noGrp="1"/>
          </p:cNvSpPr>
          <p:nvPr>
            <p:ph type="body" idx="1"/>
          </p:nvPr>
        </p:nvSpPr>
        <p:spPr/>
        <p:txBody>
          <a:bodyPr/>
          <a:lstStyle/>
          <a:p>
            <a:r>
              <a:rPr lang="en-US" dirty="0"/>
              <a:t>Full Reconfiguration</a:t>
            </a:r>
          </a:p>
        </p:txBody>
      </p:sp>
      <p:sp>
        <p:nvSpPr>
          <p:cNvPr id="6" name="Content Placeholder 5">
            <a:extLst>
              <a:ext uri="{FF2B5EF4-FFF2-40B4-BE49-F238E27FC236}">
                <a16:creationId xmlns:a16="http://schemas.microsoft.com/office/drawing/2014/main" id="{9F5389E2-017B-16E8-62EF-800BC846E26F}"/>
              </a:ext>
            </a:extLst>
          </p:cNvPr>
          <p:cNvSpPr>
            <a:spLocks noGrp="1"/>
          </p:cNvSpPr>
          <p:nvPr>
            <p:ph sz="half" idx="2"/>
          </p:nvPr>
        </p:nvSpPr>
        <p:spPr/>
        <p:txBody>
          <a:bodyPr>
            <a:normAutofit fontScale="92500" lnSpcReduction="20000"/>
          </a:bodyPr>
          <a:lstStyle/>
          <a:p>
            <a:r>
              <a:rPr lang="en-US" dirty="0"/>
              <a:t>Entire FPGA is reconfigured </a:t>
            </a:r>
          </a:p>
          <a:p>
            <a:r>
              <a:rPr lang="en-US" dirty="0"/>
              <a:t>Existing hardware stops functioning </a:t>
            </a:r>
          </a:p>
          <a:p>
            <a:r>
              <a:rPr lang="en-US" dirty="0"/>
              <a:t>Whole configuration memory is rewritten </a:t>
            </a:r>
          </a:p>
          <a:p>
            <a:r>
              <a:rPr lang="en-US" dirty="0"/>
              <a:t>Longer downtime </a:t>
            </a:r>
          </a:p>
          <a:p>
            <a:r>
              <a:rPr lang="en-US" dirty="0"/>
              <a:t>Larger bitstream</a:t>
            </a:r>
          </a:p>
        </p:txBody>
      </p:sp>
      <p:sp>
        <p:nvSpPr>
          <p:cNvPr id="7" name="Text Placeholder 6">
            <a:extLst>
              <a:ext uri="{FF2B5EF4-FFF2-40B4-BE49-F238E27FC236}">
                <a16:creationId xmlns:a16="http://schemas.microsoft.com/office/drawing/2014/main" id="{CB3BFB22-C3F4-9A9B-A7AA-769F689FD392}"/>
              </a:ext>
            </a:extLst>
          </p:cNvPr>
          <p:cNvSpPr>
            <a:spLocks noGrp="1"/>
          </p:cNvSpPr>
          <p:nvPr>
            <p:ph type="body" sz="quarter" idx="3"/>
          </p:nvPr>
        </p:nvSpPr>
        <p:spPr/>
        <p:txBody>
          <a:bodyPr/>
          <a:lstStyle/>
          <a:p>
            <a:r>
              <a:rPr lang="en-US" dirty="0"/>
              <a:t>Partial Reconfiguration</a:t>
            </a:r>
          </a:p>
        </p:txBody>
      </p:sp>
      <p:sp>
        <p:nvSpPr>
          <p:cNvPr id="8" name="Content Placeholder 7">
            <a:extLst>
              <a:ext uri="{FF2B5EF4-FFF2-40B4-BE49-F238E27FC236}">
                <a16:creationId xmlns:a16="http://schemas.microsoft.com/office/drawing/2014/main" id="{964E1D9E-2BDC-FFF3-35F8-822D269C9CCA}"/>
              </a:ext>
            </a:extLst>
          </p:cNvPr>
          <p:cNvSpPr>
            <a:spLocks noGrp="1"/>
          </p:cNvSpPr>
          <p:nvPr>
            <p:ph sz="quarter" idx="4"/>
          </p:nvPr>
        </p:nvSpPr>
        <p:spPr/>
        <p:txBody>
          <a:bodyPr>
            <a:normAutofit fontScale="92500" lnSpcReduction="20000"/>
          </a:bodyPr>
          <a:lstStyle/>
          <a:p>
            <a:r>
              <a:rPr lang="en-US" dirty="0"/>
              <a:t>Only selected FPGA region is updated </a:t>
            </a:r>
          </a:p>
          <a:p>
            <a:r>
              <a:rPr lang="en-US" dirty="0"/>
              <a:t>Remaining hardware continues running </a:t>
            </a:r>
          </a:p>
          <a:p>
            <a:r>
              <a:rPr lang="en-US" dirty="0"/>
              <a:t>Smaller bitstream </a:t>
            </a:r>
          </a:p>
          <a:p>
            <a:r>
              <a:rPr lang="en-US" dirty="0"/>
              <a:t>Faster update </a:t>
            </a:r>
          </a:p>
          <a:p>
            <a:r>
              <a:rPr lang="en-US" dirty="0"/>
              <a:t>Reduced system downtime</a:t>
            </a:r>
          </a:p>
        </p:txBody>
      </p:sp>
      <p:pic>
        <p:nvPicPr>
          <p:cNvPr id="4" name="Picture 3">
            <a:extLst>
              <a:ext uri="{FF2B5EF4-FFF2-40B4-BE49-F238E27FC236}">
                <a16:creationId xmlns:a16="http://schemas.microsoft.com/office/drawing/2014/main" id="{40F04C45-A1DD-1101-7990-300EF5AAC5DA}"/>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561838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785FFF-04EB-F5BB-730E-4C7E6C2237F9}"/>
              </a:ext>
            </a:extLst>
          </p:cNvPr>
          <p:cNvPicPr>
            <a:picLocks noChangeAspect="1"/>
          </p:cNvPicPr>
          <p:nvPr/>
        </p:nvPicPr>
        <p:blipFill>
          <a:blip r:embed="rId2"/>
          <a:stretch>
            <a:fillRect/>
          </a:stretch>
        </p:blipFill>
        <p:spPr>
          <a:xfrm>
            <a:off x="1094742" y="98131"/>
            <a:ext cx="5384387" cy="3577830"/>
          </a:xfrm>
          <a:prstGeom prst="rect">
            <a:avLst/>
          </a:prstGeom>
        </p:spPr>
      </p:pic>
      <p:pic>
        <p:nvPicPr>
          <p:cNvPr id="7" name="Picture 6">
            <a:extLst>
              <a:ext uri="{FF2B5EF4-FFF2-40B4-BE49-F238E27FC236}">
                <a16:creationId xmlns:a16="http://schemas.microsoft.com/office/drawing/2014/main" id="{062030F9-0603-5D64-3BA0-29B21B81F0EE}"/>
              </a:ext>
            </a:extLst>
          </p:cNvPr>
          <p:cNvPicPr>
            <a:picLocks noChangeAspect="1"/>
          </p:cNvPicPr>
          <p:nvPr/>
        </p:nvPicPr>
        <p:blipFill>
          <a:blip r:embed="rId3"/>
          <a:stretch>
            <a:fillRect/>
          </a:stretch>
        </p:blipFill>
        <p:spPr>
          <a:xfrm>
            <a:off x="6277982" y="2752344"/>
            <a:ext cx="4983089" cy="4007527"/>
          </a:xfrm>
          <a:prstGeom prst="rect">
            <a:avLst/>
          </a:prstGeom>
        </p:spPr>
      </p:pic>
      <p:sp>
        <p:nvSpPr>
          <p:cNvPr id="8" name="TextBox 7">
            <a:extLst>
              <a:ext uri="{FF2B5EF4-FFF2-40B4-BE49-F238E27FC236}">
                <a16:creationId xmlns:a16="http://schemas.microsoft.com/office/drawing/2014/main" id="{5A04071A-63F7-016E-A58B-1D07E2197916}"/>
              </a:ext>
            </a:extLst>
          </p:cNvPr>
          <p:cNvSpPr txBox="1"/>
          <p:nvPr/>
        </p:nvSpPr>
        <p:spPr>
          <a:xfrm>
            <a:off x="6803136" y="466344"/>
            <a:ext cx="2459735" cy="646331"/>
          </a:xfrm>
          <a:prstGeom prst="rect">
            <a:avLst/>
          </a:prstGeom>
          <a:noFill/>
        </p:spPr>
        <p:txBody>
          <a:bodyPr wrap="square" rtlCol="0">
            <a:spAutoFit/>
          </a:bodyPr>
          <a:lstStyle/>
          <a:p>
            <a:r>
              <a:rPr lang="en-US" b="1" dirty="0"/>
              <a:t>FULL RECONFIGURATION</a:t>
            </a:r>
          </a:p>
        </p:txBody>
      </p:sp>
      <p:sp>
        <p:nvSpPr>
          <p:cNvPr id="10" name="TextBox 9">
            <a:extLst>
              <a:ext uri="{FF2B5EF4-FFF2-40B4-BE49-F238E27FC236}">
                <a16:creationId xmlns:a16="http://schemas.microsoft.com/office/drawing/2014/main" id="{D2B259A4-394E-F7EC-6F87-E8A35CD891CE}"/>
              </a:ext>
            </a:extLst>
          </p:cNvPr>
          <p:cNvSpPr txBox="1"/>
          <p:nvPr/>
        </p:nvSpPr>
        <p:spPr>
          <a:xfrm>
            <a:off x="3636265" y="5683770"/>
            <a:ext cx="2459735" cy="646331"/>
          </a:xfrm>
          <a:prstGeom prst="rect">
            <a:avLst/>
          </a:prstGeom>
          <a:noFill/>
        </p:spPr>
        <p:txBody>
          <a:bodyPr wrap="square" rtlCol="0">
            <a:spAutoFit/>
          </a:bodyPr>
          <a:lstStyle/>
          <a:p>
            <a:r>
              <a:rPr lang="en-US" b="1" dirty="0"/>
              <a:t>PARTIAL RECONFIGURATION</a:t>
            </a:r>
          </a:p>
        </p:txBody>
      </p:sp>
      <p:pic>
        <p:nvPicPr>
          <p:cNvPr id="3" name="Picture 2">
            <a:extLst>
              <a:ext uri="{FF2B5EF4-FFF2-40B4-BE49-F238E27FC236}">
                <a16:creationId xmlns:a16="http://schemas.microsoft.com/office/drawing/2014/main" id="{7ED3DDF9-2279-39A4-9C72-61F028BAB713}"/>
              </a:ext>
            </a:extLst>
          </p:cNvPr>
          <p:cNvPicPr>
            <a:picLocks noChangeAspect="1"/>
          </p:cNvPicPr>
          <p:nvPr/>
        </p:nvPicPr>
        <p:blipFill>
          <a:blip r:embed="rId4"/>
          <a:stretch>
            <a:fillRect/>
          </a:stretch>
        </p:blipFill>
        <p:spPr>
          <a:xfrm>
            <a:off x="11386318" y="0"/>
            <a:ext cx="805682" cy="786384"/>
          </a:xfrm>
          <a:prstGeom prst="rect">
            <a:avLst/>
          </a:prstGeom>
        </p:spPr>
      </p:pic>
    </p:spTree>
    <p:extLst>
      <p:ext uri="{BB962C8B-B14F-4D97-AF65-F5344CB8AC3E}">
        <p14:creationId xmlns:p14="http://schemas.microsoft.com/office/powerpoint/2010/main" val="389489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487D4-452B-FD6C-1236-93E0D6502ED5}"/>
              </a:ext>
            </a:extLst>
          </p:cNvPr>
          <p:cNvSpPr>
            <a:spLocks noGrp="1"/>
          </p:cNvSpPr>
          <p:nvPr>
            <p:ph type="title"/>
          </p:nvPr>
        </p:nvSpPr>
        <p:spPr/>
        <p:txBody>
          <a:bodyPr/>
          <a:lstStyle/>
          <a:p>
            <a:pPr algn="l"/>
            <a:r>
              <a:rPr lang="en-US" b="1" dirty="0"/>
              <a:t>STATIC vs DYNAMIC</a:t>
            </a:r>
          </a:p>
        </p:txBody>
      </p:sp>
      <p:sp>
        <p:nvSpPr>
          <p:cNvPr id="4" name="Text Placeholder 3">
            <a:extLst>
              <a:ext uri="{FF2B5EF4-FFF2-40B4-BE49-F238E27FC236}">
                <a16:creationId xmlns:a16="http://schemas.microsoft.com/office/drawing/2014/main" id="{2C1F80D1-A084-8448-D454-F7DB1DB258DC}"/>
              </a:ext>
            </a:extLst>
          </p:cNvPr>
          <p:cNvSpPr>
            <a:spLocks noGrp="1"/>
          </p:cNvSpPr>
          <p:nvPr>
            <p:ph type="body" idx="1"/>
          </p:nvPr>
        </p:nvSpPr>
        <p:spPr/>
        <p:txBody>
          <a:bodyPr/>
          <a:lstStyle/>
          <a:p>
            <a:r>
              <a:rPr lang="en-US" dirty="0"/>
              <a:t>Static Partial Reconfiguration</a:t>
            </a:r>
            <a:br>
              <a:rPr lang="en-US" dirty="0"/>
            </a:br>
            <a:endParaRPr lang="en-US" dirty="0"/>
          </a:p>
        </p:txBody>
      </p:sp>
      <p:sp>
        <p:nvSpPr>
          <p:cNvPr id="5" name="Content Placeholder 4">
            <a:extLst>
              <a:ext uri="{FF2B5EF4-FFF2-40B4-BE49-F238E27FC236}">
                <a16:creationId xmlns:a16="http://schemas.microsoft.com/office/drawing/2014/main" id="{85625DFC-244B-CAF8-8597-645707C8B69A}"/>
              </a:ext>
            </a:extLst>
          </p:cNvPr>
          <p:cNvSpPr>
            <a:spLocks noGrp="1"/>
          </p:cNvSpPr>
          <p:nvPr>
            <p:ph sz="half" idx="2"/>
          </p:nvPr>
        </p:nvSpPr>
        <p:spPr/>
        <p:txBody>
          <a:bodyPr>
            <a:normAutofit fontScale="92500" lnSpcReduction="20000"/>
          </a:bodyPr>
          <a:lstStyle/>
          <a:p>
            <a:r>
              <a:rPr lang="en-US" dirty="0"/>
              <a:t>Target region updated after stopping the system </a:t>
            </a:r>
          </a:p>
          <a:p>
            <a:r>
              <a:rPr lang="en-US" dirty="0"/>
              <a:t>System operation is interrupted </a:t>
            </a:r>
          </a:p>
          <a:p>
            <a:r>
              <a:rPr lang="en-US" dirty="0"/>
              <a:t>Simpler update process </a:t>
            </a:r>
          </a:p>
          <a:p>
            <a:r>
              <a:rPr lang="en-US" dirty="0"/>
              <a:t>Not suitable for applications requiring continuous operation</a:t>
            </a:r>
          </a:p>
        </p:txBody>
      </p:sp>
      <p:sp>
        <p:nvSpPr>
          <p:cNvPr id="6" name="Text Placeholder 5">
            <a:extLst>
              <a:ext uri="{FF2B5EF4-FFF2-40B4-BE49-F238E27FC236}">
                <a16:creationId xmlns:a16="http://schemas.microsoft.com/office/drawing/2014/main" id="{750D3767-0218-9B52-3723-29121352FD55}"/>
              </a:ext>
            </a:extLst>
          </p:cNvPr>
          <p:cNvSpPr>
            <a:spLocks noGrp="1"/>
          </p:cNvSpPr>
          <p:nvPr>
            <p:ph type="body" sz="quarter" idx="3"/>
          </p:nvPr>
        </p:nvSpPr>
        <p:spPr/>
        <p:txBody>
          <a:bodyPr/>
          <a:lstStyle/>
          <a:p>
            <a:r>
              <a:rPr lang="en-US" dirty="0"/>
              <a:t>Dynamic Partial Reconfiguration</a:t>
            </a:r>
          </a:p>
        </p:txBody>
      </p:sp>
      <p:sp>
        <p:nvSpPr>
          <p:cNvPr id="7" name="Content Placeholder 6">
            <a:extLst>
              <a:ext uri="{FF2B5EF4-FFF2-40B4-BE49-F238E27FC236}">
                <a16:creationId xmlns:a16="http://schemas.microsoft.com/office/drawing/2014/main" id="{061ED7DB-26DD-F17C-790D-5BADB9CC859F}"/>
              </a:ext>
            </a:extLst>
          </p:cNvPr>
          <p:cNvSpPr>
            <a:spLocks noGrp="1"/>
          </p:cNvSpPr>
          <p:nvPr>
            <p:ph sz="quarter" idx="4"/>
          </p:nvPr>
        </p:nvSpPr>
        <p:spPr/>
        <p:txBody>
          <a:bodyPr>
            <a:normAutofit fontScale="92500" lnSpcReduction="20000"/>
          </a:bodyPr>
          <a:lstStyle/>
          <a:p>
            <a:r>
              <a:rPr lang="en-US" dirty="0"/>
              <a:t>Target region updated while the rest of the FPGA continues running </a:t>
            </a:r>
          </a:p>
          <a:p>
            <a:r>
              <a:rPr lang="en-US" dirty="0"/>
              <a:t>Minimal downtime </a:t>
            </a:r>
          </a:p>
          <a:p>
            <a:r>
              <a:rPr lang="en-US" dirty="0"/>
              <a:t>Enables runtime hardware changes </a:t>
            </a:r>
          </a:p>
          <a:p>
            <a:r>
              <a:rPr lang="en-US" dirty="0"/>
              <a:t>Ideal for high-availability and adaptive systems</a:t>
            </a:r>
          </a:p>
        </p:txBody>
      </p:sp>
      <p:pic>
        <p:nvPicPr>
          <p:cNvPr id="8" name="Picture 7">
            <a:extLst>
              <a:ext uri="{FF2B5EF4-FFF2-40B4-BE49-F238E27FC236}">
                <a16:creationId xmlns:a16="http://schemas.microsoft.com/office/drawing/2014/main" id="{F75686F3-440F-3C89-A374-71D5A3053209}"/>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515937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6E1142-96F2-88B2-07B6-54FE3EEED9FF}"/>
              </a:ext>
            </a:extLst>
          </p:cNvPr>
          <p:cNvSpPr>
            <a:spLocks noGrp="1"/>
          </p:cNvSpPr>
          <p:nvPr>
            <p:ph type="title"/>
          </p:nvPr>
        </p:nvSpPr>
        <p:spPr/>
        <p:txBody>
          <a:bodyPr>
            <a:normAutofit/>
          </a:bodyPr>
          <a:lstStyle/>
          <a:p>
            <a:pPr algn="l"/>
            <a:r>
              <a:rPr lang="en-US" b="1" dirty="0"/>
              <a:t>CHAPTER 2 – Static Region &amp; Reconfigurable Region</a:t>
            </a:r>
          </a:p>
        </p:txBody>
      </p:sp>
      <p:sp>
        <p:nvSpPr>
          <p:cNvPr id="7" name="Content Placeholder 6">
            <a:extLst>
              <a:ext uri="{FF2B5EF4-FFF2-40B4-BE49-F238E27FC236}">
                <a16:creationId xmlns:a16="http://schemas.microsoft.com/office/drawing/2014/main" id="{3C3FFD57-36C1-3F41-1864-EC53EDC8295A}"/>
              </a:ext>
            </a:extLst>
          </p:cNvPr>
          <p:cNvSpPr>
            <a:spLocks noGrp="1"/>
          </p:cNvSpPr>
          <p:nvPr>
            <p:ph idx="1"/>
          </p:nvPr>
        </p:nvSpPr>
        <p:spPr/>
        <p:txBody>
          <a:bodyPr/>
          <a:lstStyle/>
          <a:p>
            <a:pPr marL="0" indent="0">
              <a:buNone/>
            </a:pPr>
            <a:r>
              <a:rPr lang="en-US" b="1" dirty="0"/>
              <a:t>Goal :</a:t>
            </a:r>
          </a:p>
          <a:p>
            <a:r>
              <a:rPr lang="en-US" dirty="0"/>
              <a:t>To understand that Dynamic Partial Reconfiguration is possible because we intentionally divide the FPGA into two different regions with different responsibilities.</a:t>
            </a:r>
            <a:endParaRPr lang="en-US" b="1" dirty="0"/>
          </a:p>
        </p:txBody>
      </p:sp>
      <p:pic>
        <p:nvPicPr>
          <p:cNvPr id="3" name="Picture 2">
            <a:extLst>
              <a:ext uri="{FF2B5EF4-FFF2-40B4-BE49-F238E27FC236}">
                <a16:creationId xmlns:a16="http://schemas.microsoft.com/office/drawing/2014/main" id="{FBFF3CBF-FF22-F937-4BD5-4E38613FE9A1}"/>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602016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061A-A95B-B150-747C-4B26EA2125B5}"/>
              </a:ext>
            </a:extLst>
          </p:cNvPr>
          <p:cNvSpPr>
            <a:spLocks noGrp="1"/>
          </p:cNvSpPr>
          <p:nvPr>
            <p:ph type="title"/>
          </p:nvPr>
        </p:nvSpPr>
        <p:spPr/>
        <p:txBody>
          <a:bodyPr/>
          <a:lstStyle/>
          <a:p>
            <a:pPr algn="l"/>
            <a:r>
              <a:rPr lang="en-US" b="1" dirty="0"/>
              <a:t>Why Divide the FPGA?</a:t>
            </a:r>
          </a:p>
        </p:txBody>
      </p:sp>
      <p:sp>
        <p:nvSpPr>
          <p:cNvPr id="4" name="Content Placeholder 3">
            <a:extLst>
              <a:ext uri="{FF2B5EF4-FFF2-40B4-BE49-F238E27FC236}">
                <a16:creationId xmlns:a16="http://schemas.microsoft.com/office/drawing/2014/main" id="{F69A7332-97C1-E095-7E01-E9DC59977EF2}"/>
              </a:ext>
            </a:extLst>
          </p:cNvPr>
          <p:cNvSpPr>
            <a:spLocks noGrp="1"/>
          </p:cNvSpPr>
          <p:nvPr>
            <p:ph sz="half" idx="1"/>
          </p:nvPr>
        </p:nvSpPr>
        <p:spPr>
          <a:xfrm>
            <a:off x="1242918" y="2052116"/>
            <a:ext cx="3121818" cy="3997828"/>
          </a:xfrm>
        </p:spPr>
        <p:txBody>
          <a:bodyPr>
            <a:normAutofit fontScale="85000" lnSpcReduction="10000"/>
          </a:bodyPr>
          <a:lstStyle/>
          <a:p>
            <a:pPr marL="0" indent="0">
              <a:buNone/>
            </a:pPr>
            <a:r>
              <a:rPr lang="en-US" b="1" dirty="0"/>
              <a:t>Problem</a:t>
            </a:r>
            <a:endParaRPr lang="en-US" dirty="0"/>
          </a:p>
          <a:p>
            <a:r>
              <a:rPr lang="en-US" dirty="0"/>
              <a:t>Reloading the entire FPGA for a small hardware change is inefficient. </a:t>
            </a:r>
          </a:p>
          <a:p>
            <a:r>
              <a:rPr lang="en-US" dirty="0"/>
              <a:t>Critical hardware should remain operational during updates. </a:t>
            </a:r>
          </a:p>
          <a:p>
            <a:r>
              <a:rPr lang="en-US" dirty="0"/>
              <a:t>Many applications require continuous operation.</a:t>
            </a:r>
          </a:p>
        </p:txBody>
      </p:sp>
      <p:sp>
        <p:nvSpPr>
          <p:cNvPr id="5" name="Content Placeholder 4">
            <a:extLst>
              <a:ext uri="{FF2B5EF4-FFF2-40B4-BE49-F238E27FC236}">
                <a16:creationId xmlns:a16="http://schemas.microsoft.com/office/drawing/2014/main" id="{72CA47D7-97F6-7E44-84A7-A3D4082E8933}"/>
              </a:ext>
            </a:extLst>
          </p:cNvPr>
          <p:cNvSpPr>
            <a:spLocks noGrp="1"/>
          </p:cNvSpPr>
          <p:nvPr>
            <p:ph sz="half" idx="2"/>
          </p:nvPr>
        </p:nvSpPr>
        <p:spPr>
          <a:xfrm>
            <a:off x="4682387" y="2052114"/>
            <a:ext cx="3248965" cy="3997829"/>
          </a:xfrm>
        </p:spPr>
        <p:txBody>
          <a:bodyPr>
            <a:normAutofit fontScale="85000" lnSpcReduction="10000"/>
          </a:bodyPr>
          <a:lstStyle/>
          <a:p>
            <a:pPr marL="0" indent="0">
              <a:buNone/>
            </a:pPr>
            <a:r>
              <a:rPr lang="en-US" b="1" dirty="0"/>
              <a:t>Solution</a:t>
            </a:r>
            <a:endParaRPr lang="en-US" dirty="0"/>
          </a:p>
          <a:p>
            <a:r>
              <a:rPr lang="en-US" dirty="0"/>
              <a:t>Divide the FPGA into : </a:t>
            </a:r>
          </a:p>
          <a:p>
            <a:pPr lvl="1"/>
            <a:r>
              <a:rPr lang="en-US" dirty="0"/>
              <a:t>Static Region (remains unchanged) </a:t>
            </a:r>
          </a:p>
          <a:p>
            <a:pPr lvl="1"/>
            <a:r>
              <a:rPr lang="en-US" dirty="0"/>
              <a:t>Reconfigurable Region (can be updated)</a:t>
            </a:r>
          </a:p>
        </p:txBody>
      </p:sp>
      <p:sp>
        <p:nvSpPr>
          <p:cNvPr id="6" name="Content Placeholder 3">
            <a:extLst>
              <a:ext uri="{FF2B5EF4-FFF2-40B4-BE49-F238E27FC236}">
                <a16:creationId xmlns:a16="http://schemas.microsoft.com/office/drawing/2014/main" id="{980F7CEA-1B8C-E87B-3187-F7DB9935600E}"/>
              </a:ext>
            </a:extLst>
          </p:cNvPr>
          <p:cNvSpPr txBox="1">
            <a:spLocks/>
          </p:cNvSpPr>
          <p:nvPr/>
        </p:nvSpPr>
        <p:spPr>
          <a:xfrm>
            <a:off x="7988142" y="2049068"/>
            <a:ext cx="3121818" cy="3997828"/>
          </a:xfrm>
          <a:prstGeom prst="rect">
            <a:avLst/>
          </a:prstGeom>
        </p:spPr>
        <p:txBody>
          <a:bodyPr vert="horz" lIns="91440" tIns="45720" rIns="91440" bIns="45720" rtlCol="0">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r>
              <a:rPr lang="en-US" b="1" dirty="0"/>
              <a:t>Benefit</a:t>
            </a:r>
            <a:endParaRPr lang="en-US" dirty="0"/>
          </a:p>
          <a:p>
            <a:r>
              <a:rPr lang="en-US" dirty="0"/>
              <a:t>Faster updates </a:t>
            </a:r>
          </a:p>
          <a:p>
            <a:r>
              <a:rPr lang="en-US" dirty="0"/>
              <a:t>Reduced downtime </a:t>
            </a:r>
          </a:p>
          <a:p>
            <a:r>
              <a:rPr lang="en-US" dirty="0"/>
              <a:t>Adaptive hardware functionality</a:t>
            </a:r>
          </a:p>
        </p:txBody>
      </p:sp>
      <p:pic>
        <p:nvPicPr>
          <p:cNvPr id="7" name="Picture 6">
            <a:extLst>
              <a:ext uri="{FF2B5EF4-FFF2-40B4-BE49-F238E27FC236}">
                <a16:creationId xmlns:a16="http://schemas.microsoft.com/office/drawing/2014/main" id="{B530ECF1-DA52-B49B-D892-3FBF022871B3}"/>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1275996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CA695C-20AB-44B9-9073-CF38FF9FBF63}"/>
              </a:ext>
            </a:extLst>
          </p:cNvPr>
          <p:cNvPicPr>
            <a:picLocks noChangeAspect="1"/>
          </p:cNvPicPr>
          <p:nvPr/>
        </p:nvPicPr>
        <p:blipFill>
          <a:blip r:embed="rId2"/>
          <a:stretch>
            <a:fillRect/>
          </a:stretch>
        </p:blipFill>
        <p:spPr>
          <a:xfrm>
            <a:off x="1755648" y="267339"/>
            <a:ext cx="8714231" cy="6347746"/>
          </a:xfrm>
          <a:prstGeom prst="rect">
            <a:avLst/>
          </a:prstGeom>
        </p:spPr>
      </p:pic>
      <p:pic>
        <p:nvPicPr>
          <p:cNvPr id="3" name="Picture 2">
            <a:extLst>
              <a:ext uri="{FF2B5EF4-FFF2-40B4-BE49-F238E27FC236}">
                <a16:creationId xmlns:a16="http://schemas.microsoft.com/office/drawing/2014/main" id="{4641E890-E9DF-3A3D-ED76-DCDA90696F8E}"/>
              </a:ext>
            </a:extLst>
          </p:cNvPr>
          <p:cNvPicPr>
            <a:picLocks noChangeAspect="1"/>
          </p:cNvPicPr>
          <p:nvPr/>
        </p:nvPicPr>
        <p:blipFill>
          <a:blip r:embed="rId3"/>
          <a:stretch>
            <a:fillRect/>
          </a:stretch>
        </p:blipFill>
        <p:spPr>
          <a:xfrm>
            <a:off x="11386318" y="0"/>
            <a:ext cx="805682" cy="786384"/>
          </a:xfrm>
          <a:prstGeom prst="rect">
            <a:avLst/>
          </a:prstGeom>
        </p:spPr>
      </p:pic>
    </p:spTree>
    <p:extLst>
      <p:ext uri="{BB962C8B-B14F-4D97-AF65-F5344CB8AC3E}">
        <p14:creationId xmlns:p14="http://schemas.microsoft.com/office/powerpoint/2010/main" val="4185002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7BE76-45C7-52B3-27DC-F635550EB1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30AAB7-387E-500C-7A2F-229FF27C7D54}"/>
              </a:ext>
            </a:extLst>
          </p:cNvPr>
          <p:cNvSpPr>
            <a:spLocks noGrp="1"/>
          </p:cNvSpPr>
          <p:nvPr>
            <p:ph type="title"/>
          </p:nvPr>
        </p:nvSpPr>
        <p:spPr/>
        <p:txBody>
          <a:bodyPr>
            <a:normAutofit fontScale="90000"/>
          </a:bodyPr>
          <a:lstStyle/>
          <a:p>
            <a:pPr algn="l"/>
            <a:r>
              <a:rPr lang="en-US" b="1" dirty="0"/>
              <a:t>CHAPTER 3 – Reconfigurable Partition (RP) &amp; Reconfigurable Module (RM)</a:t>
            </a:r>
          </a:p>
        </p:txBody>
      </p:sp>
      <p:sp>
        <p:nvSpPr>
          <p:cNvPr id="7" name="Content Placeholder 6">
            <a:extLst>
              <a:ext uri="{FF2B5EF4-FFF2-40B4-BE49-F238E27FC236}">
                <a16:creationId xmlns:a16="http://schemas.microsoft.com/office/drawing/2014/main" id="{F66A4231-024A-C04B-8D70-A86A6E7780B0}"/>
              </a:ext>
            </a:extLst>
          </p:cNvPr>
          <p:cNvSpPr>
            <a:spLocks noGrp="1"/>
          </p:cNvSpPr>
          <p:nvPr>
            <p:ph idx="1"/>
          </p:nvPr>
        </p:nvSpPr>
        <p:spPr/>
        <p:txBody>
          <a:bodyPr/>
          <a:lstStyle/>
          <a:p>
            <a:pPr marL="0" indent="0">
              <a:buNone/>
            </a:pPr>
            <a:r>
              <a:rPr lang="en-US" b="1" dirty="0"/>
              <a:t>Goal :</a:t>
            </a:r>
          </a:p>
          <a:p>
            <a:r>
              <a:rPr lang="en-US" dirty="0"/>
              <a:t>To help the audience understand the difference between a </a:t>
            </a:r>
            <a:r>
              <a:rPr lang="en-US" b="1" dirty="0"/>
              <a:t>Reconfigurable Partition (RP)</a:t>
            </a:r>
            <a:r>
              <a:rPr lang="en-US" dirty="0"/>
              <a:t> and a </a:t>
            </a:r>
            <a:r>
              <a:rPr lang="en-US" b="1" dirty="0"/>
              <a:t>Reconfigurable Module (RM)</a:t>
            </a:r>
            <a:r>
              <a:rPr lang="en-US" dirty="0"/>
              <a:t>, explaining how a fixed reconfigurable partition can host different hardware modules over time, enabling Dynamic Partial Reconfiguration without affecting the rest of the FPGA.</a:t>
            </a:r>
          </a:p>
        </p:txBody>
      </p:sp>
      <p:pic>
        <p:nvPicPr>
          <p:cNvPr id="3" name="Picture 2">
            <a:extLst>
              <a:ext uri="{FF2B5EF4-FFF2-40B4-BE49-F238E27FC236}">
                <a16:creationId xmlns:a16="http://schemas.microsoft.com/office/drawing/2014/main" id="{296366CA-BE6E-E1E8-D901-8B790826FD6A}"/>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3782804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A0368-7CDE-BA98-CE63-DB1F45328320}"/>
              </a:ext>
            </a:extLst>
          </p:cNvPr>
          <p:cNvSpPr>
            <a:spLocks noGrp="1"/>
          </p:cNvSpPr>
          <p:nvPr>
            <p:ph type="title"/>
          </p:nvPr>
        </p:nvSpPr>
        <p:spPr/>
        <p:txBody>
          <a:bodyPr/>
          <a:lstStyle/>
          <a:p>
            <a:pPr algn="l"/>
            <a:r>
              <a:rPr lang="en-US" b="1" dirty="0"/>
              <a:t>Reconfigurable Partition (RP)</a:t>
            </a:r>
          </a:p>
        </p:txBody>
      </p:sp>
      <p:sp>
        <p:nvSpPr>
          <p:cNvPr id="3" name="Content Placeholder 2">
            <a:extLst>
              <a:ext uri="{FF2B5EF4-FFF2-40B4-BE49-F238E27FC236}">
                <a16:creationId xmlns:a16="http://schemas.microsoft.com/office/drawing/2014/main" id="{17D8DA9F-CEB8-C88C-0CE6-8993B427AE95}"/>
              </a:ext>
            </a:extLst>
          </p:cNvPr>
          <p:cNvSpPr>
            <a:spLocks noGrp="1"/>
          </p:cNvSpPr>
          <p:nvPr>
            <p:ph idx="1"/>
          </p:nvPr>
        </p:nvSpPr>
        <p:spPr>
          <a:xfrm>
            <a:off x="2773599" y="1682496"/>
            <a:ext cx="7796540" cy="4672584"/>
          </a:xfrm>
        </p:spPr>
        <p:txBody>
          <a:bodyPr>
            <a:normAutofit fontScale="85000" lnSpcReduction="10000"/>
          </a:bodyPr>
          <a:lstStyle/>
          <a:p>
            <a:pPr marL="0" indent="0">
              <a:buNone/>
            </a:pPr>
            <a:r>
              <a:rPr lang="en-US" b="1" dirty="0"/>
              <a:t>Definition :</a:t>
            </a:r>
            <a:endParaRPr lang="en-US" dirty="0"/>
          </a:p>
          <a:p>
            <a:r>
              <a:rPr lang="en-US" dirty="0"/>
              <a:t>A Reconfigurable Partition is a reserved logical portion of the FPGA design whose functionality can be changed during Dynamic Partial Reconfiguration.</a:t>
            </a:r>
          </a:p>
          <a:p>
            <a:pPr marL="0" indent="0">
              <a:buNone/>
            </a:pPr>
            <a:br>
              <a:rPr lang="en-US" b="1" dirty="0"/>
            </a:br>
            <a:r>
              <a:rPr lang="en-US" b="1" dirty="0"/>
              <a:t>Key Characteristics :</a:t>
            </a:r>
            <a:endParaRPr lang="en-US" dirty="0"/>
          </a:p>
          <a:p>
            <a:r>
              <a:rPr lang="en-US" dirty="0"/>
              <a:t>Fixed during design </a:t>
            </a:r>
          </a:p>
          <a:p>
            <a:r>
              <a:rPr lang="en-US" dirty="0"/>
              <a:t>Acts as a container for reconfigurable hardware </a:t>
            </a:r>
          </a:p>
          <a:p>
            <a:r>
              <a:rPr lang="en-US" dirty="0"/>
              <a:t>Protects the Static Region </a:t>
            </a:r>
          </a:p>
          <a:p>
            <a:r>
              <a:rPr lang="en-US" dirty="0"/>
              <a:t>Enables runtime hardware replacement </a:t>
            </a:r>
          </a:p>
          <a:p>
            <a:r>
              <a:rPr lang="en-US" dirty="0"/>
              <a:t>Can host different Reconfigurable Modules over time </a:t>
            </a:r>
          </a:p>
        </p:txBody>
      </p:sp>
      <p:pic>
        <p:nvPicPr>
          <p:cNvPr id="5" name="Picture 4">
            <a:extLst>
              <a:ext uri="{FF2B5EF4-FFF2-40B4-BE49-F238E27FC236}">
                <a16:creationId xmlns:a16="http://schemas.microsoft.com/office/drawing/2014/main" id="{423F5FD0-60F3-8A4A-2758-0BD2D53F798A}"/>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602342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8507D-98A1-D905-B478-61419F3F43C4}"/>
              </a:ext>
            </a:extLst>
          </p:cNvPr>
          <p:cNvSpPr>
            <a:spLocks noGrp="1"/>
          </p:cNvSpPr>
          <p:nvPr>
            <p:ph type="title"/>
          </p:nvPr>
        </p:nvSpPr>
        <p:spPr/>
        <p:txBody>
          <a:bodyPr/>
          <a:lstStyle/>
          <a:p>
            <a:pPr algn="l"/>
            <a:r>
              <a:rPr lang="en-US" b="1" dirty="0"/>
              <a:t>Reconfigurable Module (RM)</a:t>
            </a:r>
          </a:p>
        </p:txBody>
      </p:sp>
      <p:sp>
        <p:nvSpPr>
          <p:cNvPr id="3" name="Content Placeholder 2">
            <a:extLst>
              <a:ext uri="{FF2B5EF4-FFF2-40B4-BE49-F238E27FC236}">
                <a16:creationId xmlns:a16="http://schemas.microsoft.com/office/drawing/2014/main" id="{2CE98349-B417-5012-B9AE-5A296A595EE0}"/>
              </a:ext>
            </a:extLst>
          </p:cNvPr>
          <p:cNvSpPr>
            <a:spLocks noGrp="1"/>
          </p:cNvSpPr>
          <p:nvPr>
            <p:ph idx="1"/>
          </p:nvPr>
        </p:nvSpPr>
        <p:spPr>
          <a:xfrm>
            <a:off x="2773599" y="1691640"/>
            <a:ext cx="7796540" cy="4599432"/>
          </a:xfrm>
        </p:spPr>
        <p:txBody>
          <a:bodyPr>
            <a:normAutofit fontScale="85000" lnSpcReduction="20000"/>
          </a:bodyPr>
          <a:lstStyle/>
          <a:p>
            <a:pPr marL="0" indent="0">
              <a:buNone/>
            </a:pPr>
            <a:r>
              <a:rPr lang="en-US" b="1" dirty="0"/>
              <a:t>Definition :</a:t>
            </a:r>
          </a:p>
          <a:p>
            <a:r>
              <a:rPr lang="en-US" dirty="0"/>
              <a:t>A </a:t>
            </a:r>
            <a:r>
              <a:rPr lang="en-US" b="1" dirty="0"/>
              <a:t>Reconfigurable Module (RM)</a:t>
            </a:r>
            <a:r>
              <a:rPr lang="en-US" dirty="0"/>
              <a:t> is a hardware implementation that occupies a </a:t>
            </a:r>
            <a:r>
              <a:rPr lang="en-US" b="1" dirty="0"/>
              <a:t>Reconfigurable Partition (RP)</a:t>
            </a:r>
            <a:r>
              <a:rPr lang="en-US" dirty="0"/>
              <a:t>. Different RMs can be loaded into the same RP during runtime using Dynamic Partial Reconfiguration.</a:t>
            </a:r>
          </a:p>
          <a:p>
            <a:pPr marL="0" indent="0">
              <a:buNone/>
            </a:pPr>
            <a:br>
              <a:rPr lang="en-US" b="1" dirty="0"/>
            </a:br>
            <a:r>
              <a:rPr lang="en-US" b="1" dirty="0"/>
              <a:t>Key Characteristics :</a:t>
            </a:r>
          </a:p>
          <a:p>
            <a:r>
              <a:rPr lang="en-US" dirty="0"/>
              <a:t>Implements a specific hardware function </a:t>
            </a:r>
          </a:p>
          <a:p>
            <a:r>
              <a:rPr lang="en-US" dirty="0"/>
              <a:t>Occupies a Reconfigurable Partition </a:t>
            </a:r>
          </a:p>
          <a:p>
            <a:r>
              <a:rPr lang="en-US" dirty="0"/>
              <a:t>Can be replaced without affecting the Static Region </a:t>
            </a:r>
          </a:p>
          <a:p>
            <a:r>
              <a:rPr lang="en-US" dirty="0"/>
              <a:t>Each RM has its own Partial Bitstream </a:t>
            </a:r>
          </a:p>
          <a:p>
            <a:r>
              <a:rPr lang="en-US" dirty="0"/>
              <a:t>Only one RM is active in an RP at any given time</a:t>
            </a:r>
          </a:p>
        </p:txBody>
      </p:sp>
      <p:pic>
        <p:nvPicPr>
          <p:cNvPr id="5" name="Picture 4">
            <a:extLst>
              <a:ext uri="{FF2B5EF4-FFF2-40B4-BE49-F238E27FC236}">
                <a16:creationId xmlns:a16="http://schemas.microsoft.com/office/drawing/2014/main" id="{01A7BCC4-7435-4217-0A46-6A74870706AB}"/>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189128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3EA10-FDDE-513D-2372-B1E4FDF593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291F67-1ABE-6EAB-84A6-08421FA938C2}"/>
              </a:ext>
            </a:extLst>
          </p:cNvPr>
          <p:cNvSpPr>
            <a:spLocks noGrp="1"/>
          </p:cNvSpPr>
          <p:nvPr>
            <p:ph type="title"/>
          </p:nvPr>
        </p:nvSpPr>
        <p:spPr/>
        <p:txBody>
          <a:bodyPr>
            <a:normAutofit/>
          </a:bodyPr>
          <a:lstStyle/>
          <a:p>
            <a:pPr algn="l"/>
            <a:r>
              <a:rPr lang="en-US" b="1" dirty="0"/>
              <a:t>CHAPTER 4 – Bitstreams &amp; Configuration Frames</a:t>
            </a:r>
          </a:p>
        </p:txBody>
      </p:sp>
      <p:sp>
        <p:nvSpPr>
          <p:cNvPr id="7" name="Content Placeholder 6">
            <a:extLst>
              <a:ext uri="{FF2B5EF4-FFF2-40B4-BE49-F238E27FC236}">
                <a16:creationId xmlns:a16="http://schemas.microsoft.com/office/drawing/2014/main" id="{51A0ECC6-6B72-0DD9-ECFA-816492E0CBD6}"/>
              </a:ext>
            </a:extLst>
          </p:cNvPr>
          <p:cNvSpPr>
            <a:spLocks noGrp="1"/>
          </p:cNvSpPr>
          <p:nvPr>
            <p:ph idx="1"/>
          </p:nvPr>
        </p:nvSpPr>
        <p:spPr/>
        <p:txBody>
          <a:bodyPr/>
          <a:lstStyle/>
          <a:p>
            <a:pPr marL="0" indent="0">
              <a:buNone/>
            </a:pPr>
            <a:r>
              <a:rPr lang="en-US" b="1" dirty="0"/>
              <a:t>Goal :</a:t>
            </a:r>
          </a:p>
          <a:p>
            <a:r>
              <a:rPr lang="en-US" dirty="0"/>
              <a:t>To introduce the different types of FPGA bitstreams and explain how FPGA configuration memory is organized into configuration frames, forming the foundation for Dynamic Partial Reconfiguration.</a:t>
            </a:r>
          </a:p>
        </p:txBody>
      </p:sp>
      <p:pic>
        <p:nvPicPr>
          <p:cNvPr id="3" name="Picture 2">
            <a:extLst>
              <a:ext uri="{FF2B5EF4-FFF2-40B4-BE49-F238E27FC236}">
                <a16:creationId xmlns:a16="http://schemas.microsoft.com/office/drawing/2014/main" id="{7C0A5D34-9EFF-CA36-1AAE-FC1693F449C2}"/>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855887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B9CE6-6724-FE95-D585-875FEB5B7BD8}"/>
              </a:ext>
            </a:extLst>
          </p:cNvPr>
          <p:cNvSpPr>
            <a:spLocks noGrp="1"/>
          </p:cNvSpPr>
          <p:nvPr>
            <p:ph type="title"/>
          </p:nvPr>
        </p:nvSpPr>
        <p:spPr/>
        <p:txBody>
          <a:bodyPr/>
          <a:lstStyle/>
          <a:p>
            <a:pPr algn="l"/>
            <a:r>
              <a:rPr lang="en-US" b="1" dirty="0"/>
              <a:t>FPGA Bitstreams</a:t>
            </a:r>
          </a:p>
        </p:txBody>
      </p:sp>
      <p:sp>
        <p:nvSpPr>
          <p:cNvPr id="3" name="Content Placeholder 2">
            <a:extLst>
              <a:ext uri="{FF2B5EF4-FFF2-40B4-BE49-F238E27FC236}">
                <a16:creationId xmlns:a16="http://schemas.microsoft.com/office/drawing/2014/main" id="{6E9988CF-80B2-AA8F-14E3-10311A65EC7C}"/>
              </a:ext>
            </a:extLst>
          </p:cNvPr>
          <p:cNvSpPr>
            <a:spLocks noGrp="1"/>
          </p:cNvSpPr>
          <p:nvPr>
            <p:ph idx="1"/>
          </p:nvPr>
        </p:nvSpPr>
        <p:spPr/>
        <p:txBody>
          <a:bodyPr>
            <a:normAutofit fontScale="92500" lnSpcReduction="20000"/>
          </a:bodyPr>
          <a:lstStyle/>
          <a:p>
            <a:r>
              <a:rPr lang="en-US" dirty="0"/>
              <a:t>A bitstream is a </a:t>
            </a:r>
            <a:r>
              <a:rPr lang="en-US" b="1" dirty="0"/>
              <a:t>configuration file </a:t>
            </a:r>
            <a:r>
              <a:rPr lang="en-US" dirty="0"/>
              <a:t>used to program an FPGA. </a:t>
            </a:r>
          </a:p>
          <a:p>
            <a:r>
              <a:rPr lang="en-US" dirty="0"/>
              <a:t>It </a:t>
            </a:r>
            <a:r>
              <a:rPr lang="en-US" b="1" dirty="0"/>
              <a:t>defines</a:t>
            </a:r>
            <a:r>
              <a:rPr lang="en-US" dirty="0"/>
              <a:t> the </a:t>
            </a:r>
            <a:r>
              <a:rPr lang="en-US" b="1" dirty="0"/>
              <a:t>hardware functionality </a:t>
            </a:r>
            <a:r>
              <a:rPr lang="en-US" dirty="0"/>
              <a:t>of the FPGA. </a:t>
            </a:r>
          </a:p>
          <a:p>
            <a:r>
              <a:rPr lang="en-US" dirty="0"/>
              <a:t>Generated after synthesis and implementation. </a:t>
            </a:r>
          </a:p>
          <a:p>
            <a:r>
              <a:rPr lang="en-US" dirty="0"/>
              <a:t>Two main types: </a:t>
            </a:r>
          </a:p>
          <a:p>
            <a:pPr lvl="1"/>
            <a:r>
              <a:rPr lang="en-US" dirty="0"/>
              <a:t>Full Bitstream </a:t>
            </a:r>
          </a:p>
          <a:p>
            <a:pPr lvl="1"/>
            <a:r>
              <a:rPr lang="en-US" dirty="0"/>
              <a:t>Partial Bitstream </a:t>
            </a:r>
          </a:p>
          <a:p>
            <a:pPr marL="0" indent="0">
              <a:buNone/>
            </a:pPr>
            <a:br>
              <a:rPr lang="en-US" b="1" dirty="0"/>
            </a:br>
            <a:r>
              <a:rPr lang="en-US" b="1" dirty="0"/>
              <a:t>Key Takeaway :</a:t>
            </a:r>
          </a:p>
          <a:p>
            <a:r>
              <a:rPr lang="en-US" dirty="0"/>
              <a:t>A bitstream tells the FPGA how to configure its hardware.</a:t>
            </a:r>
          </a:p>
        </p:txBody>
      </p:sp>
      <p:pic>
        <p:nvPicPr>
          <p:cNvPr id="5" name="Picture 4">
            <a:extLst>
              <a:ext uri="{FF2B5EF4-FFF2-40B4-BE49-F238E27FC236}">
                <a16:creationId xmlns:a16="http://schemas.microsoft.com/office/drawing/2014/main" id="{835D4650-4B71-E518-E09B-6C9C411D609F}"/>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474566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51088-E296-5351-270D-400401F3E168}"/>
              </a:ext>
            </a:extLst>
          </p:cNvPr>
          <p:cNvSpPr>
            <a:spLocks noGrp="1"/>
          </p:cNvSpPr>
          <p:nvPr>
            <p:ph type="title"/>
          </p:nvPr>
        </p:nvSpPr>
        <p:spPr/>
        <p:txBody>
          <a:bodyPr/>
          <a:lstStyle/>
          <a:p>
            <a:pPr algn="l"/>
            <a:r>
              <a:rPr lang="en-US" b="1" dirty="0"/>
              <a:t>Full Bitstream</a:t>
            </a:r>
          </a:p>
        </p:txBody>
      </p:sp>
      <p:sp>
        <p:nvSpPr>
          <p:cNvPr id="3" name="Content Placeholder 2">
            <a:extLst>
              <a:ext uri="{FF2B5EF4-FFF2-40B4-BE49-F238E27FC236}">
                <a16:creationId xmlns:a16="http://schemas.microsoft.com/office/drawing/2014/main" id="{F27376B3-D328-D2BF-A2B4-59739A3C4884}"/>
              </a:ext>
            </a:extLst>
          </p:cNvPr>
          <p:cNvSpPr>
            <a:spLocks noGrp="1"/>
          </p:cNvSpPr>
          <p:nvPr>
            <p:ph idx="1"/>
          </p:nvPr>
        </p:nvSpPr>
        <p:spPr/>
        <p:txBody>
          <a:bodyPr>
            <a:normAutofit fontScale="92500" lnSpcReduction="20000"/>
          </a:bodyPr>
          <a:lstStyle/>
          <a:p>
            <a:r>
              <a:rPr lang="en-US" dirty="0"/>
              <a:t>Configures the entire FPGA. </a:t>
            </a:r>
          </a:p>
          <a:p>
            <a:r>
              <a:rPr lang="en-US" dirty="0"/>
              <a:t>Used during initial FPGA configuration. </a:t>
            </a:r>
          </a:p>
          <a:p>
            <a:r>
              <a:rPr lang="en-US" dirty="0"/>
              <a:t>Programs both: </a:t>
            </a:r>
          </a:p>
          <a:p>
            <a:pPr lvl="1"/>
            <a:r>
              <a:rPr lang="en-US" dirty="0"/>
              <a:t>Static Region </a:t>
            </a:r>
          </a:p>
          <a:p>
            <a:pPr lvl="1"/>
            <a:r>
              <a:rPr lang="en-US" dirty="0"/>
              <a:t>Reconfigurable Region </a:t>
            </a:r>
          </a:p>
          <a:p>
            <a:r>
              <a:rPr lang="en-US" dirty="0"/>
              <a:t>Largest configuration file. </a:t>
            </a:r>
          </a:p>
          <a:p>
            <a:pPr marL="0" indent="0">
              <a:buNone/>
            </a:pPr>
            <a:br>
              <a:rPr lang="en-US" b="1" dirty="0"/>
            </a:br>
            <a:r>
              <a:rPr lang="en-US" b="1" dirty="0"/>
              <a:t>Key Takeaway :</a:t>
            </a:r>
          </a:p>
          <a:p>
            <a:r>
              <a:rPr lang="en-US" dirty="0"/>
              <a:t>A Full Bitstream configures the complete FPGA.</a:t>
            </a:r>
          </a:p>
        </p:txBody>
      </p:sp>
      <p:pic>
        <p:nvPicPr>
          <p:cNvPr id="5" name="Picture 4">
            <a:extLst>
              <a:ext uri="{FF2B5EF4-FFF2-40B4-BE49-F238E27FC236}">
                <a16:creationId xmlns:a16="http://schemas.microsoft.com/office/drawing/2014/main" id="{DF7F17DC-012B-DDE3-CB20-8DDA18150789}"/>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1686240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707E-79D2-62A9-E192-BA7ACC9FFEB2}"/>
              </a:ext>
            </a:extLst>
          </p:cNvPr>
          <p:cNvSpPr>
            <a:spLocks noGrp="1"/>
          </p:cNvSpPr>
          <p:nvPr>
            <p:ph type="title"/>
          </p:nvPr>
        </p:nvSpPr>
        <p:spPr/>
        <p:txBody>
          <a:bodyPr/>
          <a:lstStyle/>
          <a:p>
            <a:pPr algn="l"/>
            <a:r>
              <a:rPr lang="en-US" b="1" dirty="0"/>
              <a:t>Partial Bitstream</a:t>
            </a:r>
          </a:p>
        </p:txBody>
      </p:sp>
      <p:sp>
        <p:nvSpPr>
          <p:cNvPr id="3" name="Content Placeholder 2">
            <a:extLst>
              <a:ext uri="{FF2B5EF4-FFF2-40B4-BE49-F238E27FC236}">
                <a16:creationId xmlns:a16="http://schemas.microsoft.com/office/drawing/2014/main" id="{16DE35C8-0BFA-3DEA-9934-2E5FFC1A162E}"/>
              </a:ext>
            </a:extLst>
          </p:cNvPr>
          <p:cNvSpPr>
            <a:spLocks noGrp="1"/>
          </p:cNvSpPr>
          <p:nvPr>
            <p:ph idx="1"/>
          </p:nvPr>
        </p:nvSpPr>
        <p:spPr/>
        <p:txBody>
          <a:bodyPr/>
          <a:lstStyle/>
          <a:p>
            <a:r>
              <a:rPr lang="en-US" dirty="0"/>
              <a:t>Configures only the Reconfigurable Partition. </a:t>
            </a:r>
          </a:p>
          <a:p>
            <a:r>
              <a:rPr lang="en-US" dirty="0"/>
              <a:t>Leaves the Static Region unchanged. </a:t>
            </a:r>
          </a:p>
          <a:p>
            <a:r>
              <a:rPr lang="en-US" dirty="0"/>
              <a:t>Smaller than a Full Bitstream. </a:t>
            </a:r>
          </a:p>
          <a:p>
            <a:r>
              <a:rPr lang="en-US" dirty="0"/>
              <a:t>Enables Dynamic Partial Reconfiguration. </a:t>
            </a:r>
          </a:p>
          <a:p>
            <a:pPr marL="0" indent="0">
              <a:buNone/>
            </a:pPr>
            <a:br>
              <a:rPr lang="en-US" b="1" dirty="0"/>
            </a:br>
            <a:r>
              <a:rPr lang="en-US" b="1" dirty="0"/>
              <a:t>Key Takeaway :</a:t>
            </a:r>
          </a:p>
          <a:p>
            <a:r>
              <a:rPr lang="en-US" dirty="0"/>
              <a:t>A Partial Bitstream updates only the reconfigurable hardware.</a:t>
            </a:r>
          </a:p>
        </p:txBody>
      </p:sp>
      <p:pic>
        <p:nvPicPr>
          <p:cNvPr id="5" name="Picture 4">
            <a:extLst>
              <a:ext uri="{FF2B5EF4-FFF2-40B4-BE49-F238E27FC236}">
                <a16:creationId xmlns:a16="http://schemas.microsoft.com/office/drawing/2014/main" id="{B2DE6F92-98DC-94E6-E1A8-B7C25BDAE51D}"/>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483410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55650-3062-3E69-A1AA-264E3EF2A66B}"/>
              </a:ext>
            </a:extLst>
          </p:cNvPr>
          <p:cNvSpPr>
            <a:spLocks noGrp="1"/>
          </p:cNvSpPr>
          <p:nvPr>
            <p:ph type="title"/>
          </p:nvPr>
        </p:nvSpPr>
        <p:spPr/>
        <p:txBody>
          <a:bodyPr/>
          <a:lstStyle/>
          <a:p>
            <a:pPr algn="l"/>
            <a:r>
              <a:rPr lang="en-US" b="1" dirty="0"/>
              <a:t>Full Bitstream vs Partial Bitstream</a:t>
            </a:r>
          </a:p>
        </p:txBody>
      </p:sp>
      <p:graphicFrame>
        <p:nvGraphicFramePr>
          <p:cNvPr id="4" name="Content Placeholder 3">
            <a:extLst>
              <a:ext uri="{FF2B5EF4-FFF2-40B4-BE49-F238E27FC236}">
                <a16:creationId xmlns:a16="http://schemas.microsoft.com/office/drawing/2014/main" id="{8C54CFA9-B3FA-98DF-3AC2-9CC669E9A47A}"/>
              </a:ext>
            </a:extLst>
          </p:cNvPr>
          <p:cNvGraphicFramePr>
            <a:graphicFrameLocks noGrp="1"/>
          </p:cNvGraphicFramePr>
          <p:nvPr>
            <p:ph idx="1"/>
            <p:extLst>
              <p:ext uri="{D42A27DB-BD31-4B8C-83A1-F6EECF244321}">
                <p14:modId xmlns:p14="http://schemas.microsoft.com/office/powerpoint/2010/main" val="2837933979"/>
              </p:ext>
            </p:extLst>
          </p:nvPr>
        </p:nvGraphicFramePr>
        <p:xfrm>
          <a:off x="2773363" y="2208086"/>
          <a:ext cx="7796212" cy="2994852"/>
        </p:xfrm>
        <a:graphic>
          <a:graphicData uri="http://schemas.openxmlformats.org/drawingml/2006/table">
            <a:tbl>
              <a:tblPr firstRow="1" bandRow="1">
                <a:tableStyleId>{21E4AEA4-8DFA-4A89-87EB-49C32662AFE0}</a:tableStyleId>
              </a:tblPr>
              <a:tblGrid>
                <a:gridCol w="3898106">
                  <a:extLst>
                    <a:ext uri="{9D8B030D-6E8A-4147-A177-3AD203B41FA5}">
                      <a16:colId xmlns:a16="http://schemas.microsoft.com/office/drawing/2014/main" val="1966796558"/>
                    </a:ext>
                  </a:extLst>
                </a:gridCol>
                <a:gridCol w="3898106">
                  <a:extLst>
                    <a:ext uri="{9D8B030D-6E8A-4147-A177-3AD203B41FA5}">
                      <a16:colId xmlns:a16="http://schemas.microsoft.com/office/drawing/2014/main" val="32733173"/>
                    </a:ext>
                  </a:extLst>
                </a:gridCol>
              </a:tblGrid>
              <a:tr h="499142">
                <a:tc>
                  <a:txBody>
                    <a:bodyPr/>
                    <a:lstStyle/>
                    <a:p>
                      <a:pPr>
                        <a:buNone/>
                      </a:pPr>
                      <a:r>
                        <a:rPr lang="en-US" dirty="0"/>
                        <a:t>Full Bitstream</a:t>
                      </a:r>
                    </a:p>
                  </a:txBody>
                  <a:tcPr anchor="ctr"/>
                </a:tc>
                <a:tc>
                  <a:txBody>
                    <a:bodyPr/>
                    <a:lstStyle/>
                    <a:p>
                      <a:pPr>
                        <a:buNone/>
                      </a:pPr>
                      <a:r>
                        <a:rPr lang="en-US"/>
                        <a:t>Partial Bitstream</a:t>
                      </a:r>
                    </a:p>
                  </a:txBody>
                  <a:tcPr anchor="ctr"/>
                </a:tc>
                <a:extLst>
                  <a:ext uri="{0D108BD9-81ED-4DB2-BD59-A6C34878D82A}">
                    <a16:rowId xmlns:a16="http://schemas.microsoft.com/office/drawing/2014/main" val="1914185995"/>
                  </a:ext>
                </a:extLst>
              </a:tr>
              <a:tr h="499142">
                <a:tc>
                  <a:txBody>
                    <a:bodyPr/>
                    <a:lstStyle/>
                    <a:p>
                      <a:pPr>
                        <a:buNone/>
                      </a:pPr>
                      <a:r>
                        <a:rPr lang="en-US"/>
                        <a:t>Configures entire FPGA</a:t>
                      </a:r>
                    </a:p>
                  </a:txBody>
                  <a:tcPr anchor="ctr"/>
                </a:tc>
                <a:tc>
                  <a:txBody>
                    <a:bodyPr/>
                    <a:lstStyle/>
                    <a:p>
                      <a:pPr>
                        <a:buNone/>
                      </a:pPr>
                      <a:r>
                        <a:rPr lang="en-US"/>
                        <a:t>Configures only RP</a:t>
                      </a:r>
                    </a:p>
                  </a:txBody>
                  <a:tcPr anchor="ctr"/>
                </a:tc>
                <a:extLst>
                  <a:ext uri="{0D108BD9-81ED-4DB2-BD59-A6C34878D82A}">
                    <a16:rowId xmlns:a16="http://schemas.microsoft.com/office/drawing/2014/main" val="3703469734"/>
                  </a:ext>
                </a:extLst>
              </a:tr>
              <a:tr h="499142">
                <a:tc>
                  <a:txBody>
                    <a:bodyPr/>
                    <a:lstStyle/>
                    <a:p>
                      <a:pPr>
                        <a:buNone/>
                      </a:pPr>
                      <a:r>
                        <a:rPr lang="en-US"/>
                        <a:t>Used during startup</a:t>
                      </a:r>
                    </a:p>
                  </a:txBody>
                  <a:tcPr anchor="ctr"/>
                </a:tc>
                <a:tc>
                  <a:txBody>
                    <a:bodyPr/>
                    <a:lstStyle/>
                    <a:p>
                      <a:pPr>
                        <a:buNone/>
                      </a:pPr>
                      <a:r>
                        <a:rPr lang="en-US"/>
                        <a:t>Used during runtime</a:t>
                      </a:r>
                    </a:p>
                  </a:txBody>
                  <a:tcPr anchor="ctr"/>
                </a:tc>
                <a:extLst>
                  <a:ext uri="{0D108BD9-81ED-4DB2-BD59-A6C34878D82A}">
                    <a16:rowId xmlns:a16="http://schemas.microsoft.com/office/drawing/2014/main" val="2358379786"/>
                  </a:ext>
                </a:extLst>
              </a:tr>
              <a:tr h="499142">
                <a:tc>
                  <a:txBody>
                    <a:bodyPr/>
                    <a:lstStyle/>
                    <a:p>
                      <a:pPr>
                        <a:buNone/>
                      </a:pPr>
                      <a:r>
                        <a:rPr lang="en-US"/>
                        <a:t>Larger file size</a:t>
                      </a:r>
                    </a:p>
                  </a:txBody>
                  <a:tcPr anchor="ctr"/>
                </a:tc>
                <a:tc>
                  <a:txBody>
                    <a:bodyPr/>
                    <a:lstStyle/>
                    <a:p>
                      <a:pPr>
                        <a:buNone/>
                      </a:pPr>
                      <a:r>
                        <a:rPr lang="en-US"/>
                        <a:t>Smaller file size</a:t>
                      </a:r>
                    </a:p>
                  </a:txBody>
                  <a:tcPr anchor="ctr"/>
                </a:tc>
                <a:extLst>
                  <a:ext uri="{0D108BD9-81ED-4DB2-BD59-A6C34878D82A}">
                    <a16:rowId xmlns:a16="http://schemas.microsoft.com/office/drawing/2014/main" val="3191412300"/>
                  </a:ext>
                </a:extLst>
              </a:tr>
              <a:tr h="499142">
                <a:tc>
                  <a:txBody>
                    <a:bodyPr/>
                    <a:lstStyle/>
                    <a:p>
                      <a:pPr>
                        <a:buNone/>
                      </a:pPr>
                      <a:r>
                        <a:rPr lang="en-US"/>
                        <a:t>Longer configuration time</a:t>
                      </a:r>
                    </a:p>
                  </a:txBody>
                  <a:tcPr anchor="ctr"/>
                </a:tc>
                <a:tc>
                  <a:txBody>
                    <a:bodyPr/>
                    <a:lstStyle/>
                    <a:p>
                      <a:pPr>
                        <a:buNone/>
                      </a:pPr>
                      <a:r>
                        <a:rPr lang="en-US"/>
                        <a:t>Faster configuration</a:t>
                      </a:r>
                    </a:p>
                  </a:txBody>
                  <a:tcPr anchor="ctr"/>
                </a:tc>
                <a:extLst>
                  <a:ext uri="{0D108BD9-81ED-4DB2-BD59-A6C34878D82A}">
                    <a16:rowId xmlns:a16="http://schemas.microsoft.com/office/drawing/2014/main" val="4197981671"/>
                  </a:ext>
                </a:extLst>
              </a:tr>
              <a:tr h="499142">
                <a:tc>
                  <a:txBody>
                    <a:bodyPr/>
                    <a:lstStyle/>
                    <a:p>
                      <a:pPr>
                        <a:buNone/>
                      </a:pPr>
                      <a:r>
                        <a:rPr lang="en-US"/>
                        <a:t>Updates Static + RP</a:t>
                      </a:r>
                    </a:p>
                  </a:txBody>
                  <a:tcPr anchor="ctr"/>
                </a:tc>
                <a:tc>
                  <a:txBody>
                    <a:bodyPr/>
                    <a:lstStyle/>
                    <a:p>
                      <a:pPr>
                        <a:buNone/>
                      </a:pPr>
                      <a:r>
                        <a:rPr lang="en-US" dirty="0"/>
                        <a:t>Updates only RP</a:t>
                      </a:r>
                    </a:p>
                  </a:txBody>
                  <a:tcPr anchor="ctr"/>
                </a:tc>
                <a:extLst>
                  <a:ext uri="{0D108BD9-81ED-4DB2-BD59-A6C34878D82A}">
                    <a16:rowId xmlns:a16="http://schemas.microsoft.com/office/drawing/2014/main" val="4116334056"/>
                  </a:ext>
                </a:extLst>
              </a:tr>
            </a:tbl>
          </a:graphicData>
        </a:graphic>
      </p:graphicFrame>
      <p:pic>
        <p:nvPicPr>
          <p:cNvPr id="5" name="Picture 4">
            <a:extLst>
              <a:ext uri="{FF2B5EF4-FFF2-40B4-BE49-F238E27FC236}">
                <a16:creationId xmlns:a16="http://schemas.microsoft.com/office/drawing/2014/main" id="{CDBBCDE0-6D10-2AC7-EDDF-4E3EAB1411E6}"/>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38016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8B076-6C68-1D67-CD71-C2A0A77972CF}"/>
              </a:ext>
            </a:extLst>
          </p:cNvPr>
          <p:cNvSpPr>
            <a:spLocks noGrp="1"/>
          </p:cNvSpPr>
          <p:nvPr>
            <p:ph type="title"/>
          </p:nvPr>
        </p:nvSpPr>
        <p:spPr/>
        <p:txBody>
          <a:bodyPr/>
          <a:lstStyle/>
          <a:p>
            <a:pPr algn="l"/>
            <a:r>
              <a:rPr lang="en-US" b="1" dirty="0"/>
              <a:t>Configuration Memory</a:t>
            </a:r>
          </a:p>
        </p:txBody>
      </p:sp>
      <p:sp>
        <p:nvSpPr>
          <p:cNvPr id="3" name="Content Placeholder 2">
            <a:extLst>
              <a:ext uri="{FF2B5EF4-FFF2-40B4-BE49-F238E27FC236}">
                <a16:creationId xmlns:a16="http://schemas.microsoft.com/office/drawing/2014/main" id="{8D508606-67A9-4BBC-2168-8772D72F6497}"/>
              </a:ext>
            </a:extLst>
          </p:cNvPr>
          <p:cNvSpPr>
            <a:spLocks noGrp="1"/>
          </p:cNvSpPr>
          <p:nvPr>
            <p:ph idx="1"/>
          </p:nvPr>
        </p:nvSpPr>
        <p:spPr>
          <a:xfrm>
            <a:off x="2773599" y="1719072"/>
            <a:ext cx="7796540" cy="4330872"/>
          </a:xfrm>
        </p:spPr>
        <p:txBody>
          <a:bodyPr>
            <a:normAutofit fontScale="85000" lnSpcReduction="20000"/>
          </a:bodyPr>
          <a:lstStyle/>
          <a:p>
            <a:r>
              <a:rPr lang="en-US" dirty="0"/>
              <a:t>Stores FPGA configuration data. </a:t>
            </a:r>
          </a:p>
          <a:p>
            <a:r>
              <a:rPr lang="en-US" dirty="0"/>
              <a:t>Controls FPGA resources such as: </a:t>
            </a:r>
          </a:p>
          <a:p>
            <a:pPr lvl="1"/>
            <a:r>
              <a:rPr lang="en-US" dirty="0"/>
              <a:t>LUTs </a:t>
            </a:r>
          </a:p>
          <a:p>
            <a:pPr lvl="1"/>
            <a:r>
              <a:rPr lang="en-US" dirty="0"/>
              <a:t>Flip-Flops </a:t>
            </a:r>
          </a:p>
          <a:p>
            <a:pPr lvl="1"/>
            <a:r>
              <a:rPr lang="en-US" dirty="0"/>
              <a:t>Routing </a:t>
            </a:r>
          </a:p>
          <a:p>
            <a:pPr lvl="1"/>
            <a:r>
              <a:rPr lang="en-US" dirty="0"/>
              <a:t>BRAM </a:t>
            </a:r>
          </a:p>
          <a:p>
            <a:pPr lvl="1"/>
            <a:r>
              <a:rPr lang="en-US" dirty="0"/>
              <a:t>DSP </a:t>
            </a:r>
          </a:p>
          <a:p>
            <a:r>
              <a:rPr lang="en-US" dirty="0"/>
              <a:t>Updated using bitstreams. </a:t>
            </a:r>
          </a:p>
          <a:p>
            <a:pPr marL="0" indent="0">
              <a:buNone/>
            </a:pPr>
            <a:br>
              <a:rPr lang="en-US" b="1" dirty="0"/>
            </a:br>
            <a:r>
              <a:rPr lang="en-US" b="1" dirty="0"/>
              <a:t>Key Takeaway :</a:t>
            </a:r>
          </a:p>
          <a:p>
            <a:r>
              <a:rPr lang="en-US" dirty="0"/>
              <a:t>Configuration memory determines the functionality of the FPGA.</a:t>
            </a:r>
          </a:p>
        </p:txBody>
      </p:sp>
      <p:pic>
        <p:nvPicPr>
          <p:cNvPr id="5" name="Picture 4">
            <a:extLst>
              <a:ext uri="{FF2B5EF4-FFF2-40B4-BE49-F238E27FC236}">
                <a16:creationId xmlns:a16="http://schemas.microsoft.com/office/drawing/2014/main" id="{72D41115-349B-1195-214C-75DFDA0CE26D}"/>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1204298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3720-8524-9628-A9D1-675ED5167743}"/>
              </a:ext>
            </a:extLst>
          </p:cNvPr>
          <p:cNvSpPr>
            <a:spLocks noGrp="1"/>
          </p:cNvSpPr>
          <p:nvPr>
            <p:ph type="title"/>
          </p:nvPr>
        </p:nvSpPr>
        <p:spPr/>
        <p:txBody>
          <a:bodyPr/>
          <a:lstStyle/>
          <a:p>
            <a:pPr algn="l"/>
            <a:r>
              <a:rPr lang="en-US" b="1" dirty="0"/>
              <a:t>Configuration Frames</a:t>
            </a:r>
          </a:p>
        </p:txBody>
      </p:sp>
      <p:sp>
        <p:nvSpPr>
          <p:cNvPr id="3" name="Content Placeholder 2">
            <a:extLst>
              <a:ext uri="{FF2B5EF4-FFF2-40B4-BE49-F238E27FC236}">
                <a16:creationId xmlns:a16="http://schemas.microsoft.com/office/drawing/2014/main" id="{A89869E3-5C5C-2A7A-48BD-8699CC830909}"/>
              </a:ext>
            </a:extLst>
          </p:cNvPr>
          <p:cNvSpPr>
            <a:spLocks noGrp="1"/>
          </p:cNvSpPr>
          <p:nvPr>
            <p:ph idx="1"/>
          </p:nvPr>
        </p:nvSpPr>
        <p:spPr/>
        <p:txBody>
          <a:bodyPr/>
          <a:lstStyle/>
          <a:p>
            <a:r>
              <a:rPr lang="en-US" dirty="0"/>
              <a:t>Smallest addressable unit of FPGA configuration memory. </a:t>
            </a:r>
          </a:p>
          <a:p>
            <a:r>
              <a:rPr lang="en-US" dirty="0"/>
              <a:t>Stores configuration data for FPGA resources. </a:t>
            </a:r>
          </a:p>
          <a:p>
            <a:r>
              <a:rPr lang="en-US" dirty="0"/>
              <a:t>Partial Reconfiguration updates selected frames only. </a:t>
            </a:r>
          </a:p>
          <a:p>
            <a:r>
              <a:rPr lang="en-US" dirty="0"/>
              <a:t>Frames belonging to the Static Region remain unchanged. </a:t>
            </a:r>
          </a:p>
          <a:p>
            <a:pPr marL="0" indent="0">
              <a:buNone/>
            </a:pPr>
            <a:br>
              <a:rPr lang="en-US" b="1" dirty="0"/>
            </a:br>
            <a:r>
              <a:rPr lang="en-US" b="1" dirty="0"/>
              <a:t>Key Takeaway :</a:t>
            </a:r>
          </a:p>
          <a:p>
            <a:r>
              <a:rPr lang="en-US" dirty="0"/>
              <a:t>Configuration Frames are the basic units updated during DPR.</a:t>
            </a:r>
          </a:p>
        </p:txBody>
      </p:sp>
      <p:pic>
        <p:nvPicPr>
          <p:cNvPr id="5" name="Picture 4">
            <a:extLst>
              <a:ext uri="{FF2B5EF4-FFF2-40B4-BE49-F238E27FC236}">
                <a16:creationId xmlns:a16="http://schemas.microsoft.com/office/drawing/2014/main" id="{34D9E67B-EF37-FE7A-459F-50D9D225A174}"/>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2125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7153A-BCCD-2197-A716-2FAD30609F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14CF16-44AB-A767-9AF0-A0180A2D9F5F}"/>
              </a:ext>
            </a:extLst>
          </p:cNvPr>
          <p:cNvSpPr>
            <a:spLocks noGrp="1"/>
          </p:cNvSpPr>
          <p:nvPr>
            <p:ph type="title"/>
          </p:nvPr>
        </p:nvSpPr>
        <p:spPr/>
        <p:txBody>
          <a:bodyPr>
            <a:normAutofit/>
          </a:bodyPr>
          <a:lstStyle/>
          <a:p>
            <a:pPr algn="l"/>
            <a:r>
              <a:rPr lang="en-US" b="1" dirty="0"/>
              <a:t>CHAPTER 5 – Supporting DPR Concepts</a:t>
            </a:r>
          </a:p>
        </p:txBody>
      </p:sp>
      <p:sp>
        <p:nvSpPr>
          <p:cNvPr id="7" name="Content Placeholder 6">
            <a:extLst>
              <a:ext uri="{FF2B5EF4-FFF2-40B4-BE49-F238E27FC236}">
                <a16:creationId xmlns:a16="http://schemas.microsoft.com/office/drawing/2014/main" id="{AAA8C823-7A41-5FC0-898D-0BCFA3558C75}"/>
              </a:ext>
            </a:extLst>
          </p:cNvPr>
          <p:cNvSpPr>
            <a:spLocks noGrp="1"/>
          </p:cNvSpPr>
          <p:nvPr>
            <p:ph idx="1"/>
          </p:nvPr>
        </p:nvSpPr>
        <p:spPr/>
        <p:txBody>
          <a:bodyPr/>
          <a:lstStyle/>
          <a:p>
            <a:pPr marL="0" indent="0">
              <a:buNone/>
            </a:pPr>
            <a:r>
              <a:rPr lang="en-US" b="1" dirty="0"/>
              <a:t>Goal :</a:t>
            </a:r>
          </a:p>
          <a:p>
            <a:r>
              <a:rPr lang="en-US" dirty="0"/>
              <a:t>To introduce the supporting concepts required for Dynamic Partial Reconfiguration, including </a:t>
            </a:r>
            <a:r>
              <a:rPr lang="en-US" b="1" dirty="0" err="1"/>
              <a:t>Pblocks</a:t>
            </a:r>
            <a:r>
              <a:rPr lang="en-US" b="1" dirty="0"/>
              <a:t>, Boundary Interfaces, Black Boxes, Partition Pins, and Reconfiguration Controllers</a:t>
            </a:r>
            <a:r>
              <a:rPr lang="en-US" dirty="0"/>
              <a:t>.</a:t>
            </a:r>
          </a:p>
        </p:txBody>
      </p:sp>
      <p:pic>
        <p:nvPicPr>
          <p:cNvPr id="3" name="Picture 2">
            <a:extLst>
              <a:ext uri="{FF2B5EF4-FFF2-40B4-BE49-F238E27FC236}">
                <a16:creationId xmlns:a16="http://schemas.microsoft.com/office/drawing/2014/main" id="{9F39CC4C-102D-A6F6-5C47-AFC07EE6A1A7}"/>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255654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C3E1A-49B7-7782-AA1A-BF6E98B6E9BF}"/>
              </a:ext>
            </a:extLst>
          </p:cNvPr>
          <p:cNvSpPr>
            <a:spLocks noGrp="1"/>
          </p:cNvSpPr>
          <p:nvPr>
            <p:ph type="title"/>
          </p:nvPr>
        </p:nvSpPr>
        <p:spPr/>
        <p:txBody>
          <a:bodyPr/>
          <a:lstStyle/>
          <a:p>
            <a:pPr algn="l"/>
            <a:r>
              <a:rPr lang="en-US" b="1" dirty="0" err="1"/>
              <a:t>Floorplanning</a:t>
            </a:r>
            <a:endParaRPr lang="en-US" b="1" dirty="0"/>
          </a:p>
        </p:txBody>
      </p:sp>
      <p:sp>
        <p:nvSpPr>
          <p:cNvPr id="3" name="Content Placeholder 2">
            <a:extLst>
              <a:ext uri="{FF2B5EF4-FFF2-40B4-BE49-F238E27FC236}">
                <a16:creationId xmlns:a16="http://schemas.microsoft.com/office/drawing/2014/main" id="{24AC87DB-1C7C-E098-66C7-842FD4DD58CB}"/>
              </a:ext>
            </a:extLst>
          </p:cNvPr>
          <p:cNvSpPr>
            <a:spLocks noGrp="1"/>
          </p:cNvSpPr>
          <p:nvPr>
            <p:ph idx="1"/>
          </p:nvPr>
        </p:nvSpPr>
        <p:spPr>
          <a:xfrm>
            <a:off x="2773599" y="1885285"/>
            <a:ext cx="7796540" cy="4164659"/>
          </a:xfrm>
        </p:spPr>
        <p:txBody>
          <a:bodyPr>
            <a:normAutofit fontScale="92500" lnSpcReduction="20000"/>
          </a:bodyPr>
          <a:lstStyle/>
          <a:p>
            <a:r>
              <a:rPr lang="en-US" dirty="0" err="1"/>
              <a:t>Floorplanning</a:t>
            </a:r>
            <a:r>
              <a:rPr lang="en-US" dirty="0"/>
              <a:t> is the process of assigning specific physical areas of the FPGA to different parts of the design. </a:t>
            </a:r>
          </a:p>
          <a:p>
            <a:r>
              <a:rPr lang="en-US" dirty="0"/>
              <a:t>Ensures that the Static Region and Reconfigurable Partition occupy separate physical locations. </a:t>
            </a:r>
          </a:p>
          <a:p>
            <a:r>
              <a:rPr lang="en-US" dirty="0"/>
              <a:t>Helps organize the FPGA layout. </a:t>
            </a:r>
          </a:p>
          <a:p>
            <a:r>
              <a:rPr lang="en-US" dirty="0"/>
              <a:t>Provides predictable placement and routing. </a:t>
            </a:r>
          </a:p>
          <a:p>
            <a:pPr marL="0" indent="0">
              <a:buNone/>
            </a:pPr>
            <a:br>
              <a:rPr lang="en-US" b="1" dirty="0"/>
            </a:br>
            <a:r>
              <a:rPr lang="en-US" b="1" dirty="0"/>
              <a:t>Key Takeaway :</a:t>
            </a:r>
          </a:p>
          <a:p>
            <a:r>
              <a:rPr lang="en-US" b="1" dirty="0" err="1"/>
              <a:t>Floorplanning</a:t>
            </a:r>
            <a:r>
              <a:rPr lang="en-US" b="1" dirty="0"/>
              <a:t> organizes the FPGA by assigning dedicated physical areas to different design modules.</a:t>
            </a:r>
            <a:endParaRPr lang="en-US" dirty="0"/>
          </a:p>
        </p:txBody>
      </p:sp>
      <p:pic>
        <p:nvPicPr>
          <p:cNvPr id="5" name="Picture 4">
            <a:extLst>
              <a:ext uri="{FF2B5EF4-FFF2-40B4-BE49-F238E27FC236}">
                <a16:creationId xmlns:a16="http://schemas.microsoft.com/office/drawing/2014/main" id="{A8F2B52B-59DA-81CF-EC5A-6AB6AE1D5ED1}"/>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3847660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0616-4B8D-A614-D3CD-93F5C348D479}"/>
              </a:ext>
            </a:extLst>
          </p:cNvPr>
          <p:cNvSpPr>
            <a:spLocks noGrp="1"/>
          </p:cNvSpPr>
          <p:nvPr>
            <p:ph type="title"/>
          </p:nvPr>
        </p:nvSpPr>
        <p:spPr/>
        <p:txBody>
          <a:bodyPr/>
          <a:lstStyle/>
          <a:p>
            <a:pPr algn="l"/>
            <a:r>
              <a:rPr lang="en-US" b="1" dirty="0" err="1"/>
              <a:t>Pblock</a:t>
            </a:r>
            <a:r>
              <a:rPr lang="en-US" b="1" dirty="0"/>
              <a:t> (Physical Block)</a:t>
            </a:r>
          </a:p>
        </p:txBody>
      </p:sp>
      <p:sp>
        <p:nvSpPr>
          <p:cNvPr id="3" name="Content Placeholder 2">
            <a:extLst>
              <a:ext uri="{FF2B5EF4-FFF2-40B4-BE49-F238E27FC236}">
                <a16:creationId xmlns:a16="http://schemas.microsoft.com/office/drawing/2014/main" id="{9E0B8610-80E2-4DA9-F8F6-CC9A4F395D6F}"/>
              </a:ext>
            </a:extLst>
          </p:cNvPr>
          <p:cNvSpPr>
            <a:spLocks noGrp="1"/>
          </p:cNvSpPr>
          <p:nvPr>
            <p:ph idx="1"/>
          </p:nvPr>
        </p:nvSpPr>
        <p:spPr/>
        <p:txBody>
          <a:bodyPr>
            <a:normAutofit lnSpcReduction="10000"/>
          </a:bodyPr>
          <a:lstStyle/>
          <a:p>
            <a:r>
              <a:rPr lang="en-US" dirty="0"/>
              <a:t>A </a:t>
            </a:r>
            <a:r>
              <a:rPr lang="en-US" dirty="0" err="1"/>
              <a:t>Pblock</a:t>
            </a:r>
            <a:r>
              <a:rPr lang="en-US" dirty="0"/>
              <a:t> defines the physical area allocated to a Reconfigurable Partition. </a:t>
            </a:r>
          </a:p>
          <a:p>
            <a:r>
              <a:rPr lang="en-US" dirty="0"/>
              <a:t>Used for </a:t>
            </a:r>
            <a:r>
              <a:rPr lang="en-US" dirty="0" err="1"/>
              <a:t>floorplanning</a:t>
            </a:r>
            <a:r>
              <a:rPr lang="en-US" dirty="0"/>
              <a:t> in </a:t>
            </a:r>
            <a:r>
              <a:rPr lang="en-US" dirty="0" err="1"/>
              <a:t>Vivado</a:t>
            </a:r>
            <a:r>
              <a:rPr lang="en-US" dirty="0"/>
              <a:t>. </a:t>
            </a:r>
          </a:p>
          <a:p>
            <a:r>
              <a:rPr lang="en-US" dirty="0"/>
              <a:t>Prevents logic from crossing partition boundaries. </a:t>
            </a:r>
          </a:p>
          <a:p>
            <a:r>
              <a:rPr lang="en-US" dirty="0"/>
              <a:t>Ensures predictable implementation. </a:t>
            </a:r>
          </a:p>
          <a:p>
            <a:pPr marL="0" indent="0">
              <a:buNone/>
            </a:pPr>
            <a:br>
              <a:rPr lang="en-US" b="1" dirty="0"/>
            </a:br>
            <a:r>
              <a:rPr lang="en-US" b="1" dirty="0"/>
              <a:t>Key Takeaway :</a:t>
            </a:r>
          </a:p>
          <a:p>
            <a:r>
              <a:rPr lang="en-US" dirty="0"/>
              <a:t>A </a:t>
            </a:r>
            <a:r>
              <a:rPr lang="en-US" dirty="0" err="1"/>
              <a:t>Pblock</a:t>
            </a:r>
            <a:r>
              <a:rPr lang="en-US" dirty="0"/>
              <a:t> reserves a physical area for a Reconfigurable Partition.</a:t>
            </a:r>
          </a:p>
        </p:txBody>
      </p:sp>
      <p:pic>
        <p:nvPicPr>
          <p:cNvPr id="5" name="Picture 4">
            <a:extLst>
              <a:ext uri="{FF2B5EF4-FFF2-40B4-BE49-F238E27FC236}">
                <a16:creationId xmlns:a16="http://schemas.microsoft.com/office/drawing/2014/main" id="{34EAFE8D-044F-ADA9-2905-300FE7017296}"/>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1786767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F70E5-C4C1-F890-1FF2-D30DD66C85C1}"/>
              </a:ext>
            </a:extLst>
          </p:cNvPr>
          <p:cNvSpPr>
            <a:spLocks noGrp="1"/>
          </p:cNvSpPr>
          <p:nvPr>
            <p:ph type="title"/>
          </p:nvPr>
        </p:nvSpPr>
        <p:spPr/>
        <p:txBody>
          <a:bodyPr/>
          <a:lstStyle/>
          <a:p>
            <a:pPr algn="l"/>
            <a:r>
              <a:rPr lang="en-US" b="1" dirty="0"/>
              <a:t>Boundary Interface</a:t>
            </a:r>
          </a:p>
        </p:txBody>
      </p:sp>
      <p:sp>
        <p:nvSpPr>
          <p:cNvPr id="3" name="Content Placeholder 2">
            <a:extLst>
              <a:ext uri="{FF2B5EF4-FFF2-40B4-BE49-F238E27FC236}">
                <a16:creationId xmlns:a16="http://schemas.microsoft.com/office/drawing/2014/main" id="{9D5247CD-21B6-B264-DB13-4B2E3BC00AF3}"/>
              </a:ext>
            </a:extLst>
          </p:cNvPr>
          <p:cNvSpPr>
            <a:spLocks noGrp="1"/>
          </p:cNvSpPr>
          <p:nvPr>
            <p:ph idx="1"/>
          </p:nvPr>
        </p:nvSpPr>
        <p:spPr/>
        <p:txBody>
          <a:bodyPr>
            <a:normAutofit lnSpcReduction="10000"/>
          </a:bodyPr>
          <a:lstStyle/>
          <a:p>
            <a:r>
              <a:rPr lang="en-US" dirty="0"/>
              <a:t>Connects the Static Region and Reconfigurable Partition. </a:t>
            </a:r>
          </a:p>
          <a:p>
            <a:r>
              <a:rPr lang="en-US" dirty="0"/>
              <a:t>Provides communication between both regions. </a:t>
            </a:r>
          </a:p>
          <a:p>
            <a:r>
              <a:rPr lang="en-US" dirty="0"/>
              <a:t>Must remain stable during reconfiguration. </a:t>
            </a:r>
          </a:p>
          <a:p>
            <a:r>
              <a:rPr lang="en-US" dirty="0"/>
              <a:t>Enables uninterrupted system operation. </a:t>
            </a:r>
          </a:p>
          <a:p>
            <a:pPr marL="0" indent="0">
              <a:buNone/>
            </a:pPr>
            <a:br>
              <a:rPr lang="en-US" b="1" dirty="0"/>
            </a:br>
            <a:r>
              <a:rPr lang="en-US" b="1" dirty="0"/>
              <a:t>Key Takeaway :</a:t>
            </a:r>
          </a:p>
          <a:p>
            <a:r>
              <a:rPr lang="en-US" dirty="0"/>
              <a:t>Boundary Interfaces allow communication while isolating the reconfigurable hardware.</a:t>
            </a:r>
          </a:p>
        </p:txBody>
      </p:sp>
      <p:pic>
        <p:nvPicPr>
          <p:cNvPr id="5" name="Picture 4">
            <a:extLst>
              <a:ext uri="{FF2B5EF4-FFF2-40B4-BE49-F238E27FC236}">
                <a16:creationId xmlns:a16="http://schemas.microsoft.com/office/drawing/2014/main" id="{E8D7047C-B0B7-CCBF-B103-05E94DDE60BE}"/>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864657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7F066-CEA4-88ED-C8B8-754AF8D6C764}"/>
              </a:ext>
            </a:extLst>
          </p:cNvPr>
          <p:cNvSpPr>
            <a:spLocks noGrp="1"/>
          </p:cNvSpPr>
          <p:nvPr>
            <p:ph type="title"/>
          </p:nvPr>
        </p:nvSpPr>
        <p:spPr/>
        <p:txBody>
          <a:bodyPr/>
          <a:lstStyle/>
          <a:p>
            <a:pPr algn="l"/>
            <a:r>
              <a:rPr lang="en-US" b="1" dirty="0"/>
              <a:t>Black Box</a:t>
            </a:r>
          </a:p>
        </p:txBody>
      </p:sp>
      <p:sp>
        <p:nvSpPr>
          <p:cNvPr id="3" name="Content Placeholder 2">
            <a:extLst>
              <a:ext uri="{FF2B5EF4-FFF2-40B4-BE49-F238E27FC236}">
                <a16:creationId xmlns:a16="http://schemas.microsoft.com/office/drawing/2014/main" id="{224A4ECC-6D55-3FDC-F0CC-A198C3A59709}"/>
              </a:ext>
            </a:extLst>
          </p:cNvPr>
          <p:cNvSpPr>
            <a:spLocks noGrp="1"/>
          </p:cNvSpPr>
          <p:nvPr>
            <p:ph idx="1"/>
          </p:nvPr>
        </p:nvSpPr>
        <p:spPr/>
        <p:txBody>
          <a:bodyPr>
            <a:normAutofit fontScale="92500" lnSpcReduction="20000"/>
          </a:bodyPr>
          <a:lstStyle/>
          <a:p>
            <a:r>
              <a:rPr lang="en-US" dirty="0"/>
              <a:t>Placeholder used during synthesis. </a:t>
            </a:r>
          </a:p>
          <a:p>
            <a:r>
              <a:rPr lang="en-US" dirty="0"/>
              <a:t>Internal implementation is temporarily hidden. </a:t>
            </a:r>
          </a:p>
          <a:p>
            <a:r>
              <a:rPr lang="en-US" dirty="0"/>
              <a:t>Interface remains visible. </a:t>
            </a:r>
          </a:p>
          <a:p>
            <a:r>
              <a:rPr lang="en-US" dirty="0"/>
              <a:t>Allows independent implementation of Static and Reconfigurable designs. </a:t>
            </a:r>
          </a:p>
          <a:p>
            <a:pPr marL="0" indent="0">
              <a:buNone/>
            </a:pPr>
            <a:endParaRPr lang="en-US" b="1" dirty="0"/>
          </a:p>
          <a:p>
            <a:pPr marL="0" indent="0">
              <a:buNone/>
            </a:pPr>
            <a:r>
              <a:rPr lang="en-US" b="1" dirty="0"/>
              <a:t>Key Takeaway :</a:t>
            </a:r>
          </a:p>
          <a:p>
            <a:r>
              <a:rPr lang="en-US" dirty="0"/>
              <a:t>A Black Box represents a module whose implementation is provided later.</a:t>
            </a:r>
          </a:p>
          <a:p>
            <a:endParaRPr lang="en-US" dirty="0"/>
          </a:p>
        </p:txBody>
      </p:sp>
      <p:pic>
        <p:nvPicPr>
          <p:cNvPr id="5" name="Picture 4">
            <a:extLst>
              <a:ext uri="{FF2B5EF4-FFF2-40B4-BE49-F238E27FC236}">
                <a16:creationId xmlns:a16="http://schemas.microsoft.com/office/drawing/2014/main" id="{DB45B17F-FA24-6F3F-B1C3-74CA2B9B1B3D}"/>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774191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014B9-FAEE-73A0-6EA4-FBF27510A23F}"/>
              </a:ext>
            </a:extLst>
          </p:cNvPr>
          <p:cNvSpPr>
            <a:spLocks noGrp="1"/>
          </p:cNvSpPr>
          <p:nvPr>
            <p:ph type="title"/>
          </p:nvPr>
        </p:nvSpPr>
        <p:spPr/>
        <p:txBody>
          <a:bodyPr/>
          <a:lstStyle/>
          <a:p>
            <a:pPr algn="l"/>
            <a:r>
              <a:rPr lang="en-US" b="1" dirty="0"/>
              <a:t>Partition Pins</a:t>
            </a:r>
          </a:p>
        </p:txBody>
      </p:sp>
      <p:sp>
        <p:nvSpPr>
          <p:cNvPr id="3" name="Content Placeholder 2">
            <a:extLst>
              <a:ext uri="{FF2B5EF4-FFF2-40B4-BE49-F238E27FC236}">
                <a16:creationId xmlns:a16="http://schemas.microsoft.com/office/drawing/2014/main" id="{FECC81DE-D863-D86D-5C5F-1353D64CF5E4}"/>
              </a:ext>
            </a:extLst>
          </p:cNvPr>
          <p:cNvSpPr>
            <a:spLocks noGrp="1"/>
          </p:cNvSpPr>
          <p:nvPr>
            <p:ph idx="1"/>
          </p:nvPr>
        </p:nvSpPr>
        <p:spPr/>
        <p:txBody>
          <a:bodyPr>
            <a:normAutofit lnSpcReduction="10000"/>
          </a:bodyPr>
          <a:lstStyle/>
          <a:p>
            <a:r>
              <a:rPr lang="en-US" dirty="0"/>
              <a:t>Virtual connection points between Static Region and RP. </a:t>
            </a:r>
          </a:p>
          <a:p>
            <a:r>
              <a:rPr lang="en-US" dirty="0"/>
              <a:t>Preserve signal integrity across partition boundaries. </a:t>
            </a:r>
          </a:p>
          <a:p>
            <a:r>
              <a:rPr lang="en-US" dirty="0"/>
              <a:t>Automatically generated by </a:t>
            </a:r>
            <a:r>
              <a:rPr lang="en-US" dirty="0" err="1"/>
              <a:t>Vivado</a:t>
            </a:r>
            <a:r>
              <a:rPr lang="en-US" dirty="0"/>
              <a:t>. </a:t>
            </a:r>
          </a:p>
          <a:p>
            <a:r>
              <a:rPr lang="en-US" dirty="0"/>
              <a:t>Maintain consistent routing during DPR. </a:t>
            </a:r>
          </a:p>
          <a:p>
            <a:pPr marL="0" indent="0">
              <a:buNone/>
            </a:pPr>
            <a:br>
              <a:rPr lang="en-US" b="1" dirty="0"/>
            </a:br>
            <a:r>
              <a:rPr lang="en-US" b="1" dirty="0"/>
              <a:t>Key Takeaway :</a:t>
            </a:r>
          </a:p>
          <a:p>
            <a:r>
              <a:rPr lang="en-US" dirty="0"/>
              <a:t>Partition Pins provide stable communication across partition boundaries.</a:t>
            </a:r>
          </a:p>
        </p:txBody>
      </p:sp>
      <p:pic>
        <p:nvPicPr>
          <p:cNvPr id="5" name="Picture 4">
            <a:extLst>
              <a:ext uri="{FF2B5EF4-FFF2-40B4-BE49-F238E27FC236}">
                <a16:creationId xmlns:a16="http://schemas.microsoft.com/office/drawing/2014/main" id="{50E4AD26-A1BF-B084-F502-C3A32708AE54}"/>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4138628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2A35B-720E-F122-9E70-A09D4E3F904F}"/>
              </a:ext>
            </a:extLst>
          </p:cNvPr>
          <p:cNvSpPr>
            <a:spLocks noGrp="1"/>
          </p:cNvSpPr>
          <p:nvPr>
            <p:ph type="title"/>
          </p:nvPr>
        </p:nvSpPr>
        <p:spPr/>
        <p:txBody>
          <a:bodyPr/>
          <a:lstStyle/>
          <a:p>
            <a:pPr algn="l"/>
            <a:r>
              <a:rPr lang="en-US" b="1" dirty="0"/>
              <a:t>Reconfiguration Controllers</a:t>
            </a:r>
          </a:p>
        </p:txBody>
      </p:sp>
      <p:sp>
        <p:nvSpPr>
          <p:cNvPr id="3" name="Content Placeholder 2">
            <a:extLst>
              <a:ext uri="{FF2B5EF4-FFF2-40B4-BE49-F238E27FC236}">
                <a16:creationId xmlns:a16="http://schemas.microsoft.com/office/drawing/2014/main" id="{8A95B39A-5E94-3015-84FF-5215E2B37088}"/>
              </a:ext>
            </a:extLst>
          </p:cNvPr>
          <p:cNvSpPr>
            <a:spLocks noGrp="1"/>
          </p:cNvSpPr>
          <p:nvPr>
            <p:ph idx="1"/>
          </p:nvPr>
        </p:nvSpPr>
        <p:spPr/>
        <p:txBody>
          <a:bodyPr>
            <a:normAutofit lnSpcReduction="10000"/>
          </a:bodyPr>
          <a:lstStyle/>
          <a:p>
            <a:pPr marL="0" indent="0">
              <a:buNone/>
            </a:pPr>
            <a:r>
              <a:rPr lang="en-US" dirty="0"/>
              <a:t>Controllers used to load bitstreams :</a:t>
            </a:r>
          </a:p>
          <a:p>
            <a:r>
              <a:rPr lang="en-US" dirty="0"/>
              <a:t>ICAP (Internal Configuration Access Port) </a:t>
            </a:r>
          </a:p>
          <a:p>
            <a:r>
              <a:rPr lang="en-US" dirty="0"/>
              <a:t>PCAP (Processor Configuration Access Port) </a:t>
            </a:r>
          </a:p>
          <a:p>
            <a:r>
              <a:rPr lang="en-US" dirty="0"/>
              <a:t>JTAG (External Configuration Interface) </a:t>
            </a:r>
          </a:p>
          <a:p>
            <a:pPr marL="0" indent="0">
              <a:buNone/>
            </a:pPr>
            <a:br>
              <a:rPr lang="en-US" b="1" dirty="0"/>
            </a:br>
            <a:r>
              <a:rPr lang="en-US" b="1" dirty="0"/>
              <a:t>Key Takeaway :</a:t>
            </a:r>
          </a:p>
          <a:p>
            <a:r>
              <a:rPr lang="en-US" dirty="0"/>
              <a:t>Reconfiguration Controllers transfer Full and Partial Bitstreams into the FPGA.</a:t>
            </a:r>
          </a:p>
        </p:txBody>
      </p:sp>
      <p:pic>
        <p:nvPicPr>
          <p:cNvPr id="5" name="Picture 4">
            <a:extLst>
              <a:ext uri="{FF2B5EF4-FFF2-40B4-BE49-F238E27FC236}">
                <a16:creationId xmlns:a16="http://schemas.microsoft.com/office/drawing/2014/main" id="{EC5DA035-DE3D-DC06-56AF-FA297F0976D5}"/>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063628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EDA68-9147-D142-4A9B-7F4DD003F128}"/>
              </a:ext>
            </a:extLst>
          </p:cNvPr>
          <p:cNvSpPr>
            <a:spLocks noGrp="1"/>
          </p:cNvSpPr>
          <p:nvPr>
            <p:ph type="title"/>
          </p:nvPr>
        </p:nvSpPr>
        <p:spPr/>
        <p:txBody>
          <a:bodyPr/>
          <a:lstStyle/>
          <a:p>
            <a:pPr algn="l"/>
            <a:r>
              <a:rPr lang="en-US" b="1" dirty="0"/>
              <a:t>ICAP vs PCAP vs JTAG</a:t>
            </a:r>
          </a:p>
        </p:txBody>
      </p:sp>
      <p:graphicFrame>
        <p:nvGraphicFramePr>
          <p:cNvPr id="4" name="Content Placeholder 3">
            <a:extLst>
              <a:ext uri="{FF2B5EF4-FFF2-40B4-BE49-F238E27FC236}">
                <a16:creationId xmlns:a16="http://schemas.microsoft.com/office/drawing/2014/main" id="{4A00F7CB-411B-4A00-20C0-F9CA79B8933F}"/>
              </a:ext>
            </a:extLst>
          </p:cNvPr>
          <p:cNvGraphicFramePr>
            <a:graphicFrameLocks noGrp="1"/>
          </p:cNvGraphicFramePr>
          <p:nvPr>
            <p:ph idx="1"/>
            <p:extLst>
              <p:ext uri="{D42A27DB-BD31-4B8C-83A1-F6EECF244321}">
                <p14:modId xmlns:p14="http://schemas.microsoft.com/office/powerpoint/2010/main" val="4201329400"/>
              </p:ext>
            </p:extLst>
          </p:nvPr>
        </p:nvGraphicFramePr>
        <p:xfrm>
          <a:off x="2773363" y="2052638"/>
          <a:ext cx="7796211" cy="2448402"/>
        </p:xfrm>
        <a:graphic>
          <a:graphicData uri="http://schemas.openxmlformats.org/drawingml/2006/table">
            <a:tbl>
              <a:tblPr firstRow="1" bandRow="1">
                <a:tableStyleId>{21E4AEA4-8DFA-4A89-87EB-49C32662AFE0}</a:tableStyleId>
              </a:tblPr>
              <a:tblGrid>
                <a:gridCol w="2598737">
                  <a:extLst>
                    <a:ext uri="{9D8B030D-6E8A-4147-A177-3AD203B41FA5}">
                      <a16:colId xmlns:a16="http://schemas.microsoft.com/office/drawing/2014/main" val="2102478972"/>
                    </a:ext>
                  </a:extLst>
                </a:gridCol>
                <a:gridCol w="2598737">
                  <a:extLst>
                    <a:ext uri="{9D8B030D-6E8A-4147-A177-3AD203B41FA5}">
                      <a16:colId xmlns:a16="http://schemas.microsoft.com/office/drawing/2014/main" val="163721519"/>
                    </a:ext>
                  </a:extLst>
                </a:gridCol>
                <a:gridCol w="2598737">
                  <a:extLst>
                    <a:ext uri="{9D8B030D-6E8A-4147-A177-3AD203B41FA5}">
                      <a16:colId xmlns:a16="http://schemas.microsoft.com/office/drawing/2014/main" val="3778972270"/>
                    </a:ext>
                  </a:extLst>
                </a:gridCol>
              </a:tblGrid>
              <a:tr h="584121">
                <a:tc>
                  <a:txBody>
                    <a:bodyPr/>
                    <a:lstStyle/>
                    <a:p>
                      <a:pPr>
                        <a:buNone/>
                      </a:pPr>
                      <a:r>
                        <a:rPr lang="en-US" dirty="0"/>
                        <a:t>Interface</a:t>
                      </a:r>
                    </a:p>
                  </a:txBody>
                  <a:tcPr anchor="ctr"/>
                </a:tc>
                <a:tc>
                  <a:txBody>
                    <a:bodyPr/>
                    <a:lstStyle/>
                    <a:p>
                      <a:pPr>
                        <a:buNone/>
                      </a:pPr>
                      <a:r>
                        <a:rPr lang="en-US"/>
                        <a:t>Location</a:t>
                      </a:r>
                    </a:p>
                  </a:txBody>
                  <a:tcPr anchor="ctr"/>
                </a:tc>
                <a:tc>
                  <a:txBody>
                    <a:bodyPr/>
                    <a:lstStyle/>
                    <a:p>
                      <a:pPr>
                        <a:buNone/>
                      </a:pPr>
                      <a:r>
                        <a:rPr lang="en-US"/>
                        <a:t>Typical Use</a:t>
                      </a:r>
                    </a:p>
                  </a:txBody>
                  <a:tcPr anchor="ctr"/>
                </a:tc>
                <a:extLst>
                  <a:ext uri="{0D108BD9-81ED-4DB2-BD59-A6C34878D82A}">
                    <a16:rowId xmlns:a16="http://schemas.microsoft.com/office/drawing/2014/main" val="1166159369"/>
                  </a:ext>
                </a:extLst>
              </a:tr>
              <a:tr h="584121">
                <a:tc>
                  <a:txBody>
                    <a:bodyPr/>
                    <a:lstStyle/>
                    <a:p>
                      <a:pPr>
                        <a:buNone/>
                      </a:pPr>
                      <a:r>
                        <a:rPr lang="en-US"/>
                        <a:t>ICAP</a:t>
                      </a:r>
                    </a:p>
                  </a:txBody>
                  <a:tcPr anchor="ctr"/>
                </a:tc>
                <a:tc>
                  <a:txBody>
                    <a:bodyPr/>
                    <a:lstStyle/>
                    <a:p>
                      <a:pPr>
                        <a:buNone/>
                      </a:pPr>
                      <a:r>
                        <a:rPr lang="en-US"/>
                        <a:t>Inside FPGA</a:t>
                      </a:r>
                    </a:p>
                  </a:txBody>
                  <a:tcPr anchor="ctr"/>
                </a:tc>
                <a:tc>
                  <a:txBody>
                    <a:bodyPr/>
                    <a:lstStyle/>
                    <a:p>
                      <a:pPr>
                        <a:buNone/>
                      </a:pPr>
                      <a:r>
                        <a:rPr lang="en-US"/>
                        <a:t>Runtime Partial Reconfiguration</a:t>
                      </a:r>
                    </a:p>
                  </a:txBody>
                  <a:tcPr anchor="ctr"/>
                </a:tc>
                <a:extLst>
                  <a:ext uri="{0D108BD9-81ED-4DB2-BD59-A6C34878D82A}">
                    <a16:rowId xmlns:a16="http://schemas.microsoft.com/office/drawing/2014/main" val="468593499"/>
                  </a:ext>
                </a:extLst>
              </a:tr>
              <a:tr h="584121">
                <a:tc>
                  <a:txBody>
                    <a:bodyPr/>
                    <a:lstStyle/>
                    <a:p>
                      <a:pPr>
                        <a:buNone/>
                      </a:pPr>
                      <a:r>
                        <a:rPr lang="en-US"/>
                        <a:t>PCAP</a:t>
                      </a:r>
                    </a:p>
                  </a:txBody>
                  <a:tcPr anchor="ctr"/>
                </a:tc>
                <a:tc>
                  <a:txBody>
                    <a:bodyPr/>
                    <a:lstStyle/>
                    <a:p>
                      <a:pPr>
                        <a:buNone/>
                      </a:pPr>
                      <a:r>
                        <a:rPr lang="en-US"/>
                        <a:t>Processing System</a:t>
                      </a:r>
                    </a:p>
                  </a:txBody>
                  <a:tcPr anchor="ctr"/>
                </a:tc>
                <a:tc>
                  <a:txBody>
                    <a:bodyPr/>
                    <a:lstStyle/>
                    <a:p>
                      <a:pPr>
                        <a:buNone/>
                      </a:pPr>
                      <a:r>
                        <a:rPr lang="en-US"/>
                        <a:t>Zynq Configuration</a:t>
                      </a:r>
                    </a:p>
                  </a:txBody>
                  <a:tcPr anchor="ctr"/>
                </a:tc>
                <a:extLst>
                  <a:ext uri="{0D108BD9-81ED-4DB2-BD59-A6C34878D82A}">
                    <a16:rowId xmlns:a16="http://schemas.microsoft.com/office/drawing/2014/main" val="1118715251"/>
                  </a:ext>
                </a:extLst>
              </a:tr>
              <a:tr h="584121">
                <a:tc>
                  <a:txBody>
                    <a:bodyPr/>
                    <a:lstStyle/>
                    <a:p>
                      <a:pPr>
                        <a:buNone/>
                      </a:pPr>
                      <a:r>
                        <a:rPr lang="en-US"/>
                        <a:t>JTAG</a:t>
                      </a:r>
                    </a:p>
                  </a:txBody>
                  <a:tcPr anchor="ctr"/>
                </a:tc>
                <a:tc>
                  <a:txBody>
                    <a:bodyPr/>
                    <a:lstStyle/>
                    <a:p>
                      <a:pPr>
                        <a:buNone/>
                      </a:pPr>
                      <a:r>
                        <a:rPr lang="en-US"/>
                        <a:t>External Interface</a:t>
                      </a:r>
                    </a:p>
                  </a:txBody>
                  <a:tcPr anchor="ctr"/>
                </a:tc>
                <a:tc>
                  <a:txBody>
                    <a:bodyPr/>
                    <a:lstStyle/>
                    <a:p>
                      <a:pPr>
                        <a:buNone/>
                      </a:pPr>
                      <a:r>
                        <a:rPr lang="en-US" dirty="0"/>
                        <a:t>Programming &amp; Debugging</a:t>
                      </a:r>
                    </a:p>
                  </a:txBody>
                  <a:tcPr anchor="ctr"/>
                </a:tc>
                <a:extLst>
                  <a:ext uri="{0D108BD9-81ED-4DB2-BD59-A6C34878D82A}">
                    <a16:rowId xmlns:a16="http://schemas.microsoft.com/office/drawing/2014/main" val="998373833"/>
                  </a:ext>
                </a:extLst>
              </a:tr>
            </a:tbl>
          </a:graphicData>
        </a:graphic>
      </p:graphicFrame>
      <p:pic>
        <p:nvPicPr>
          <p:cNvPr id="5" name="Picture 4">
            <a:extLst>
              <a:ext uri="{FF2B5EF4-FFF2-40B4-BE49-F238E27FC236}">
                <a16:creationId xmlns:a16="http://schemas.microsoft.com/office/drawing/2014/main" id="{5C0F4246-7ECC-EC94-8000-1BB2B45A12FD}"/>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42889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F0B3B-FCC8-6C3C-0666-D1D293CD22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51510F-62D2-319B-880D-7F24FE95E9F2}"/>
              </a:ext>
            </a:extLst>
          </p:cNvPr>
          <p:cNvSpPr>
            <a:spLocks noGrp="1"/>
          </p:cNvSpPr>
          <p:nvPr>
            <p:ph type="title"/>
          </p:nvPr>
        </p:nvSpPr>
        <p:spPr/>
        <p:txBody>
          <a:bodyPr>
            <a:normAutofit/>
          </a:bodyPr>
          <a:lstStyle/>
          <a:p>
            <a:pPr algn="l"/>
            <a:r>
              <a:rPr lang="en-US" b="1" dirty="0"/>
              <a:t>CHAPTER 6 – Dynamic Partial Reconfiguration Flow</a:t>
            </a:r>
          </a:p>
        </p:txBody>
      </p:sp>
      <p:sp>
        <p:nvSpPr>
          <p:cNvPr id="7" name="Content Placeholder 6">
            <a:extLst>
              <a:ext uri="{FF2B5EF4-FFF2-40B4-BE49-F238E27FC236}">
                <a16:creationId xmlns:a16="http://schemas.microsoft.com/office/drawing/2014/main" id="{EB09609A-EAD9-E26A-E1F5-3206CCABF460}"/>
              </a:ext>
            </a:extLst>
          </p:cNvPr>
          <p:cNvSpPr>
            <a:spLocks noGrp="1"/>
          </p:cNvSpPr>
          <p:nvPr>
            <p:ph idx="1"/>
          </p:nvPr>
        </p:nvSpPr>
        <p:spPr/>
        <p:txBody>
          <a:bodyPr/>
          <a:lstStyle/>
          <a:p>
            <a:pPr marL="0" indent="0">
              <a:buNone/>
            </a:pPr>
            <a:r>
              <a:rPr lang="en-US" b="1" dirty="0"/>
              <a:t>Goal :</a:t>
            </a:r>
          </a:p>
          <a:p>
            <a:r>
              <a:rPr lang="en-US" dirty="0"/>
              <a:t>To summarize the complete Dynamic Partial Reconfiguration process by connecting all the concepts learned so far and illustrating how hardware is dynamically replaced while the rest of the FPGA continues to operate.</a:t>
            </a:r>
          </a:p>
        </p:txBody>
      </p:sp>
      <p:pic>
        <p:nvPicPr>
          <p:cNvPr id="3" name="Picture 2">
            <a:extLst>
              <a:ext uri="{FF2B5EF4-FFF2-40B4-BE49-F238E27FC236}">
                <a16:creationId xmlns:a16="http://schemas.microsoft.com/office/drawing/2014/main" id="{30FD0E9A-8081-1634-C34F-CDE7386977EA}"/>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3874864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0EA5CA-AD53-752A-AAAB-D512A662B406}"/>
              </a:ext>
            </a:extLst>
          </p:cNvPr>
          <p:cNvPicPr>
            <a:picLocks noChangeAspect="1"/>
          </p:cNvPicPr>
          <p:nvPr/>
        </p:nvPicPr>
        <p:blipFill>
          <a:blip r:embed="rId2"/>
          <a:stretch>
            <a:fillRect/>
          </a:stretch>
        </p:blipFill>
        <p:spPr>
          <a:xfrm>
            <a:off x="1964822" y="451067"/>
            <a:ext cx="1104996" cy="853514"/>
          </a:xfrm>
          <a:prstGeom prst="rect">
            <a:avLst/>
          </a:prstGeom>
        </p:spPr>
      </p:pic>
      <p:sp>
        <p:nvSpPr>
          <p:cNvPr id="2" name="Title 1">
            <a:extLst>
              <a:ext uri="{FF2B5EF4-FFF2-40B4-BE49-F238E27FC236}">
                <a16:creationId xmlns:a16="http://schemas.microsoft.com/office/drawing/2014/main" id="{AF3C2169-1E84-B8DB-E3E9-04880439D587}"/>
              </a:ext>
            </a:extLst>
          </p:cNvPr>
          <p:cNvSpPr>
            <a:spLocks noGrp="1"/>
          </p:cNvSpPr>
          <p:nvPr>
            <p:ph type="title"/>
          </p:nvPr>
        </p:nvSpPr>
        <p:spPr>
          <a:xfrm>
            <a:off x="1642544" y="1304581"/>
            <a:ext cx="3660975" cy="3020531"/>
          </a:xfrm>
        </p:spPr>
        <p:txBody>
          <a:bodyPr/>
          <a:lstStyle/>
          <a:p>
            <a:pPr algn="l"/>
            <a:r>
              <a:rPr lang="en-US" b="1" dirty="0"/>
              <a:t>Dynamic Partial Reconfiguration Flow</a:t>
            </a:r>
          </a:p>
        </p:txBody>
      </p:sp>
      <p:pic>
        <p:nvPicPr>
          <p:cNvPr id="5" name="Picture 4">
            <a:extLst>
              <a:ext uri="{FF2B5EF4-FFF2-40B4-BE49-F238E27FC236}">
                <a16:creationId xmlns:a16="http://schemas.microsoft.com/office/drawing/2014/main" id="{1164F790-4E54-603A-BEB3-5001BDC10B90}"/>
              </a:ext>
            </a:extLst>
          </p:cNvPr>
          <p:cNvPicPr>
            <a:picLocks noChangeAspect="1"/>
          </p:cNvPicPr>
          <p:nvPr/>
        </p:nvPicPr>
        <p:blipFill>
          <a:blip r:embed="rId3"/>
          <a:stretch>
            <a:fillRect/>
          </a:stretch>
        </p:blipFill>
        <p:spPr>
          <a:xfrm>
            <a:off x="5858256" y="0"/>
            <a:ext cx="4572000" cy="6858000"/>
          </a:xfrm>
          <a:prstGeom prst="rect">
            <a:avLst/>
          </a:prstGeom>
        </p:spPr>
      </p:pic>
      <p:pic>
        <p:nvPicPr>
          <p:cNvPr id="4" name="Picture 3">
            <a:extLst>
              <a:ext uri="{FF2B5EF4-FFF2-40B4-BE49-F238E27FC236}">
                <a16:creationId xmlns:a16="http://schemas.microsoft.com/office/drawing/2014/main" id="{E1EFAC5A-BA55-675E-9189-C66E51D3023E}"/>
              </a:ext>
            </a:extLst>
          </p:cNvPr>
          <p:cNvPicPr>
            <a:picLocks noChangeAspect="1"/>
          </p:cNvPicPr>
          <p:nvPr/>
        </p:nvPicPr>
        <p:blipFill>
          <a:blip r:embed="rId4"/>
          <a:stretch>
            <a:fillRect/>
          </a:stretch>
        </p:blipFill>
        <p:spPr>
          <a:xfrm>
            <a:off x="11386318" y="0"/>
            <a:ext cx="805682" cy="786384"/>
          </a:xfrm>
          <a:prstGeom prst="rect">
            <a:avLst/>
          </a:prstGeom>
        </p:spPr>
      </p:pic>
    </p:spTree>
    <p:extLst>
      <p:ext uri="{BB962C8B-B14F-4D97-AF65-F5344CB8AC3E}">
        <p14:creationId xmlns:p14="http://schemas.microsoft.com/office/powerpoint/2010/main" val="350534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A4F0DB-8CE5-307E-FE2A-1D80D44368DB}"/>
              </a:ext>
            </a:extLst>
          </p:cNvPr>
          <p:cNvPicPr>
            <a:picLocks noChangeAspect="1"/>
          </p:cNvPicPr>
          <p:nvPr/>
        </p:nvPicPr>
        <p:blipFill>
          <a:blip r:embed="rId2"/>
          <a:stretch>
            <a:fillRect/>
          </a:stretch>
        </p:blipFill>
        <p:spPr>
          <a:xfrm>
            <a:off x="531876" y="0"/>
            <a:ext cx="10287000" cy="6858000"/>
          </a:xfrm>
          <a:prstGeom prst="rect">
            <a:avLst/>
          </a:prstGeom>
        </p:spPr>
      </p:pic>
      <p:pic>
        <p:nvPicPr>
          <p:cNvPr id="3" name="Picture 2">
            <a:extLst>
              <a:ext uri="{FF2B5EF4-FFF2-40B4-BE49-F238E27FC236}">
                <a16:creationId xmlns:a16="http://schemas.microsoft.com/office/drawing/2014/main" id="{8367618D-DBFF-427D-634E-D473E484846F}"/>
              </a:ext>
            </a:extLst>
          </p:cNvPr>
          <p:cNvPicPr>
            <a:picLocks noChangeAspect="1"/>
          </p:cNvPicPr>
          <p:nvPr/>
        </p:nvPicPr>
        <p:blipFill>
          <a:blip r:embed="rId3"/>
          <a:stretch>
            <a:fillRect/>
          </a:stretch>
        </p:blipFill>
        <p:spPr>
          <a:xfrm>
            <a:off x="11386318" y="0"/>
            <a:ext cx="805682" cy="786384"/>
          </a:xfrm>
          <a:prstGeom prst="rect">
            <a:avLst/>
          </a:prstGeom>
        </p:spPr>
      </p:pic>
    </p:spTree>
    <p:extLst>
      <p:ext uri="{BB962C8B-B14F-4D97-AF65-F5344CB8AC3E}">
        <p14:creationId xmlns:p14="http://schemas.microsoft.com/office/powerpoint/2010/main" val="3461699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68B4-590C-A3BC-9FB3-750E95BC623F}"/>
              </a:ext>
            </a:extLst>
          </p:cNvPr>
          <p:cNvSpPr>
            <a:spLocks noGrp="1"/>
          </p:cNvSpPr>
          <p:nvPr>
            <p:ph type="title"/>
          </p:nvPr>
        </p:nvSpPr>
        <p:spPr/>
        <p:txBody>
          <a:bodyPr/>
          <a:lstStyle/>
          <a:p>
            <a:pPr algn="l"/>
            <a:r>
              <a:rPr lang="en-US" b="1" dirty="0"/>
              <a:t>CHAPTER 7 – DPR Terminology Summary</a:t>
            </a:r>
          </a:p>
        </p:txBody>
      </p:sp>
      <p:graphicFrame>
        <p:nvGraphicFramePr>
          <p:cNvPr id="5" name="Table 4">
            <a:extLst>
              <a:ext uri="{FF2B5EF4-FFF2-40B4-BE49-F238E27FC236}">
                <a16:creationId xmlns:a16="http://schemas.microsoft.com/office/drawing/2014/main" id="{62929B93-FC98-263A-359D-530D0EA3D1D2}"/>
              </a:ext>
            </a:extLst>
          </p:cNvPr>
          <p:cNvGraphicFramePr>
            <a:graphicFrameLocks noGrp="1"/>
          </p:cNvGraphicFramePr>
          <p:nvPr>
            <p:extLst>
              <p:ext uri="{D42A27DB-BD31-4B8C-83A1-F6EECF244321}">
                <p14:modId xmlns:p14="http://schemas.microsoft.com/office/powerpoint/2010/main" val="3062315839"/>
              </p:ext>
            </p:extLst>
          </p:nvPr>
        </p:nvGraphicFramePr>
        <p:xfrm>
          <a:off x="2032000" y="2018114"/>
          <a:ext cx="8128000" cy="431292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2940086546"/>
                    </a:ext>
                  </a:extLst>
                </a:gridCol>
                <a:gridCol w="4064000">
                  <a:extLst>
                    <a:ext uri="{9D8B030D-6E8A-4147-A177-3AD203B41FA5}">
                      <a16:colId xmlns:a16="http://schemas.microsoft.com/office/drawing/2014/main" val="2601396216"/>
                    </a:ext>
                  </a:extLst>
                </a:gridCol>
              </a:tblGrid>
              <a:tr h="370840">
                <a:tc>
                  <a:txBody>
                    <a:bodyPr/>
                    <a:lstStyle/>
                    <a:p>
                      <a:pPr>
                        <a:buNone/>
                      </a:pPr>
                      <a:r>
                        <a:rPr lang="en-US" b="1" dirty="0"/>
                        <a:t>Term</a:t>
                      </a:r>
                      <a:endParaRPr lang="en-US" dirty="0"/>
                    </a:p>
                  </a:txBody>
                  <a:tcPr anchor="ctr"/>
                </a:tc>
                <a:tc>
                  <a:txBody>
                    <a:bodyPr/>
                    <a:lstStyle/>
                    <a:p>
                      <a:pPr>
                        <a:buNone/>
                      </a:pPr>
                      <a:r>
                        <a:rPr lang="en-US" b="1" dirty="0"/>
                        <a:t>Meaning</a:t>
                      </a:r>
                      <a:endParaRPr lang="en-US" dirty="0"/>
                    </a:p>
                  </a:txBody>
                  <a:tcPr anchor="ctr"/>
                </a:tc>
                <a:extLst>
                  <a:ext uri="{0D108BD9-81ED-4DB2-BD59-A6C34878D82A}">
                    <a16:rowId xmlns:a16="http://schemas.microsoft.com/office/drawing/2014/main" val="2651784910"/>
                  </a:ext>
                </a:extLst>
              </a:tr>
              <a:tr h="370840">
                <a:tc>
                  <a:txBody>
                    <a:bodyPr/>
                    <a:lstStyle/>
                    <a:p>
                      <a:pPr>
                        <a:buNone/>
                      </a:pPr>
                      <a:r>
                        <a:rPr lang="en-US"/>
                        <a:t>Static Region (SR)</a:t>
                      </a:r>
                    </a:p>
                  </a:txBody>
                  <a:tcPr anchor="ctr"/>
                </a:tc>
                <a:tc>
                  <a:txBody>
                    <a:bodyPr/>
                    <a:lstStyle/>
                    <a:p>
                      <a:pPr>
                        <a:buNone/>
                      </a:pPr>
                      <a:r>
                        <a:rPr lang="en-US"/>
                        <a:t>Part of the FPGA that never changes during DPR</a:t>
                      </a:r>
                    </a:p>
                  </a:txBody>
                  <a:tcPr anchor="ctr"/>
                </a:tc>
                <a:extLst>
                  <a:ext uri="{0D108BD9-81ED-4DB2-BD59-A6C34878D82A}">
                    <a16:rowId xmlns:a16="http://schemas.microsoft.com/office/drawing/2014/main" val="2501335857"/>
                  </a:ext>
                </a:extLst>
              </a:tr>
              <a:tr h="370840">
                <a:tc>
                  <a:txBody>
                    <a:bodyPr/>
                    <a:lstStyle/>
                    <a:p>
                      <a:pPr>
                        <a:buNone/>
                      </a:pPr>
                      <a:r>
                        <a:rPr lang="en-US"/>
                        <a:t>Reconfigurable Region (RR)</a:t>
                      </a:r>
                    </a:p>
                  </a:txBody>
                  <a:tcPr anchor="ctr"/>
                </a:tc>
                <a:tc>
                  <a:txBody>
                    <a:bodyPr/>
                    <a:lstStyle/>
                    <a:p>
                      <a:pPr>
                        <a:buNone/>
                      </a:pPr>
                      <a:r>
                        <a:rPr lang="en-US"/>
                        <a:t>Physical area reserved for dynamic updates</a:t>
                      </a:r>
                    </a:p>
                  </a:txBody>
                  <a:tcPr anchor="ctr"/>
                </a:tc>
                <a:extLst>
                  <a:ext uri="{0D108BD9-81ED-4DB2-BD59-A6C34878D82A}">
                    <a16:rowId xmlns:a16="http://schemas.microsoft.com/office/drawing/2014/main" val="3867852202"/>
                  </a:ext>
                </a:extLst>
              </a:tr>
              <a:tr h="370840">
                <a:tc>
                  <a:txBody>
                    <a:bodyPr/>
                    <a:lstStyle/>
                    <a:p>
                      <a:pPr>
                        <a:buNone/>
                      </a:pPr>
                      <a:r>
                        <a:rPr lang="en-US"/>
                        <a:t>Reconfigurable Partition (RP)</a:t>
                      </a:r>
                    </a:p>
                  </a:txBody>
                  <a:tcPr anchor="ctr"/>
                </a:tc>
                <a:tc>
                  <a:txBody>
                    <a:bodyPr/>
                    <a:lstStyle/>
                    <a:p>
                      <a:pPr>
                        <a:buNone/>
                      </a:pPr>
                      <a:r>
                        <a:rPr lang="en-US"/>
                        <a:t>Logical partition that can be reconfigured</a:t>
                      </a:r>
                    </a:p>
                  </a:txBody>
                  <a:tcPr anchor="ctr"/>
                </a:tc>
                <a:extLst>
                  <a:ext uri="{0D108BD9-81ED-4DB2-BD59-A6C34878D82A}">
                    <a16:rowId xmlns:a16="http://schemas.microsoft.com/office/drawing/2014/main" val="4034864785"/>
                  </a:ext>
                </a:extLst>
              </a:tr>
              <a:tr h="370840">
                <a:tc>
                  <a:txBody>
                    <a:bodyPr/>
                    <a:lstStyle/>
                    <a:p>
                      <a:pPr>
                        <a:buNone/>
                      </a:pPr>
                      <a:r>
                        <a:rPr lang="en-US"/>
                        <a:t>Reconfigurable Module (RM)</a:t>
                      </a:r>
                    </a:p>
                  </a:txBody>
                  <a:tcPr anchor="ctr"/>
                </a:tc>
                <a:tc>
                  <a:txBody>
                    <a:bodyPr/>
                    <a:lstStyle/>
                    <a:p>
                      <a:pPr>
                        <a:buNone/>
                      </a:pPr>
                      <a:r>
                        <a:rPr lang="en-US"/>
                        <a:t>Hardware implementation loaded into an RP</a:t>
                      </a:r>
                    </a:p>
                  </a:txBody>
                  <a:tcPr anchor="ctr"/>
                </a:tc>
                <a:extLst>
                  <a:ext uri="{0D108BD9-81ED-4DB2-BD59-A6C34878D82A}">
                    <a16:rowId xmlns:a16="http://schemas.microsoft.com/office/drawing/2014/main" val="2200006103"/>
                  </a:ext>
                </a:extLst>
              </a:tr>
              <a:tr h="370840">
                <a:tc>
                  <a:txBody>
                    <a:bodyPr/>
                    <a:lstStyle/>
                    <a:p>
                      <a:pPr>
                        <a:buNone/>
                      </a:pPr>
                      <a:r>
                        <a:rPr lang="en-US"/>
                        <a:t>Full Bitstream</a:t>
                      </a:r>
                    </a:p>
                  </a:txBody>
                  <a:tcPr anchor="ctr"/>
                </a:tc>
                <a:tc>
                  <a:txBody>
                    <a:bodyPr/>
                    <a:lstStyle/>
                    <a:p>
                      <a:pPr>
                        <a:buNone/>
                      </a:pPr>
                      <a:r>
                        <a:rPr lang="en-US"/>
                        <a:t>Configures the entire FPGA</a:t>
                      </a:r>
                    </a:p>
                  </a:txBody>
                  <a:tcPr anchor="ctr"/>
                </a:tc>
                <a:extLst>
                  <a:ext uri="{0D108BD9-81ED-4DB2-BD59-A6C34878D82A}">
                    <a16:rowId xmlns:a16="http://schemas.microsoft.com/office/drawing/2014/main" val="1052454843"/>
                  </a:ext>
                </a:extLst>
              </a:tr>
              <a:tr h="370840">
                <a:tc>
                  <a:txBody>
                    <a:bodyPr/>
                    <a:lstStyle/>
                    <a:p>
                      <a:pPr>
                        <a:buNone/>
                      </a:pPr>
                      <a:r>
                        <a:rPr lang="en-US"/>
                        <a:t>Partial Bitstream</a:t>
                      </a:r>
                    </a:p>
                  </a:txBody>
                  <a:tcPr anchor="ctr"/>
                </a:tc>
                <a:tc>
                  <a:txBody>
                    <a:bodyPr/>
                    <a:lstStyle/>
                    <a:p>
                      <a:pPr>
                        <a:buNone/>
                      </a:pPr>
                      <a:r>
                        <a:rPr lang="en-US"/>
                        <a:t>Configures only the Reconfigurable Partition</a:t>
                      </a:r>
                    </a:p>
                  </a:txBody>
                  <a:tcPr anchor="ctr"/>
                </a:tc>
                <a:extLst>
                  <a:ext uri="{0D108BD9-81ED-4DB2-BD59-A6C34878D82A}">
                    <a16:rowId xmlns:a16="http://schemas.microsoft.com/office/drawing/2014/main" val="2810876089"/>
                  </a:ext>
                </a:extLst>
              </a:tr>
              <a:tr h="370840">
                <a:tc>
                  <a:txBody>
                    <a:bodyPr/>
                    <a:lstStyle/>
                    <a:p>
                      <a:pPr>
                        <a:buNone/>
                      </a:pPr>
                      <a:r>
                        <a:rPr lang="en-US"/>
                        <a:t>Configuration Memory</a:t>
                      </a:r>
                    </a:p>
                  </a:txBody>
                  <a:tcPr anchor="ctr"/>
                </a:tc>
                <a:tc>
                  <a:txBody>
                    <a:bodyPr/>
                    <a:lstStyle/>
                    <a:p>
                      <a:pPr>
                        <a:buNone/>
                      </a:pPr>
                      <a:r>
                        <a:rPr lang="en-US" dirty="0"/>
                        <a:t>Stores FPGA configuration data</a:t>
                      </a:r>
                    </a:p>
                  </a:txBody>
                  <a:tcPr anchor="ctr"/>
                </a:tc>
                <a:extLst>
                  <a:ext uri="{0D108BD9-81ED-4DB2-BD59-A6C34878D82A}">
                    <a16:rowId xmlns:a16="http://schemas.microsoft.com/office/drawing/2014/main" val="2204670714"/>
                  </a:ext>
                </a:extLst>
              </a:tr>
            </a:tbl>
          </a:graphicData>
        </a:graphic>
      </p:graphicFrame>
      <p:pic>
        <p:nvPicPr>
          <p:cNvPr id="4" name="Picture 3">
            <a:extLst>
              <a:ext uri="{FF2B5EF4-FFF2-40B4-BE49-F238E27FC236}">
                <a16:creationId xmlns:a16="http://schemas.microsoft.com/office/drawing/2014/main" id="{4D21F395-8AE9-563B-907C-3C5828F791A3}"/>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2527413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6639E79-7519-FEA3-8C90-AE1CFA7A3F6E}"/>
              </a:ext>
            </a:extLst>
          </p:cNvPr>
          <p:cNvGraphicFramePr>
            <a:graphicFrameLocks noGrp="1"/>
          </p:cNvGraphicFramePr>
          <p:nvPr>
            <p:extLst>
              <p:ext uri="{D42A27DB-BD31-4B8C-83A1-F6EECF244321}">
                <p14:modId xmlns:p14="http://schemas.microsoft.com/office/powerpoint/2010/main" val="1215453938"/>
              </p:ext>
            </p:extLst>
          </p:nvPr>
        </p:nvGraphicFramePr>
        <p:xfrm>
          <a:off x="2032000" y="719666"/>
          <a:ext cx="8128000" cy="532384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2970093083"/>
                    </a:ext>
                  </a:extLst>
                </a:gridCol>
                <a:gridCol w="4064000">
                  <a:extLst>
                    <a:ext uri="{9D8B030D-6E8A-4147-A177-3AD203B41FA5}">
                      <a16:colId xmlns:a16="http://schemas.microsoft.com/office/drawing/2014/main" val="3683570880"/>
                    </a:ext>
                  </a:extLst>
                </a:gridCol>
              </a:tblGrid>
              <a:tr h="370840">
                <a:tc>
                  <a:txBody>
                    <a:bodyPr/>
                    <a:lstStyle/>
                    <a:p>
                      <a:pPr>
                        <a:buNone/>
                      </a:pPr>
                      <a:r>
                        <a:rPr lang="en-US" b="1" dirty="0"/>
                        <a:t>Term</a:t>
                      </a:r>
                      <a:endParaRPr lang="en-US" dirty="0"/>
                    </a:p>
                  </a:txBody>
                  <a:tcPr anchor="ctr"/>
                </a:tc>
                <a:tc>
                  <a:txBody>
                    <a:bodyPr/>
                    <a:lstStyle/>
                    <a:p>
                      <a:pPr>
                        <a:buNone/>
                      </a:pPr>
                      <a:r>
                        <a:rPr lang="en-US" b="1" dirty="0"/>
                        <a:t>Meaning</a:t>
                      </a:r>
                      <a:endParaRPr lang="en-US" dirty="0"/>
                    </a:p>
                  </a:txBody>
                  <a:tcPr anchor="ctr"/>
                </a:tc>
                <a:extLst>
                  <a:ext uri="{0D108BD9-81ED-4DB2-BD59-A6C34878D82A}">
                    <a16:rowId xmlns:a16="http://schemas.microsoft.com/office/drawing/2014/main" val="1426358188"/>
                  </a:ext>
                </a:extLst>
              </a:tr>
              <a:tr h="370840">
                <a:tc>
                  <a:txBody>
                    <a:bodyPr/>
                    <a:lstStyle/>
                    <a:p>
                      <a:pPr>
                        <a:buNone/>
                      </a:pPr>
                      <a:r>
                        <a:rPr lang="en-US" dirty="0"/>
                        <a:t>Configuration Frame</a:t>
                      </a:r>
                    </a:p>
                  </a:txBody>
                  <a:tcPr anchor="ctr"/>
                </a:tc>
                <a:tc>
                  <a:txBody>
                    <a:bodyPr/>
                    <a:lstStyle/>
                    <a:p>
                      <a:pPr>
                        <a:buNone/>
                      </a:pPr>
                      <a:r>
                        <a:rPr lang="en-US"/>
                        <a:t>Smallest configurable unit of FPGA configuration memory</a:t>
                      </a:r>
                    </a:p>
                  </a:txBody>
                  <a:tcPr anchor="ctr"/>
                </a:tc>
                <a:extLst>
                  <a:ext uri="{0D108BD9-81ED-4DB2-BD59-A6C34878D82A}">
                    <a16:rowId xmlns:a16="http://schemas.microsoft.com/office/drawing/2014/main" val="546995673"/>
                  </a:ext>
                </a:extLst>
              </a:tr>
              <a:tr h="370840">
                <a:tc>
                  <a:txBody>
                    <a:bodyPr/>
                    <a:lstStyle/>
                    <a:p>
                      <a:pPr>
                        <a:buNone/>
                      </a:pPr>
                      <a:r>
                        <a:rPr lang="en-US"/>
                        <a:t>Floorplanning</a:t>
                      </a:r>
                    </a:p>
                  </a:txBody>
                  <a:tcPr anchor="ctr"/>
                </a:tc>
                <a:tc>
                  <a:txBody>
                    <a:bodyPr/>
                    <a:lstStyle/>
                    <a:p>
                      <a:pPr>
                        <a:buNone/>
                      </a:pPr>
                      <a:r>
                        <a:rPr lang="en-US"/>
                        <a:t>Assigning physical FPGA areas to design modules</a:t>
                      </a:r>
                    </a:p>
                  </a:txBody>
                  <a:tcPr anchor="ctr"/>
                </a:tc>
                <a:extLst>
                  <a:ext uri="{0D108BD9-81ED-4DB2-BD59-A6C34878D82A}">
                    <a16:rowId xmlns:a16="http://schemas.microsoft.com/office/drawing/2014/main" val="3847753124"/>
                  </a:ext>
                </a:extLst>
              </a:tr>
              <a:tr h="370840">
                <a:tc>
                  <a:txBody>
                    <a:bodyPr/>
                    <a:lstStyle/>
                    <a:p>
                      <a:pPr>
                        <a:buNone/>
                      </a:pPr>
                      <a:r>
                        <a:rPr lang="en-US"/>
                        <a:t>Pblock</a:t>
                      </a:r>
                    </a:p>
                  </a:txBody>
                  <a:tcPr anchor="ctr"/>
                </a:tc>
                <a:tc>
                  <a:txBody>
                    <a:bodyPr/>
                    <a:lstStyle/>
                    <a:p>
                      <a:pPr>
                        <a:buNone/>
                      </a:pPr>
                      <a:r>
                        <a:rPr lang="en-US"/>
                        <a:t>Physical area reserved for an RP</a:t>
                      </a:r>
                    </a:p>
                  </a:txBody>
                  <a:tcPr anchor="ctr"/>
                </a:tc>
                <a:extLst>
                  <a:ext uri="{0D108BD9-81ED-4DB2-BD59-A6C34878D82A}">
                    <a16:rowId xmlns:a16="http://schemas.microsoft.com/office/drawing/2014/main" val="2261709614"/>
                  </a:ext>
                </a:extLst>
              </a:tr>
              <a:tr h="370840">
                <a:tc>
                  <a:txBody>
                    <a:bodyPr/>
                    <a:lstStyle/>
                    <a:p>
                      <a:pPr>
                        <a:buNone/>
                      </a:pPr>
                      <a:r>
                        <a:rPr lang="en-US"/>
                        <a:t>Boundary Interface</a:t>
                      </a:r>
                    </a:p>
                  </a:txBody>
                  <a:tcPr anchor="ctr"/>
                </a:tc>
                <a:tc>
                  <a:txBody>
                    <a:bodyPr/>
                    <a:lstStyle/>
                    <a:p>
                      <a:pPr>
                        <a:buNone/>
                      </a:pPr>
                      <a:r>
                        <a:rPr lang="en-US"/>
                        <a:t>Communication path between Static Region and RP</a:t>
                      </a:r>
                    </a:p>
                  </a:txBody>
                  <a:tcPr anchor="ctr"/>
                </a:tc>
                <a:extLst>
                  <a:ext uri="{0D108BD9-81ED-4DB2-BD59-A6C34878D82A}">
                    <a16:rowId xmlns:a16="http://schemas.microsoft.com/office/drawing/2014/main" val="3427223952"/>
                  </a:ext>
                </a:extLst>
              </a:tr>
              <a:tr h="370840">
                <a:tc>
                  <a:txBody>
                    <a:bodyPr/>
                    <a:lstStyle/>
                    <a:p>
                      <a:pPr>
                        <a:buNone/>
                      </a:pPr>
                      <a:r>
                        <a:rPr lang="en-US"/>
                        <a:t>Black Box</a:t>
                      </a:r>
                    </a:p>
                  </a:txBody>
                  <a:tcPr anchor="ctr"/>
                </a:tc>
                <a:tc>
                  <a:txBody>
                    <a:bodyPr/>
                    <a:lstStyle/>
                    <a:p>
                      <a:pPr>
                        <a:buNone/>
                      </a:pPr>
                      <a:r>
                        <a:rPr lang="en-US"/>
                        <a:t>Placeholder module during synthesis</a:t>
                      </a:r>
                    </a:p>
                  </a:txBody>
                  <a:tcPr anchor="ctr"/>
                </a:tc>
                <a:extLst>
                  <a:ext uri="{0D108BD9-81ED-4DB2-BD59-A6C34878D82A}">
                    <a16:rowId xmlns:a16="http://schemas.microsoft.com/office/drawing/2014/main" val="929078741"/>
                  </a:ext>
                </a:extLst>
              </a:tr>
              <a:tr h="370840">
                <a:tc>
                  <a:txBody>
                    <a:bodyPr/>
                    <a:lstStyle/>
                    <a:p>
                      <a:pPr>
                        <a:buNone/>
                      </a:pPr>
                      <a:r>
                        <a:rPr lang="en-US"/>
                        <a:t>Partition Pins</a:t>
                      </a:r>
                    </a:p>
                  </a:txBody>
                  <a:tcPr anchor="ctr"/>
                </a:tc>
                <a:tc>
                  <a:txBody>
                    <a:bodyPr/>
                    <a:lstStyle/>
                    <a:p>
                      <a:pPr>
                        <a:buNone/>
                      </a:pPr>
                      <a:r>
                        <a:rPr lang="en-US"/>
                        <a:t>Stable interface between Static Region and RP</a:t>
                      </a:r>
                    </a:p>
                  </a:txBody>
                  <a:tcPr anchor="ctr"/>
                </a:tc>
                <a:extLst>
                  <a:ext uri="{0D108BD9-81ED-4DB2-BD59-A6C34878D82A}">
                    <a16:rowId xmlns:a16="http://schemas.microsoft.com/office/drawing/2014/main" val="2042485990"/>
                  </a:ext>
                </a:extLst>
              </a:tr>
              <a:tr h="370840">
                <a:tc>
                  <a:txBody>
                    <a:bodyPr/>
                    <a:lstStyle/>
                    <a:p>
                      <a:pPr>
                        <a:buNone/>
                      </a:pPr>
                      <a:r>
                        <a:rPr lang="en-US"/>
                        <a:t>ICAP</a:t>
                      </a:r>
                    </a:p>
                  </a:txBody>
                  <a:tcPr anchor="ctr"/>
                </a:tc>
                <a:tc>
                  <a:txBody>
                    <a:bodyPr/>
                    <a:lstStyle/>
                    <a:p>
                      <a:pPr>
                        <a:buNone/>
                      </a:pPr>
                      <a:r>
                        <a:rPr lang="en-US"/>
                        <a:t>Internal configuration interface</a:t>
                      </a:r>
                    </a:p>
                  </a:txBody>
                  <a:tcPr anchor="ctr"/>
                </a:tc>
                <a:extLst>
                  <a:ext uri="{0D108BD9-81ED-4DB2-BD59-A6C34878D82A}">
                    <a16:rowId xmlns:a16="http://schemas.microsoft.com/office/drawing/2014/main" val="1229782279"/>
                  </a:ext>
                </a:extLst>
              </a:tr>
              <a:tr h="370840">
                <a:tc>
                  <a:txBody>
                    <a:bodyPr/>
                    <a:lstStyle/>
                    <a:p>
                      <a:pPr>
                        <a:buNone/>
                      </a:pPr>
                      <a:r>
                        <a:rPr lang="en-US"/>
                        <a:t>PCAP</a:t>
                      </a:r>
                    </a:p>
                  </a:txBody>
                  <a:tcPr anchor="ctr"/>
                </a:tc>
                <a:tc>
                  <a:txBody>
                    <a:bodyPr/>
                    <a:lstStyle/>
                    <a:p>
                      <a:pPr>
                        <a:buNone/>
                      </a:pPr>
                      <a:r>
                        <a:rPr lang="en-US"/>
                        <a:t>Processor-based configuration interface</a:t>
                      </a:r>
                    </a:p>
                  </a:txBody>
                  <a:tcPr anchor="ctr"/>
                </a:tc>
                <a:extLst>
                  <a:ext uri="{0D108BD9-81ED-4DB2-BD59-A6C34878D82A}">
                    <a16:rowId xmlns:a16="http://schemas.microsoft.com/office/drawing/2014/main" val="2624562352"/>
                  </a:ext>
                </a:extLst>
              </a:tr>
              <a:tr h="370840">
                <a:tc>
                  <a:txBody>
                    <a:bodyPr/>
                    <a:lstStyle/>
                    <a:p>
                      <a:pPr>
                        <a:buNone/>
                      </a:pPr>
                      <a:r>
                        <a:rPr lang="en-US"/>
                        <a:t>JTAG</a:t>
                      </a:r>
                    </a:p>
                  </a:txBody>
                  <a:tcPr anchor="ctr"/>
                </a:tc>
                <a:tc>
                  <a:txBody>
                    <a:bodyPr/>
                    <a:lstStyle/>
                    <a:p>
                      <a:pPr>
                        <a:buNone/>
                      </a:pPr>
                      <a:r>
                        <a:rPr lang="en-US" dirty="0"/>
                        <a:t>External configuration and debugging interface</a:t>
                      </a:r>
                    </a:p>
                  </a:txBody>
                  <a:tcPr anchor="ctr"/>
                </a:tc>
                <a:extLst>
                  <a:ext uri="{0D108BD9-81ED-4DB2-BD59-A6C34878D82A}">
                    <a16:rowId xmlns:a16="http://schemas.microsoft.com/office/drawing/2014/main" val="1298018560"/>
                  </a:ext>
                </a:extLst>
              </a:tr>
            </a:tbl>
          </a:graphicData>
        </a:graphic>
      </p:graphicFrame>
      <p:pic>
        <p:nvPicPr>
          <p:cNvPr id="3" name="Picture 2">
            <a:extLst>
              <a:ext uri="{FF2B5EF4-FFF2-40B4-BE49-F238E27FC236}">
                <a16:creationId xmlns:a16="http://schemas.microsoft.com/office/drawing/2014/main" id="{B6A0EC3B-BDE7-175B-CD7D-928E867AD60F}"/>
              </a:ext>
            </a:extLst>
          </p:cNvPr>
          <p:cNvPicPr>
            <a:picLocks noChangeAspect="1"/>
          </p:cNvPicPr>
          <p:nvPr/>
        </p:nvPicPr>
        <p:blipFill>
          <a:blip r:embed="rId2"/>
          <a:stretch>
            <a:fillRect/>
          </a:stretch>
        </p:blipFill>
        <p:spPr>
          <a:xfrm>
            <a:off x="11386318" y="0"/>
            <a:ext cx="805682" cy="786384"/>
          </a:xfrm>
          <a:prstGeom prst="rect">
            <a:avLst/>
          </a:prstGeom>
        </p:spPr>
      </p:pic>
    </p:spTree>
    <p:extLst>
      <p:ext uri="{BB962C8B-B14F-4D97-AF65-F5344CB8AC3E}">
        <p14:creationId xmlns:p14="http://schemas.microsoft.com/office/powerpoint/2010/main" val="1850514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202681-EDB6-8469-9DFB-B930053A8A70}"/>
              </a:ext>
            </a:extLst>
          </p:cNvPr>
          <p:cNvPicPr>
            <a:picLocks noChangeAspect="1"/>
          </p:cNvPicPr>
          <p:nvPr/>
        </p:nvPicPr>
        <p:blipFill>
          <a:blip r:embed="rId2"/>
          <a:stretch>
            <a:fillRect/>
          </a:stretch>
        </p:blipFill>
        <p:spPr>
          <a:xfrm>
            <a:off x="1964822" y="451067"/>
            <a:ext cx="1104996" cy="853514"/>
          </a:xfrm>
          <a:prstGeom prst="rect">
            <a:avLst/>
          </a:prstGeom>
        </p:spPr>
      </p:pic>
      <p:sp>
        <p:nvSpPr>
          <p:cNvPr id="4" name="Title 3">
            <a:extLst>
              <a:ext uri="{FF2B5EF4-FFF2-40B4-BE49-F238E27FC236}">
                <a16:creationId xmlns:a16="http://schemas.microsoft.com/office/drawing/2014/main" id="{14229149-8861-23BF-78A2-2C0DBAB846FF}"/>
              </a:ext>
            </a:extLst>
          </p:cNvPr>
          <p:cNvSpPr>
            <a:spLocks noGrp="1"/>
          </p:cNvSpPr>
          <p:nvPr>
            <p:ph type="title"/>
          </p:nvPr>
        </p:nvSpPr>
        <p:spPr>
          <a:xfrm>
            <a:off x="2116834" y="2890385"/>
            <a:ext cx="7958331" cy="1077229"/>
          </a:xfrm>
        </p:spPr>
        <p:txBody>
          <a:bodyPr>
            <a:normAutofit/>
          </a:bodyPr>
          <a:lstStyle/>
          <a:p>
            <a:pPr algn="ctr"/>
            <a:r>
              <a:rPr lang="en-US" sz="6700" b="1" dirty="0"/>
              <a:t>THANK YOU</a:t>
            </a:r>
          </a:p>
        </p:txBody>
      </p:sp>
      <p:pic>
        <p:nvPicPr>
          <p:cNvPr id="3" name="Picture 2">
            <a:extLst>
              <a:ext uri="{FF2B5EF4-FFF2-40B4-BE49-F238E27FC236}">
                <a16:creationId xmlns:a16="http://schemas.microsoft.com/office/drawing/2014/main" id="{B454EEF8-5C47-B227-F226-C2A0C46D0176}"/>
              </a:ext>
            </a:extLst>
          </p:cNvPr>
          <p:cNvPicPr>
            <a:picLocks noChangeAspect="1"/>
          </p:cNvPicPr>
          <p:nvPr/>
        </p:nvPicPr>
        <p:blipFill>
          <a:blip r:embed="rId3"/>
          <a:stretch>
            <a:fillRect/>
          </a:stretch>
        </p:blipFill>
        <p:spPr>
          <a:xfrm>
            <a:off x="11386318" y="0"/>
            <a:ext cx="805682" cy="786384"/>
          </a:xfrm>
          <a:prstGeom prst="rect">
            <a:avLst/>
          </a:prstGeom>
        </p:spPr>
      </p:pic>
    </p:spTree>
    <p:extLst>
      <p:ext uri="{BB962C8B-B14F-4D97-AF65-F5344CB8AC3E}">
        <p14:creationId xmlns:p14="http://schemas.microsoft.com/office/powerpoint/2010/main" val="34167838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2C2D1F"/>
      </a:dk2>
      <a:lt2>
        <a:srgbClr val="FAF2C5"/>
      </a:lt2>
      <a:accent1>
        <a:srgbClr val="EA9736"/>
      </a:accent1>
      <a:accent2>
        <a:srgbClr val="EACF56"/>
      </a:accent2>
      <a:accent3>
        <a:srgbClr val="77D4D6"/>
      </a:accent3>
      <a:accent4>
        <a:srgbClr val="54AFDC"/>
      </a:accent4>
      <a:accent5>
        <a:srgbClr val="88C363"/>
      </a:accent5>
      <a:accent6>
        <a:srgbClr val="D9D899"/>
      </a:accent6>
      <a:hlink>
        <a:srgbClr val="A7A574"/>
      </a:hlink>
      <a:folHlink>
        <a:srgbClr val="8B887A"/>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9B359FC9-1E88-4883-B31D-CCECAE2A7B38}"/>
    </a:ext>
  </a:extLst>
</a:theme>
</file>

<file path=docProps/app.xml><?xml version="1.0" encoding="utf-8"?>
<Properties xmlns="http://schemas.openxmlformats.org/officeDocument/2006/extended-properties" xmlns:vt="http://schemas.openxmlformats.org/officeDocument/2006/docPropsVTypes">
  <Template>Madison</Template>
  <TotalTime>718</TotalTime>
  <Words>1234</Words>
  <Application>Microsoft Office PowerPoint</Application>
  <PresentationFormat>Widescreen</PresentationFormat>
  <Paragraphs>227</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MS Shell Dlg 2</vt:lpstr>
      <vt:lpstr>Wingdings</vt:lpstr>
      <vt:lpstr>Wingdings 3</vt:lpstr>
      <vt:lpstr>Madison</vt:lpstr>
      <vt:lpstr>DPR TERMINOLOGY</vt:lpstr>
      <vt:lpstr>CHAPTER 1 – Recap</vt:lpstr>
      <vt:lpstr>Full Reconfiguration vs Partial Reconfiguration </vt:lpstr>
      <vt:lpstr>PowerPoint Presentation</vt:lpstr>
      <vt:lpstr>STATIC vs DYNAMIC</vt:lpstr>
      <vt:lpstr>CHAPTER 2 – Static Region &amp; Reconfigurable Region</vt:lpstr>
      <vt:lpstr>Why Divide the FPGA?</vt:lpstr>
      <vt:lpstr>PowerPoint Presentation</vt:lpstr>
      <vt:lpstr>CHAPTER 3 – Reconfigurable Partition (RP) &amp; Reconfigurable Module (RM)</vt:lpstr>
      <vt:lpstr>Reconfigurable Partition (RP)</vt:lpstr>
      <vt:lpstr>Reconfigurable Module (RM)</vt:lpstr>
      <vt:lpstr>CHAPTER 4 – Bitstreams &amp; Configuration Frames</vt:lpstr>
      <vt:lpstr>FPGA Bitstreams</vt:lpstr>
      <vt:lpstr>Full Bitstream</vt:lpstr>
      <vt:lpstr>Partial Bitstream</vt:lpstr>
      <vt:lpstr>Full Bitstream vs Partial Bitstream</vt:lpstr>
      <vt:lpstr>Configuration Memory</vt:lpstr>
      <vt:lpstr>Configuration Frames</vt:lpstr>
      <vt:lpstr>CHAPTER 5 – Supporting DPR Concepts</vt:lpstr>
      <vt:lpstr>Floorplanning</vt:lpstr>
      <vt:lpstr>Pblock (Physical Block)</vt:lpstr>
      <vt:lpstr>Boundary Interface</vt:lpstr>
      <vt:lpstr>Black Box</vt:lpstr>
      <vt:lpstr>Partition Pins</vt:lpstr>
      <vt:lpstr>Reconfiguration Controllers</vt:lpstr>
      <vt:lpstr>ICAP vs PCAP vs JTAG</vt:lpstr>
      <vt:lpstr>CHAPTER 6 – Dynamic Partial Reconfiguration Flow</vt:lpstr>
      <vt:lpstr>Dynamic Partial Reconfiguration Flow</vt:lpstr>
      <vt:lpstr>PowerPoint Presentation</vt:lpstr>
      <vt:lpstr>CHAPTER 7 – DPR Terminology Summary</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sreethan chowdary</dc:creator>
  <cp:lastModifiedBy>sreethan chowdary</cp:lastModifiedBy>
  <cp:revision>51</cp:revision>
  <dcterms:created xsi:type="dcterms:W3CDTF">2026-07-10T04:56:44Z</dcterms:created>
  <dcterms:modified xsi:type="dcterms:W3CDTF">2026-07-12T20:13:50Z</dcterms:modified>
</cp:coreProperties>
</file>